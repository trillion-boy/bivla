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7 s  |  13 words (1.9 w/s)
NARRATION:
This video accompanies an anonymous submission on training-free efficiency tricks for vision-language-action models.
VISUAL / PRODUCTION NOTE:
Static title card. No names, affiliations, logos, or URLs anywhere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10 s  |  22 words (2.2 w/s)
NARRATION:
Our headline finding. The same training-free trick, on the same benchmark, helps one model and hurts two others. No trick is plug-and-play.
VISUAL / PRODUCTION NOTE:
Numbers animate in one by one (CogACT, then MiniVLA, then SpatialVLA). All three from Table I, WidowX, depth pruning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10 s  |  24 words (2.4 w/s)
NARRATION:
VLA models are capable but slow. Each control step runs a vision encoder and language backbone. Existing tricks are each reported in one setting.
VISUAL / PRODUCTION NOTE:
Left: recorded original-policy episode with a latency counter burned in. Right: static pipeline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12 s  |  30 words (2.5 w/s)
NARRATION:
We study five training-free tricks along three axes of the control loop. What to see, when to act, and how much to compute. Each trick changes both cost and behavior.
VISUAL / PRODUCTION NOTE:
Fig. 2(a) of the paper. Highlight each trick box in sequence as it is named. The original policy is the unmodified loop and counts as one of six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8 s  |  19 words (2.4 w/s)
NARRATION:
What to see. Visual foveation keeps a sharp central disc and blurs the periphery. The token count is unchanged.
VISUAL / PRODUCTION NOTE:
The three frames are a WidowX observation rendered with the foveation mixture at keep ratio 20% and 50% (replace with frames from the actual foveation code if preferred).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10 s  |  24 words (2.4 w/s)
NARRATION:
When to act. Action repeat holds each action for two or four steps. Guarded reuse skips the policy call only when every gate passes.
VISUAL / PRODUCTION NOTE:
Timeline of policy calls. Optionally animate the dots left to right in step with the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10 s  |  25 words (2.5 w/s)
NARRATION:
How much to compute. Depth pruning removes one, two, or four decoder layers with lowest Block Influence. Temporal fusion reuses visual tokens of stable patches.
VISUAL / PRODUCTION NOTE:
Two crops from Fig. 2(a). Optional: fade out the pruned layers in the left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12 s  |  28 words (2.3 w/s)
NARRATION:
Seven open-source backbones, official checkpoints, no retraining, on SimplerEnv WidowX, Fractal, and LIBERO. Thirteen trick settings per pair, 286 settings in total, same initial states, paired McNemar tests.
VISUAL / PRODUCTION NOTE:
286 = 13 trick settings × 22 pairs (the original policy is the 14th configuration of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12 s  |  28 words (2.3 w/s)
NARRATION:
First, success. Guarded reuse and temporal fusion match or improve success for most backbones. Foveation and depth pruning help selected backbones. Action repeat is mainly a speed baseline.
VISUAL / PRODUCTION NOTE:
Optionally enlarge one row of the 2×3 panel at a time. Outline guarded-reuse and temporal-fusion bars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12 s  |  25 words (2.1 w/s)
NARRATION:
CogACT on WidowX. In these paired episodes the original fails and depth pruning succeeds. Overall success rises from 50.0 to 59.5, and latency drops slightly.
VISUAL / PRODUCTION NOTE:
Fig. 3(a) strips (Project Page mention cropped off). Bottom-left: side-by-side recorded episode, original left, depth pruning right, success/fail badge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10 s  |  24 words (2.4 w/s)
NARRATION:
Same trick, same benchmark, different backbone. On MiniVLA, depth pruning drops success by 17.5 points, on SpatialVLA by 6.5. Here the pruned policy fails.
VISUAL / PRODUCTION NOTE:
Record a MiniVLA WidowX episode from the same task family as slide 10 (e.g. carrot on plate) for original and depth pruning.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12 s  |  25 words (2.1 w/s)
NARRATION:
Second, speed. Action repeat gives the largest speedup. SpatialVLA on WidowX drops from 423.5 to 235.1 milliseconds per step. Depth pruning gives smaller decoder-level savings.
VISUAL / PRODUCTION NOTE:
Fig. 4: speedup vs success change, star = original, shaded = faster and no worse. Highlight the action-repeat points at the far right and the depth-pruning points near the 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14 s  |  35 words (2.5 w/s)
NARRATION:
Action repeat runs open loop. On WidowX, CogACT loses 38 points and UniVLA 75. Guarded reuse skips calls only when the gates agree. SmolVLA on LIBERO Long saves 20 milliseconds per step with success unchanged.
VISUAL / PRODUCTION NOTE:
Three-panel recording of one CogACT WidowX episode: original, action repeat k=4, guarded reuse. Under each panel a "policy calls used" counter; in the third panel a five-gate strip that turns green on skipped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12 s  |  28 words (2.3 w/s)
NARRATION:
Third, consistency. Across backbone and environment pairs the same trick improves one model, leaves another unchanged, and hurts a third. Gains depend on the backbone and the environment.
VISUAL / PRODUCTION NOTE:
Consistency chart (Project Page figure). Do not read the counts aloud. Optionally highlight the depth-pruning and foveation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10 s  |  27 words (2.7 w/s)
NARRATION:
Guarded reuse is most reliable. Action repeat is fastest but risky. Depth pruning is backbone-dependent. Evaluate every trick under the target backbone and environment before applying it.
VISUAL / PRODUCTION NOTE:
Four verdict cards in the paper's conclusion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4 s  |  7 words (1.8 w/s)
NARRATION:
Details are in the paper. Thank you.
VISUAL / PRODUCTION NOTE:
No URLs, names, or logos. Hold 4 s and fade to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A9B4C2"/>
                </a:solidFill>
                <a:latin typeface="Arial" pitchFamily="34" charset="0"/>
                <a:ea typeface="Arial" pitchFamily="34" charset="-122"/>
                <a:cs typeface="Arial" pitchFamily="34" charset="-120"/>
              </a:rPr>
              <a:t>1  ·  7s</a:t>
            </a:r>
            <a:endParaRPr lang="en-US" sz="900" dirty="0"/>
          </a:p>
        </p:txBody>
      </p:sp>
      <p:pic>
        <p:nvPicPr>
          <p:cNvPr id="3" name="Image 0" descr="/tmp/claude-0/-home-user-BiVLA/4327cefa-ba5d-5e2e-9d87-c73dd3a8ccbb/scratchpad/video_ppt/assets/fig2_overview.png">    </p:cNvPr>
          <p:cNvPicPr>
            <a:picLocks noChangeAspect="1"/>
          </p:cNvPicPr>
          <p:nvPr/>
        </p:nvPicPr>
        <p:blipFill>
          <a:blip r:embed="rId1">
            <a:alphaModFix amt="12000"/>
          </a:blip>
          <a:stretch>
            <a:fillRect/>
          </a:stretch>
        </p:blipFill>
        <p:spPr>
          <a:xfrm>
            <a:off x="548640" y="914400"/>
            <a:ext cx="8046720" cy="3456432"/>
          </a:xfrm>
          <a:prstGeom prst="rect">
            <a:avLst/>
          </a:prstGeom>
        </p:spPr>
      </p:pic>
      <p:sp>
        <p:nvSpPr>
          <p:cNvPr id="4" name="Text 1"/>
          <p:cNvSpPr txBox="1"/>
          <p:nvPr/>
        </p:nvSpPr>
        <p:spPr>
          <a:xfrm>
            <a:off x="640080" y="1234440"/>
            <a:ext cx="7863840" cy="1371600"/>
          </a:xfrm>
          <a:prstGeom prst="rect">
            <a:avLst/>
          </a:prstGeom>
          <a:noFill/>
          <a:ln/>
        </p:spPr>
        <p:txBody>
          <a:bodyPr wrap="square" lIns="0" tIns="0" rIns="0" bIns="0" rtlCol="0" anchor="ctr"/>
          <a:lstStyle/>
          <a:p>
            <a:pPr algn="ctr" indent="0" marL="0">
              <a:buNone/>
            </a:pPr>
            <a:r>
              <a:rPr lang="en-US" sz="3400" b="1" dirty="0">
                <a:solidFill>
                  <a:srgbClr val="F5F7FA"/>
                </a:solidFill>
                <a:latin typeface="Arial" pitchFamily="34" charset="0"/>
                <a:ea typeface="Arial" pitchFamily="34" charset="-122"/>
                <a:cs typeface="Arial" pitchFamily="34" charset="-120"/>
              </a:rPr>
              <a:t>Bag of Tricks for Training-Free</a:t>
            </a:r>
            <a:endParaRPr lang="en-US" sz="3400" dirty="0"/>
          </a:p>
          <a:p>
            <a:pPr algn="ctr" indent="0" marL="0">
              <a:buNone/>
            </a:pPr>
            <a:r>
              <a:rPr lang="en-US" sz="3400" b="1" dirty="0">
                <a:solidFill>
                  <a:srgbClr val="F5F7FA"/>
                </a:solidFill>
                <a:latin typeface="Arial" pitchFamily="34" charset="0"/>
                <a:ea typeface="Arial" pitchFamily="34" charset="-122"/>
                <a:cs typeface="Arial" pitchFamily="34" charset="-120"/>
              </a:rPr>
              <a:t>Vision-Language-Action Models</a:t>
            </a:r>
            <a:endParaRPr lang="en-US" sz="3400" dirty="0"/>
          </a:p>
        </p:txBody>
      </p:sp>
      <p:sp>
        <p:nvSpPr>
          <p:cNvPr id="5" name="Text 2"/>
          <p:cNvSpPr txBox="1"/>
          <p:nvPr/>
        </p:nvSpPr>
        <p:spPr>
          <a:xfrm>
            <a:off x="640080" y="2697480"/>
            <a:ext cx="7863840" cy="502920"/>
          </a:xfrm>
          <a:prstGeom prst="rect">
            <a:avLst/>
          </a:prstGeom>
          <a:noFill/>
          <a:ln/>
        </p:spPr>
        <p:txBody>
          <a:bodyPr wrap="square" lIns="0" tIns="0" rIns="0" bIns="0" rtlCol="0" anchor="ctr"/>
          <a:lstStyle/>
          <a:p>
            <a:pPr algn="ctr" indent="0" marL="0">
              <a:buNone/>
            </a:pPr>
            <a:r>
              <a:rPr lang="en-US" sz="2000" i="1" dirty="0">
                <a:solidFill>
                  <a:srgbClr val="C9D3E0"/>
                </a:solidFill>
                <a:latin typeface="Arial" pitchFamily="34" charset="0"/>
                <a:ea typeface="Arial" pitchFamily="34" charset="-122"/>
                <a:cs typeface="Arial" pitchFamily="34" charset="-120"/>
              </a:rPr>
              <a:t>What to See, When to Act, and How Much to Compute?</a:t>
            </a:r>
            <a:endParaRPr lang="en-US" sz="2000" dirty="0"/>
          </a:p>
        </p:txBody>
      </p:sp>
      <p:sp>
        <p:nvSpPr>
          <p:cNvPr id="6" name="Text 3"/>
          <p:cNvSpPr txBox="1"/>
          <p:nvPr/>
        </p:nvSpPr>
        <p:spPr>
          <a:xfrm>
            <a:off x="640080" y="3886200"/>
            <a:ext cx="7863840" cy="365760"/>
          </a:xfrm>
          <a:prstGeom prst="rect">
            <a:avLst/>
          </a:prstGeom>
          <a:noFill/>
          <a:ln/>
        </p:spPr>
        <p:txBody>
          <a:bodyPr wrap="square" lIns="0" tIns="0" rIns="0" bIns="0" rtlCol="0" anchor="ctr"/>
          <a:lstStyle/>
          <a:p>
            <a:pPr algn="ctr" indent="0" marL="0">
              <a:buNone/>
            </a:pPr>
            <a:r>
              <a:rPr lang="en-US" sz="1400" dirty="0">
                <a:solidFill>
                  <a:srgbClr val="9AA7B8"/>
                </a:solidFill>
                <a:latin typeface="Arial" pitchFamily="34" charset="0"/>
                <a:ea typeface="Arial" pitchFamily="34" charset="-122"/>
                <a:cs typeface="Arial" pitchFamily="34" charset="-120"/>
              </a:rPr>
              <a:t>Anonymous submission  ·  ICRA 2027 accompanying video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2  ·  10s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No trick is plug-and-play</a:t>
            </a:r>
            <a:endParaRPr lang="en-US" sz="2600" dirty="0"/>
          </a:p>
        </p:txBody>
      </p:sp>
      <p:sp>
        <p:nvSpPr>
          <p:cNvPr id="4" name="Text 2"/>
          <p:cNvSpPr txBox="1"/>
          <p:nvPr/>
        </p:nvSpPr>
        <p:spPr>
          <a:xfrm>
            <a:off x="457200" y="960120"/>
            <a:ext cx="8229600" cy="274320"/>
          </a:xfrm>
          <a:prstGeom prst="rect">
            <a:avLst/>
          </a:prstGeom>
          <a:noFill/>
          <a:ln/>
        </p:spPr>
        <p:txBody>
          <a:bodyPr wrap="square" lIns="0" tIns="0" rIns="0" bIns="0" rtlCol="0" anchor="t"/>
          <a:lstStyle/>
          <a:p>
            <a:pPr algn="l" indent="0" marL="0">
              <a:buNone/>
            </a:pPr>
            <a:r>
              <a:rPr lang="en-US" sz="1400" dirty="0">
                <a:solidFill>
                  <a:srgbClr val="1F2933"/>
                </a:solidFill>
                <a:latin typeface="Arial" pitchFamily="34" charset="0"/>
                <a:ea typeface="Arial" pitchFamily="34" charset="-122"/>
                <a:cs typeface="Arial" pitchFamily="34" charset="-120"/>
              </a:rPr>
              <a:t>Depth pruning on SimplerEnv WidowX, success change in points, three backbones.</a:t>
            </a:r>
            <a:endParaRPr lang="en-US" sz="1400" dirty="0"/>
          </a:p>
        </p:txBody>
      </p:sp>
      <p:sp>
        <p:nvSpPr>
          <p:cNvPr id="5" name="Shape 3"/>
          <p:cNvSpPr/>
          <p:nvPr/>
        </p:nvSpPr>
        <p:spPr>
          <a:xfrm>
            <a:off x="457200" y="1508760"/>
            <a:ext cx="2286000" cy="2331720"/>
          </a:xfrm>
          <a:prstGeom prst="roundRect">
            <a:avLst>
              <a:gd name="adj" fmla="val 4800"/>
            </a:avLst>
          </a:prstGeom>
          <a:solidFill>
            <a:srgbClr val="F3F5F7"/>
          </a:solidFill>
          <a:ln w="9525">
            <a:solidFill>
              <a:srgbClr val="D9DEE3"/>
            </a:solidFill>
            <a:prstDash val="solid"/>
          </a:ln>
        </p:spPr>
      </p:sp>
      <p:sp>
        <p:nvSpPr>
          <p:cNvPr id="6" name="Text 4"/>
          <p:cNvSpPr txBox="1"/>
          <p:nvPr/>
        </p:nvSpPr>
        <p:spPr>
          <a:xfrm>
            <a:off x="457200" y="1645920"/>
            <a:ext cx="2286000" cy="36576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CogACT</a:t>
            </a:r>
            <a:endParaRPr lang="en-US" sz="1800" dirty="0"/>
          </a:p>
        </p:txBody>
      </p:sp>
      <p:sp>
        <p:nvSpPr>
          <p:cNvPr id="7" name="Text 5"/>
          <p:cNvSpPr txBox="1"/>
          <p:nvPr/>
        </p:nvSpPr>
        <p:spPr>
          <a:xfrm>
            <a:off x="457200" y="2057400"/>
            <a:ext cx="2286000" cy="914400"/>
          </a:xfrm>
          <a:prstGeom prst="rect">
            <a:avLst/>
          </a:prstGeom>
          <a:noFill/>
          <a:ln/>
        </p:spPr>
        <p:txBody>
          <a:bodyPr wrap="square" lIns="0" tIns="0" rIns="0" bIns="0" rtlCol="0" anchor="ctr"/>
          <a:lstStyle/>
          <a:p>
            <a:pPr algn="ctr" indent="0" marL="0">
              <a:buNone/>
            </a:pPr>
            <a:r>
              <a:rPr lang="en-US" sz="5400" b="1" dirty="0">
                <a:solidFill>
                  <a:srgbClr val="2E8B57"/>
                </a:solidFill>
                <a:latin typeface="Arial" pitchFamily="34" charset="0"/>
                <a:ea typeface="Arial" pitchFamily="34" charset="-122"/>
                <a:cs typeface="Arial" pitchFamily="34" charset="-120"/>
              </a:rPr>
              <a:t>+9.5</a:t>
            </a:r>
            <a:endParaRPr lang="en-US" sz="5400" dirty="0"/>
          </a:p>
        </p:txBody>
      </p:sp>
      <p:sp>
        <p:nvSpPr>
          <p:cNvPr id="8" name="Text 6"/>
          <p:cNvSpPr txBox="1"/>
          <p:nvPr/>
        </p:nvSpPr>
        <p:spPr>
          <a:xfrm>
            <a:off x="457200" y="3017520"/>
            <a:ext cx="2286000" cy="320040"/>
          </a:xfrm>
          <a:prstGeom prst="rect">
            <a:avLst/>
          </a:prstGeom>
          <a:noFill/>
          <a:ln/>
        </p:spPr>
        <p:txBody>
          <a:bodyPr wrap="square" lIns="0" tIns="0" rIns="0" bIns="0" rtlCol="0" anchor="ctr"/>
          <a:lstStyle/>
          <a:p>
            <a:pPr algn="ctr" indent="0" marL="0">
              <a:buNone/>
            </a:pPr>
            <a:r>
              <a:rPr lang="en-US" sz="1300" dirty="0">
                <a:solidFill>
                  <a:srgbClr val="5F6B7A"/>
                </a:solidFill>
                <a:latin typeface="Arial" pitchFamily="34" charset="0"/>
                <a:ea typeface="Arial" pitchFamily="34" charset="-122"/>
                <a:cs typeface="Arial" pitchFamily="34" charset="-120"/>
              </a:rPr>
              <a:t>50.0 → 59.5 %</a:t>
            </a:r>
            <a:endParaRPr lang="en-US" sz="1300" dirty="0"/>
          </a:p>
        </p:txBody>
      </p:sp>
      <p:sp>
        <p:nvSpPr>
          <p:cNvPr id="9" name="Text 7"/>
          <p:cNvSpPr txBox="1"/>
          <p:nvPr/>
        </p:nvSpPr>
        <p:spPr>
          <a:xfrm>
            <a:off x="457200" y="3310128"/>
            <a:ext cx="2286000" cy="274320"/>
          </a:xfrm>
          <a:prstGeom prst="rect">
            <a:avLst/>
          </a:prstGeom>
          <a:noFill/>
          <a:ln/>
        </p:spPr>
        <p:txBody>
          <a:bodyPr wrap="square" lIns="0" tIns="0" rIns="0" bIns="0" rtlCol="0" anchor="ctr"/>
          <a:lstStyle/>
          <a:p>
            <a:pPr algn="ctr" indent="0" marL="0">
              <a:buNone/>
            </a:pPr>
            <a:r>
              <a:rPr lang="en-US" sz="1100" dirty="0">
                <a:solidFill>
                  <a:srgbClr val="5F6B7A"/>
                </a:solidFill>
                <a:latin typeface="Arial" pitchFamily="34" charset="0"/>
                <a:ea typeface="Arial" pitchFamily="34" charset="-122"/>
                <a:cs typeface="Arial" pitchFamily="34" charset="-120"/>
              </a:rPr>
              <a:t>success</a:t>
            </a:r>
            <a:endParaRPr lang="en-US" sz="1100" dirty="0"/>
          </a:p>
        </p:txBody>
      </p:sp>
      <p:sp>
        <p:nvSpPr>
          <p:cNvPr id="10" name="Shape 8"/>
          <p:cNvSpPr/>
          <p:nvPr/>
        </p:nvSpPr>
        <p:spPr>
          <a:xfrm>
            <a:off x="3429000" y="1508760"/>
            <a:ext cx="2286000" cy="2331720"/>
          </a:xfrm>
          <a:prstGeom prst="roundRect">
            <a:avLst>
              <a:gd name="adj" fmla="val 4800"/>
            </a:avLst>
          </a:prstGeom>
          <a:solidFill>
            <a:srgbClr val="F3F5F7"/>
          </a:solidFill>
          <a:ln w="9525">
            <a:solidFill>
              <a:srgbClr val="D9DEE3"/>
            </a:solidFill>
            <a:prstDash val="solid"/>
          </a:ln>
        </p:spPr>
      </p:sp>
      <p:sp>
        <p:nvSpPr>
          <p:cNvPr id="11" name="Text 9"/>
          <p:cNvSpPr txBox="1"/>
          <p:nvPr/>
        </p:nvSpPr>
        <p:spPr>
          <a:xfrm>
            <a:off x="3429000" y="1645920"/>
            <a:ext cx="2286000" cy="36576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MiniVLA</a:t>
            </a:r>
            <a:endParaRPr lang="en-US" sz="1800" dirty="0"/>
          </a:p>
        </p:txBody>
      </p:sp>
      <p:sp>
        <p:nvSpPr>
          <p:cNvPr id="12" name="Text 10"/>
          <p:cNvSpPr txBox="1"/>
          <p:nvPr/>
        </p:nvSpPr>
        <p:spPr>
          <a:xfrm>
            <a:off x="3429000" y="2057400"/>
            <a:ext cx="2286000" cy="914400"/>
          </a:xfrm>
          <a:prstGeom prst="rect">
            <a:avLst/>
          </a:prstGeom>
          <a:noFill/>
          <a:ln/>
        </p:spPr>
        <p:txBody>
          <a:bodyPr wrap="square" lIns="0" tIns="0" rIns="0" bIns="0" rtlCol="0" anchor="ctr"/>
          <a:lstStyle/>
          <a:p>
            <a:pPr algn="ctr" indent="0" marL="0">
              <a:buNone/>
            </a:pPr>
            <a:r>
              <a:rPr lang="en-US" sz="5400" b="1" dirty="0">
                <a:solidFill>
                  <a:srgbClr val="B03A2E"/>
                </a:solidFill>
                <a:latin typeface="Arial" pitchFamily="34" charset="0"/>
                <a:ea typeface="Arial" pitchFamily="34" charset="-122"/>
                <a:cs typeface="Arial" pitchFamily="34" charset="-120"/>
              </a:rPr>
              <a:t>−17.5</a:t>
            </a:r>
            <a:endParaRPr lang="en-US" sz="5400" dirty="0"/>
          </a:p>
        </p:txBody>
      </p:sp>
      <p:sp>
        <p:nvSpPr>
          <p:cNvPr id="13" name="Text 11"/>
          <p:cNvSpPr txBox="1"/>
          <p:nvPr/>
        </p:nvSpPr>
        <p:spPr>
          <a:xfrm>
            <a:off x="3429000" y="3017520"/>
            <a:ext cx="2286000" cy="320040"/>
          </a:xfrm>
          <a:prstGeom prst="rect">
            <a:avLst/>
          </a:prstGeom>
          <a:noFill/>
          <a:ln/>
        </p:spPr>
        <p:txBody>
          <a:bodyPr wrap="square" lIns="0" tIns="0" rIns="0" bIns="0" rtlCol="0" anchor="ctr"/>
          <a:lstStyle/>
          <a:p>
            <a:pPr algn="ctr" indent="0" marL="0">
              <a:buNone/>
            </a:pPr>
            <a:r>
              <a:rPr lang="en-US" sz="1300" dirty="0">
                <a:solidFill>
                  <a:srgbClr val="5F6B7A"/>
                </a:solidFill>
                <a:latin typeface="Arial" pitchFamily="34" charset="0"/>
                <a:ea typeface="Arial" pitchFamily="34" charset="-122"/>
                <a:cs typeface="Arial" pitchFamily="34" charset="-120"/>
              </a:rPr>
              <a:t>36.0 → 18.5 %</a:t>
            </a:r>
            <a:endParaRPr lang="en-US" sz="1300" dirty="0"/>
          </a:p>
        </p:txBody>
      </p:sp>
      <p:sp>
        <p:nvSpPr>
          <p:cNvPr id="14" name="Text 12"/>
          <p:cNvSpPr txBox="1"/>
          <p:nvPr/>
        </p:nvSpPr>
        <p:spPr>
          <a:xfrm>
            <a:off x="3429000" y="3310128"/>
            <a:ext cx="2286000" cy="274320"/>
          </a:xfrm>
          <a:prstGeom prst="rect">
            <a:avLst/>
          </a:prstGeom>
          <a:noFill/>
          <a:ln/>
        </p:spPr>
        <p:txBody>
          <a:bodyPr wrap="square" lIns="0" tIns="0" rIns="0" bIns="0" rtlCol="0" anchor="ctr"/>
          <a:lstStyle/>
          <a:p>
            <a:pPr algn="ctr" indent="0" marL="0">
              <a:buNone/>
            </a:pPr>
            <a:r>
              <a:rPr lang="en-US" sz="1100" dirty="0">
                <a:solidFill>
                  <a:srgbClr val="5F6B7A"/>
                </a:solidFill>
                <a:latin typeface="Arial" pitchFamily="34" charset="0"/>
                <a:ea typeface="Arial" pitchFamily="34" charset="-122"/>
                <a:cs typeface="Arial" pitchFamily="34" charset="-120"/>
              </a:rPr>
              <a:t>success</a:t>
            </a:r>
            <a:endParaRPr lang="en-US" sz="1100" dirty="0"/>
          </a:p>
        </p:txBody>
      </p:sp>
      <p:sp>
        <p:nvSpPr>
          <p:cNvPr id="15" name="Shape 13"/>
          <p:cNvSpPr/>
          <p:nvPr/>
        </p:nvSpPr>
        <p:spPr>
          <a:xfrm>
            <a:off x="6400800" y="1508760"/>
            <a:ext cx="2286000" cy="2331720"/>
          </a:xfrm>
          <a:prstGeom prst="roundRect">
            <a:avLst>
              <a:gd name="adj" fmla="val 4800"/>
            </a:avLst>
          </a:prstGeom>
          <a:solidFill>
            <a:srgbClr val="F3F5F7"/>
          </a:solidFill>
          <a:ln w="9525">
            <a:solidFill>
              <a:srgbClr val="D9DEE3"/>
            </a:solidFill>
            <a:prstDash val="solid"/>
          </a:ln>
        </p:spPr>
      </p:sp>
      <p:sp>
        <p:nvSpPr>
          <p:cNvPr id="16" name="Text 14"/>
          <p:cNvSpPr txBox="1"/>
          <p:nvPr/>
        </p:nvSpPr>
        <p:spPr>
          <a:xfrm>
            <a:off x="6400800" y="1645920"/>
            <a:ext cx="2286000" cy="36576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SpatialVLA</a:t>
            </a:r>
            <a:endParaRPr lang="en-US" sz="1800" dirty="0"/>
          </a:p>
        </p:txBody>
      </p:sp>
      <p:sp>
        <p:nvSpPr>
          <p:cNvPr id="17" name="Text 15"/>
          <p:cNvSpPr txBox="1"/>
          <p:nvPr/>
        </p:nvSpPr>
        <p:spPr>
          <a:xfrm>
            <a:off x="6400800" y="2057400"/>
            <a:ext cx="2286000" cy="914400"/>
          </a:xfrm>
          <a:prstGeom prst="rect">
            <a:avLst/>
          </a:prstGeom>
          <a:noFill/>
          <a:ln/>
        </p:spPr>
        <p:txBody>
          <a:bodyPr wrap="square" lIns="0" tIns="0" rIns="0" bIns="0" rtlCol="0" anchor="ctr"/>
          <a:lstStyle/>
          <a:p>
            <a:pPr algn="ctr" indent="0" marL="0">
              <a:buNone/>
            </a:pPr>
            <a:r>
              <a:rPr lang="en-US" sz="5400" b="1" dirty="0">
                <a:solidFill>
                  <a:srgbClr val="B03A2E"/>
                </a:solidFill>
                <a:latin typeface="Arial" pitchFamily="34" charset="0"/>
                <a:ea typeface="Arial" pitchFamily="34" charset="-122"/>
                <a:cs typeface="Arial" pitchFamily="34" charset="-120"/>
              </a:rPr>
              <a:t>−6.5</a:t>
            </a:r>
            <a:endParaRPr lang="en-US" sz="5400" dirty="0"/>
          </a:p>
        </p:txBody>
      </p:sp>
      <p:sp>
        <p:nvSpPr>
          <p:cNvPr id="18" name="Text 16"/>
          <p:cNvSpPr txBox="1"/>
          <p:nvPr/>
        </p:nvSpPr>
        <p:spPr>
          <a:xfrm>
            <a:off x="6400800" y="3017520"/>
            <a:ext cx="2286000" cy="320040"/>
          </a:xfrm>
          <a:prstGeom prst="rect">
            <a:avLst/>
          </a:prstGeom>
          <a:noFill/>
          <a:ln/>
        </p:spPr>
        <p:txBody>
          <a:bodyPr wrap="square" lIns="0" tIns="0" rIns="0" bIns="0" rtlCol="0" anchor="ctr"/>
          <a:lstStyle/>
          <a:p>
            <a:pPr algn="ctr" indent="0" marL="0">
              <a:buNone/>
            </a:pPr>
            <a:r>
              <a:rPr lang="en-US" sz="1300" dirty="0">
                <a:solidFill>
                  <a:srgbClr val="5F6B7A"/>
                </a:solidFill>
                <a:latin typeface="Arial" pitchFamily="34" charset="0"/>
                <a:ea typeface="Arial" pitchFamily="34" charset="-122"/>
                <a:cs typeface="Arial" pitchFamily="34" charset="-120"/>
              </a:rPr>
              <a:t>45.0 → 38.5 %</a:t>
            </a:r>
            <a:endParaRPr lang="en-US" sz="1300" dirty="0"/>
          </a:p>
        </p:txBody>
      </p:sp>
      <p:sp>
        <p:nvSpPr>
          <p:cNvPr id="19" name="Text 17"/>
          <p:cNvSpPr txBox="1"/>
          <p:nvPr/>
        </p:nvSpPr>
        <p:spPr>
          <a:xfrm>
            <a:off x="6400800" y="3310128"/>
            <a:ext cx="2286000" cy="274320"/>
          </a:xfrm>
          <a:prstGeom prst="rect">
            <a:avLst/>
          </a:prstGeom>
          <a:noFill/>
          <a:ln/>
        </p:spPr>
        <p:txBody>
          <a:bodyPr wrap="square" lIns="0" tIns="0" rIns="0" bIns="0" rtlCol="0" anchor="ctr"/>
          <a:lstStyle/>
          <a:p>
            <a:pPr algn="ctr" indent="0" marL="0">
              <a:buNone/>
            </a:pPr>
            <a:r>
              <a:rPr lang="en-US" sz="1100" dirty="0">
                <a:solidFill>
                  <a:srgbClr val="5F6B7A"/>
                </a:solidFill>
                <a:latin typeface="Arial" pitchFamily="34" charset="0"/>
                <a:ea typeface="Arial" pitchFamily="34" charset="-122"/>
                <a:cs typeface="Arial" pitchFamily="34" charset="-120"/>
              </a:rPr>
              <a:t>success</a:t>
            </a:r>
            <a:endParaRPr lang="en-US" sz="1100" dirty="0"/>
          </a:p>
        </p:txBody>
      </p:sp>
      <p:sp>
        <p:nvSpPr>
          <p:cNvPr id="20" name="Text 18"/>
          <p:cNvSpPr txBox="1"/>
          <p:nvPr/>
        </p:nvSpPr>
        <p:spPr>
          <a:xfrm>
            <a:off x="457200" y="4069080"/>
            <a:ext cx="8229600" cy="411480"/>
          </a:xfrm>
          <a:prstGeom prst="rect">
            <a:avLst/>
          </a:prstGeom>
          <a:noFill/>
          <a:ln/>
        </p:spPr>
        <p:txBody>
          <a:bodyPr wrap="square" lIns="0" tIns="0" rIns="0" bIns="0" rtlCol="0" anchor="ctr"/>
          <a:lstStyle/>
          <a:p>
            <a:pPr algn="ctr" indent="0" marL="0">
              <a:buNone/>
            </a:pPr>
            <a:r>
              <a:rPr lang="en-US" sz="1600" b="1" dirty="0">
                <a:solidFill>
                  <a:srgbClr val="1B7F79"/>
                </a:solidFill>
                <a:latin typeface="Arial" pitchFamily="34" charset="0"/>
                <a:ea typeface="Arial" pitchFamily="34" charset="-122"/>
                <a:cs typeface="Arial" pitchFamily="34" charset="-120"/>
              </a:rPr>
              <a:t>The same trick helps one model, leaves another unchanged, and hurts a third.</a:t>
            </a:r>
            <a:endParaRPr lang="en-US" sz="1600" dirty="0"/>
          </a:p>
        </p:txBody>
      </p:sp>
      <p:sp>
        <p:nvSpPr>
          <p:cNvPr id="21" name="Text 19"/>
          <p:cNvSpPr txBox="1"/>
          <p:nvPr/>
        </p:nvSpPr>
        <p:spPr>
          <a:xfrm>
            <a:off x="457200" y="4572000"/>
            <a:ext cx="5486400" cy="27432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Best setting per trick, Table I of the paper.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3  ·  10s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VLA models are strong but slow</a:t>
            </a:r>
            <a:endParaRPr lang="en-US" sz="2600" dirty="0"/>
          </a:p>
        </p:txBody>
      </p:sp>
      <p:sp>
        <p:nvSpPr>
          <p:cNvPr id="4" name="Shape 2"/>
          <p:cNvSpPr/>
          <p:nvPr/>
        </p:nvSpPr>
        <p:spPr>
          <a:xfrm>
            <a:off x="457200" y="1005840"/>
            <a:ext cx="4754880" cy="3291840"/>
          </a:xfrm>
          <a:prstGeom prst="roundRect">
            <a:avLst>
              <a:gd name="adj" fmla="val 2222"/>
            </a:avLst>
          </a:prstGeom>
          <a:solidFill>
            <a:srgbClr val="2A2F3A"/>
          </a:solidFill>
          <a:ln w="12700">
            <a:solidFill>
              <a:srgbClr val="8A94A6"/>
            </a:solidFill>
            <a:prstDash val="dash"/>
          </a:ln>
        </p:spPr>
      </p:sp>
      <p:sp>
        <p:nvSpPr>
          <p:cNvPr id="5" name="Shape 3"/>
          <p:cNvSpPr/>
          <p:nvPr/>
        </p:nvSpPr>
        <p:spPr>
          <a:xfrm>
            <a:off x="2560320" y="2267712"/>
            <a:ext cx="548640" cy="548640"/>
          </a:xfrm>
          <a:prstGeom prst="ellipse">
            <a:avLst/>
          </a:prstGeom>
          <a:solidFill>
            <a:srgbClr val="FFFFFF"/>
          </a:solidFill>
          <a:ln w="12700">
            <a:solidFill>
              <a:srgbClr val="FFFFFF"/>
            </a:solidFill>
            <a:prstDash val="solid"/>
          </a:ln>
        </p:spPr>
      </p:sp>
      <p:sp>
        <p:nvSpPr>
          <p:cNvPr id="6" name="Shape 4"/>
          <p:cNvSpPr/>
          <p:nvPr/>
        </p:nvSpPr>
        <p:spPr>
          <a:xfrm rot="5400000">
            <a:off x="2752344" y="2386584"/>
            <a:ext cx="219456" cy="310896"/>
          </a:xfrm>
          <a:prstGeom prst="triangle">
            <a:avLst/>
          </a:prstGeom>
          <a:solidFill>
            <a:srgbClr val="2A2F3A"/>
          </a:solidFill>
          <a:ln w="12700">
            <a:solidFill>
              <a:srgbClr val="2A2F3A"/>
            </a:solidFill>
            <a:prstDash val="solid"/>
          </a:ln>
        </p:spPr>
      </p:sp>
      <p:sp>
        <p:nvSpPr>
          <p:cNvPr id="7" name="Text 5"/>
          <p:cNvSpPr txBox="1"/>
          <p:nvPr/>
        </p:nvSpPr>
        <p:spPr>
          <a:xfrm>
            <a:off x="548640" y="2880360"/>
            <a:ext cx="457200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one original WidowX rollout</a:t>
            </a:r>
            <a:endParaRPr lang="en-US" sz="1200" dirty="0"/>
          </a:p>
        </p:txBody>
      </p:sp>
      <p:sp>
        <p:nvSpPr>
          <p:cNvPr id="8" name="Text 6"/>
          <p:cNvSpPr txBox="1"/>
          <p:nvPr/>
        </p:nvSpPr>
        <p:spPr>
          <a:xfrm>
            <a:off x="548640" y="3127248"/>
            <a:ext cx="457200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Overlay a live counter "ms per step" (e.g. CogACT 141 ms, SpatialVLA 424 ms).</a:t>
            </a:r>
            <a:endParaRPr lang="en-US" sz="950" dirty="0"/>
          </a:p>
          <a:p>
            <a:pPr algn="ctr" indent="0" marL="0">
              <a:buNone/>
            </a:pPr>
            <a:r>
              <a:rPr lang="en-US" sz="950" dirty="0">
                <a:solidFill>
                  <a:srgbClr val="C9D1DC"/>
                </a:solidFill>
                <a:latin typeface="Arial" pitchFamily="34" charset="0"/>
                <a:ea typeface="Arial" pitchFamily="34" charset="-122"/>
                <a:cs typeface="Arial" pitchFamily="34" charset="-120"/>
              </a:rPr>
              <a:t>Record from the evaluation run, 720p, 8-10 s.</a:t>
            </a:r>
            <a:endParaRPr lang="en-US" sz="950" dirty="0"/>
          </a:p>
        </p:txBody>
      </p:sp>
      <p:sp>
        <p:nvSpPr>
          <p:cNvPr id="9" name="Shape 7"/>
          <p:cNvSpPr/>
          <p:nvPr/>
        </p:nvSpPr>
        <p:spPr>
          <a:xfrm>
            <a:off x="5577840" y="1005840"/>
            <a:ext cx="3108960" cy="438912"/>
          </a:xfrm>
          <a:prstGeom prst="roundRect">
            <a:avLst>
              <a:gd name="adj" fmla="val 16667"/>
            </a:avLst>
          </a:prstGeom>
          <a:solidFill>
            <a:srgbClr val="F3F5F7"/>
          </a:solidFill>
          <a:ln w="9525">
            <a:solidFill>
              <a:srgbClr val="D9DEE3"/>
            </a:solidFill>
            <a:prstDash val="solid"/>
          </a:ln>
        </p:spPr>
      </p:sp>
      <p:sp>
        <p:nvSpPr>
          <p:cNvPr id="10" name="Text 8"/>
          <p:cNvSpPr txBox="1"/>
          <p:nvPr/>
        </p:nvSpPr>
        <p:spPr>
          <a:xfrm>
            <a:off x="5577840" y="1005840"/>
            <a:ext cx="3108960" cy="438912"/>
          </a:xfrm>
          <a:prstGeom prst="rect">
            <a:avLst/>
          </a:prstGeom>
          <a:noFill/>
          <a:ln/>
        </p:spPr>
        <p:txBody>
          <a:bodyPr wrap="square" lIns="0" tIns="0" rIns="0" bIns="0" rtlCol="0" anchor="ctr"/>
          <a:lstStyle/>
          <a:p>
            <a:pPr algn="ctr" indent="0" marL="0">
              <a:buNone/>
            </a:pPr>
            <a:r>
              <a:rPr lang="en-US" sz="1400" dirty="0">
                <a:solidFill>
                  <a:srgbClr val="1F2933"/>
                </a:solidFill>
                <a:latin typeface="Arial" pitchFamily="34" charset="0"/>
                <a:ea typeface="Arial" pitchFamily="34" charset="-122"/>
                <a:cs typeface="Arial" pitchFamily="34" charset="-120"/>
              </a:rPr>
              <a:t>Image + instruction</a:t>
            </a:r>
            <a:endParaRPr lang="en-US" sz="1400" dirty="0"/>
          </a:p>
        </p:txBody>
      </p:sp>
      <p:sp>
        <p:nvSpPr>
          <p:cNvPr id="11" name="Text 9"/>
          <p:cNvSpPr txBox="1"/>
          <p:nvPr/>
        </p:nvSpPr>
        <p:spPr>
          <a:xfrm>
            <a:off x="6995160" y="1426464"/>
            <a:ext cx="274320" cy="164592"/>
          </a:xfrm>
          <a:prstGeom prst="rect">
            <a:avLst/>
          </a:prstGeom>
          <a:noFill/>
          <a:ln/>
        </p:spPr>
        <p:txBody>
          <a:bodyPr wrap="square" lIns="0" tIns="0" rIns="0" bIns="0" rtlCol="0" anchor="ctr"/>
          <a:lstStyle/>
          <a:p>
            <a:pPr algn="ctr" indent="0" marL="0">
              <a:buNone/>
            </a:pPr>
            <a:r>
              <a:rPr lang="en-US" sz="800" dirty="0">
                <a:solidFill>
                  <a:srgbClr val="5F6B7A"/>
                </a:solidFill>
                <a:latin typeface="Arial" pitchFamily="34" charset="0"/>
                <a:ea typeface="Arial" pitchFamily="34" charset="-122"/>
                <a:cs typeface="Arial" pitchFamily="34" charset="-120"/>
              </a:rPr>
              <a:t>▼</a:t>
            </a:r>
            <a:endParaRPr lang="en-US" sz="800" dirty="0"/>
          </a:p>
        </p:txBody>
      </p:sp>
      <p:sp>
        <p:nvSpPr>
          <p:cNvPr id="12" name="Shape 10"/>
          <p:cNvSpPr/>
          <p:nvPr/>
        </p:nvSpPr>
        <p:spPr>
          <a:xfrm>
            <a:off x="5577840" y="1572768"/>
            <a:ext cx="3108960" cy="438912"/>
          </a:xfrm>
          <a:prstGeom prst="roundRect">
            <a:avLst>
              <a:gd name="adj" fmla="val 16667"/>
            </a:avLst>
          </a:prstGeom>
          <a:solidFill>
            <a:srgbClr val="E1EAF7"/>
          </a:solidFill>
          <a:ln w="9525">
            <a:solidFill>
              <a:srgbClr val="D9DEE3"/>
            </a:solidFill>
            <a:prstDash val="solid"/>
          </a:ln>
        </p:spPr>
      </p:sp>
      <p:sp>
        <p:nvSpPr>
          <p:cNvPr id="13" name="Text 11"/>
          <p:cNvSpPr txBox="1"/>
          <p:nvPr/>
        </p:nvSpPr>
        <p:spPr>
          <a:xfrm>
            <a:off x="5577840" y="1572768"/>
            <a:ext cx="3108960" cy="438912"/>
          </a:xfrm>
          <a:prstGeom prst="rect">
            <a:avLst/>
          </a:prstGeom>
          <a:noFill/>
          <a:ln/>
        </p:spPr>
        <p:txBody>
          <a:bodyPr wrap="square" lIns="0" tIns="0" rIns="0" bIns="0" rtlCol="0" anchor="ctr"/>
          <a:lstStyle/>
          <a:p>
            <a:pPr algn="ctr" indent="0" marL="0">
              <a:buNone/>
            </a:pPr>
            <a:r>
              <a:rPr lang="en-US" sz="1400" b="1" dirty="0">
                <a:solidFill>
                  <a:srgbClr val="1F2933"/>
                </a:solidFill>
                <a:latin typeface="Arial" pitchFamily="34" charset="0"/>
                <a:ea typeface="Arial" pitchFamily="34" charset="-122"/>
                <a:cs typeface="Arial" pitchFamily="34" charset="-120"/>
              </a:rPr>
              <a:t>Vision encoder</a:t>
            </a:r>
            <a:endParaRPr lang="en-US" sz="1400" dirty="0"/>
          </a:p>
        </p:txBody>
      </p:sp>
      <p:sp>
        <p:nvSpPr>
          <p:cNvPr id="14" name="Text 12"/>
          <p:cNvSpPr txBox="1"/>
          <p:nvPr/>
        </p:nvSpPr>
        <p:spPr>
          <a:xfrm>
            <a:off x="6995160" y="1993392"/>
            <a:ext cx="274320" cy="164592"/>
          </a:xfrm>
          <a:prstGeom prst="rect">
            <a:avLst/>
          </a:prstGeom>
          <a:noFill/>
          <a:ln/>
        </p:spPr>
        <p:txBody>
          <a:bodyPr wrap="square" lIns="0" tIns="0" rIns="0" bIns="0" rtlCol="0" anchor="ctr"/>
          <a:lstStyle/>
          <a:p>
            <a:pPr algn="ctr" indent="0" marL="0">
              <a:buNone/>
            </a:pPr>
            <a:r>
              <a:rPr lang="en-US" sz="800" dirty="0">
                <a:solidFill>
                  <a:srgbClr val="5F6B7A"/>
                </a:solidFill>
                <a:latin typeface="Arial" pitchFamily="34" charset="0"/>
                <a:ea typeface="Arial" pitchFamily="34" charset="-122"/>
                <a:cs typeface="Arial" pitchFamily="34" charset="-120"/>
              </a:rPr>
              <a:t>▼</a:t>
            </a:r>
            <a:endParaRPr lang="en-US" sz="800" dirty="0"/>
          </a:p>
        </p:txBody>
      </p:sp>
      <p:sp>
        <p:nvSpPr>
          <p:cNvPr id="15" name="Shape 13"/>
          <p:cNvSpPr/>
          <p:nvPr/>
        </p:nvSpPr>
        <p:spPr>
          <a:xfrm>
            <a:off x="5577840" y="2139696"/>
            <a:ext cx="3108960" cy="438912"/>
          </a:xfrm>
          <a:prstGeom prst="roundRect">
            <a:avLst>
              <a:gd name="adj" fmla="val 16667"/>
            </a:avLst>
          </a:prstGeom>
          <a:solidFill>
            <a:srgbClr val="E1EAF7"/>
          </a:solidFill>
          <a:ln w="9525">
            <a:solidFill>
              <a:srgbClr val="D9DEE3"/>
            </a:solidFill>
            <a:prstDash val="solid"/>
          </a:ln>
        </p:spPr>
      </p:sp>
      <p:sp>
        <p:nvSpPr>
          <p:cNvPr id="16" name="Text 14"/>
          <p:cNvSpPr txBox="1"/>
          <p:nvPr/>
        </p:nvSpPr>
        <p:spPr>
          <a:xfrm>
            <a:off x="5577840" y="2139696"/>
            <a:ext cx="3108960" cy="438912"/>
          </a:xfrm>
          <a:prstGeom prst="rect">
            <a:avLst/>
          </a:prstGeom>
          <a:noFill/>
          <a:ln/>
        </p:spPr>
        <p:txBody>
          <a:bodyPr wrap="square" lIns="0" tIns="0" rIns="0" bIns="0" rtlCol="0" anchor="ctr"/>
          <a:lstStyle/>
          <a:p>
            <a:pPr algn="ctr" indent="0" marL="0">
              <a:buNone/>
            </a:pPr>
            <a:r>
              <a:rPr lang="en-US" sz="1400" b="1" dirty="0">
                <a:solidFill>
                  <a:srgbClr val="1F2933"/>
                </a:solidFill>
                <a:latin typeface="Arial" pitchFamily="34" charset="0"/>
                <a:ea typeface="Arial" pitchFamily="34" charset="-122"/>
                <a:cs typeface="Arial" pitchFamily="34" charset="-120"/>
              </a:rPr>
              <a:t>Language backbone</a:t>
            </a:r>
            <a:endParaRPr lang="en-US" sz="1400" dirty="0"/>
          </a:p>
        </p:txBody>
      </p:sp>
      <p:sp>
        <p:nvSpPr>
          <p:cNvPr id="17" name="Text 15"/>
          <p:cNvSpPr txBox="1"/>
          <p:nvPr/>
        </p:nvSpPr>
        <p:spPr>
          <a:xfrm>
            <a:off x="6995160" y="2560320"/>
            <a:ext cx="274320" cy="164592"/>
          </a:xfrm>
          <a:prstGeom prst="rect">
            <a:avLst/>
          </a:prstGeom>
          <a:noFill/>
          <a:ln/>
        </p:spPr>
        <p:txBody>
          <a:bodyPr wrap="square" lIns="0" tIns="0" rIns="0" bIns="0" rtlCol="0" anchor="ctr"/>
          <a:lstStyle/>
          <a:p>
            <a:pPr algn="ctr" indent="0" marL="0">
              <a:buNone/>
            </a:pPr>
            <a:r>
              <a:rPr lang="en-US" sz="800" dirty="0">
                <a:solidFill>
                  <a:srgbClr val="5F6B7A"/>
                </a:solidFill>
                <a:latin typeface="Arial" pitchFamily="34" charset="0"/>
                <a:ea typeface="Arial" pitchFamily="34" charset="-122"/>
                <a:cs typeface="Arial" pitchFamily="34" charset="-120"/>
              </a:rPr>
              <a:t>▼</a:t>
            </a:r>
            <a:endParaRPr lang="en-US" sz="800" dirty="0"/>
          </a:p>
        </p:txBody>
      </p:sp>
      <p:sp>
        <p:nvSpPr>
          <p:cNvPr id="18" name="Shape 16"/>
          <p:cNvSpPr/>
          <p:nvPr/>
        </p:nvSpPr>
        <p:spPr>
          <a:xfrm>
            <a:off x="5577840" y="2706624"/>
            <a:ext cx="3108960" cy="438912"/>
          </a:xfrm>
          <a:prstGeom prst="roundRect">
            <a:avLst>
              <a:gd name="adj" fmla="val 16667"/>
            </a:avLst>
          </a:prstGeom>
          <a:solidFill>
            <a:srgbClr val="F3F5F7"/>
          </a:solidFill>
          <a:ln w="9525">
            <a:solidFill>
              <a:srgbClr val="D9DEE3"/>
            </a:solidFill>
            <a:prstDash val="solid"/>
          </a:ln>
        </p:spPr>
      </p:sp>
      <p:sp>
        <p:nvSpPr>
          <p:cNvPr id="19" name="Text 17"/>
          <p:cNvSpPr txBox="1"/>
          <p:nvPr/>
        </p:nvSpPr>
        <p:spPr>
          <a:xfrm>
            <a:off x="5577840" y="2706624"/>
            <a:ext cx="3108960" cy="438912"/>
          </a:xfrm>
          <a:prstGeom prst="rect">
            <a:avLst/>
          </a:prstGeom>
          <a:noFill/>
          <a:ln/>
        </p:spPr>
        <p:txBody>
          <a:bodyPr wrap="square" lIns="0" tIns="0" rIns="0" bIns="0" rtlCol="0" anchor="ctr"/>
          <a:lstStyle/>
          <a:p>
            <a:pPr algn="ctr" indent="0" marL="0">
              <a:buNone/>
            </a:pPr>
            <a:r>
              <a:rPr lang="en-US" sz="1400" dirty="0">
                <a:solidFill>
                  <a:srgbClr val="1F2933"/>
                </a:solidFill>
                <a:latin typeface="Arial" pitchFamily="34" charset="0"/>
                <a:ea typeface="Arial" pitchFamily="34" charset="-122"/>
                <a:cs typeface="Arial" pitchFamily="34" charset="-120"/>
              </a:rPr>
              <a:t>Action</a:t>
            </a:r>
            <a:endParaRPr lang="en-US" sz="1400" dirty="0"/>
          </a:p>
        </p:txBody>
      </p:sp>
      <p:sp>
        <p:nvSpPr>
          <p:cNvPr id="20" name="Text 18"/>
          <p:cNvSpPr txBox="1"/>
          <p:nvPr/>
        </p:nvSpPr>
        <p:spPr>
          <a:xfrm>
            <a:off x="5577840" y="3383280"/>
            <a:ext cx="3108960" cy="12801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Every control step runs a large vision encoder and language backbone</a:t>
            </a:r>
            <a:endParaRPr lang="en-US" sz="1250" dirty="0"/>
          </a:p>
          <a:p>
            <a:pPr marL="177800" indent="-1778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Existing tricks are each reported for one trick, one backbone, one benchmark</a:t>
            </a:r>
            <a:endParaRPr lang="en-US" sz="1250" dirty="0"/>
          </a:p>
          <a:p>
            <a:pPr marL="177800" indent="-1778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Do the gains transfer?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4  ·  12s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1F2933"/>
                </a:solidFill>
                <a:latin typeface="Arial" pitchFamily="34" charset="0"/>
                <a:ea typeface="Arial" pitchFamily="34" charset="-122"/>
                <a:cs typeface="Arial" pitchFamily="34" charset="-120"/>
              </a:rPr>
              <a:t>Five tricks, three axes of the control loop</a:t>
            </a:r>
            <a:endParaRPr lang="en-US" sz="2400" dirty="0"/>
          </a:p>
        </p:txBody>
      </p:sp>
      <p:pic>
        <p:nvPicPr>
          <p:cNvPr id="4" name="Image 0" descr="/tmp/claude-0/-home-user-BiVLA/4327cefa-ba5d-5e2e-9d87-c73dd3a8ccbb/scratchpad/video_ppt/assets/fig2_overview.png">    </p:cNvPr>
          <p:cNvPicPr>
            <a:picLocks noChangeAspect="1"/>
          </p:cNvPicPr>
          <p:nvPr/>
        </p:nvPicPr>
        <p:blipFill>
          <a:blip r:embed="rId1"/>
          <a:stretch>
            <a:fillRect/>
          </a:stretch>
        </p:blipFill>
        <p:spPr>
          <a:xfrm>
            <a:off x="457200" y="914400"/>
            <a:ext cx="8229600" cy="3538728"/>
          </a:xfrm>
          <a:prstGeom prst="rect">
            <a:avLst/>
          </a:prstGeom>
        </p:spPr>
      </p:pic>
      <p:sp>
        <p:nvSpPr>
          <p:cNvPr id="5" name="Shape 2"/>
          <p:cNvSpPr/>
          <p:nvPr/>
        </p:nvSpPr>
        <p:spPr>
          <a:xfrm>
            <a:off x="457200" y="4526280"/>
            <a:ext cx="2651760" cy="457200"/>
          </a:xfrm>
          <a:prstGeom prst="roundRect">
            <a:avLst>
              <a:gd name="adj" fmla="val 16000"/>
            </a:avLst>
          </a:prstGeom>
          <a:solidFill>
            <a:srgbClr val="E1EAF7"/>
          </a:solidFill>
          <a:ln w="12700">
            <a:solidFill>
              <a:srgbClr val="E1EAF7"/>
            </a:solidFill>
            <a:prstDash val="solid"/>
          </a:ln>
        </p:spPr>
      </p:sp>
      <p:sp>
        <p:nvSpPr>
          <p:cNvPr id="6" name="Text 3"/>
          <p:cNvSpPr txBox="1"/>
          <p:nvPr/>
        </p:nvSpPr>
        <p:spPr>
          <a:xfrm>
            <a:off x="457200" y="4526280"/>
            <a:ext cx="2651760" cy="457200"/>
          </a:xfrm>
          <a:prstGeom prst="rect">
            <a:avLst/>
          </a:prstGeom>
          <a:noFill/>
          <a:ln/>
        </p:spPr>
        <p:txBody>
          <a:bodyPr wrap="square" lIns="0" tIns="0" rIns="0" bIns="0" rtlCol="0" anchor="ctr"/>
          <a:lstStyle/>
          <a:p>
            <a:pPr algn="ctr" indent="0" marL="0">
              <a:buNone/>
            </a:pPr>
            <a:r>
              <a:rPr lang="en-US" sz="1150" b="1" dirty="0">
                <a:solidFill>
                  <a:srgbClr val="2F6DB5"/>
                </a:solidFill>
                <a:latin typeface="Arial" pitchFamily="34" charset="0"/>
                <a:ea typeface="Arial" pitchFamily="34" charset="-122"/>
                <a:cs typeface="Arial" pitchFamily="34" charset="-120"/>
              </a:rPr>
              <a:t>What to see  </a:t>
            </a:r>
            <a:pPr algn="ctr" indent="0" marL="0">
              <a:buNone/>
            </a:pPr>
            <a:r>
              <a:rPr lang="en-US" sz="1150" dirty="0">
                <a:solidFill>
                  <a:srgbClr val="1F2933"/>
                </a:solidFill>
                <a:latin typeface="Arial" pitchFamily="34" charset="0"/>
                <a:ea typeface="Arial" pitchFamily="34" charset="-122"/>
                <a:cs typeface="Arial" pitchFamily="34" charset="-120"/>
              </a:rPr>
              <a:t>Foveation</a:t>
            </a:r>
            <a:endParaRPr lang="en-US" sz="1150" dirty="0"/>
          </a:p>
        </p:txBody>
      </p:sp>
      <p:sp>
        <p:nvSpPr>
          <p:cNvPr id="7" name="Shape 4"/>
          <p:cNvSpPr/>
          <p:nvPr/>
        </p:nvSpPr>
        <p:spPr>
          <a:xfrm>
            <a:off x="3246120" y="4526280"/>
            <a:ext cx="2651760" cy="457200"/>
          </a:xfrm>
          <a:prstGeom prst="roundRect">
            <a:avLst>
              <a:gd name="adj" fmla="val 16000"/>
            </a:avLst>
          </a:prstGeom>
          <a:solidFill>
            <a:srgbClr val="F9E6D8"/>
          </a:solidFill>
          <a:ln w="12700">
            <a:solidFill>
              <a:srgbClr val="F9E6D8"/>
            </a:solidFill>
            <a:prstDash val="solid"/>
          </a:ln>
        </p:spPr>
      </p:sp>
      <p:sp>
        <p:nvSpPr>
          <p:cNvPr id="8" name="Text 5"/>
          <p:cNvSpPr txBox="1"/>
          <p:nvPr/>
        </p:nvSpPr>
        <p:spPr>
          <a:xfrm>
            <a:off x="3246120" y="4526280"/>
            <a:ext cx="2651760" cy="457200"/>
          </a:xfrm>
          <a:prstGeom prst="rect">
            <a:avLst/>
          </a:prstGeom>
          <a:noFill/>
          <a:ln/>
        </p:spPr>
        <p:txBody>
          <a:bodyPr wrap="square" lIns="0" tIns="0" rIns="0" bIns="0" rtlCol="0" anchor="ctr"/>
          <a:lstStyle/>
          <a:p>
            <a:pPr algn="ctr" indent="0" marL="0">
              <a:buNone/>
            </a:pPr>
            <a:r>
              <a:rPr lang="en-US" sz="1150" b="1" dirty="0">
                <a:solidFill>
                  <a:srgbClr val="C8641E"/>
                </a:solidFill>
                <a:latin typeface="Arial" pitchFamily="34" charset="0"/>
                <a:ea typeface="Arial" pitchFamily="34" charset="-122"/>
                <a:cs typeface="Arial" pitchFamily="34" charset="-120"/>
              </a:rPr>
              <a:t>When to act  </a:t>
            </a:r>
            <a:pPr algn="ctr" indent="0" marL="0">
              <a:buNone/>
            </a:pPr>
            <a:r>
              <a:rPr lang="en-US" sz="1150" dirty="0">
                <a:solidFill>
                  <a:srgbClr val="1F2933"/>
                </a:solidFill>
                <a:latin typeface="Arial" pitchFamily="34" charset="0"/>
                <a:ea typeface="Arial" pitchFamily="34" charset="-122"/>
                <a:cs typeface="Arial" pitchFamily="34" charset="-120"/>
              </a:rPr>
              <a:t>Action repeat · Guarded reuse</a:t>
            </a:r>
            <a:endParaRPr lang="en-US" sz="1150" dirty="0"/>
          </a:p>
        </p:txBody>
      </p:sp>
      <p:sp>
        <p:nvSpPr>
          <p:cNvPr id="9" name="Shape 6"/>
          <p:cNvSpPr/>
          <p:nvPr/>
        </p:nvSpPr>
        <p:spPr>
          <a:xfrm>
            <a:off x="6035040" y="4526280"/>
            <a:ext cx="2651760" cy="457200"/>
          </a:xfrm>
          <a:prstGeom prst="roundRect">
            <a:avLst>
              <a:gd name="adj" fmla="val 16000"/>
            </a:avLst>
          </a:prstGeom>
          <a:solidFill>
            <a:srgbClr val="DDEFEC"/>
          </a:solidFill>
          <a:ln w="12700">
            <a:solidFill>
              <a:srgbClr val="DDEFEC"/>
            </a:solidFill>
            <a:prstDash val="solid"/>
          </a:ln>
        </p:spPr>
      </p:sp>
      <p:sp>
        <p:nvSpPr>
          <p:cNvPr id="10" name="Text 7"/>
          <p:cNvSpPr txBox="1"/>
          <p:nvPr/>
        </p:nvSpPr>
        <p:spPr>
          <a:xfrm>
            <a:off x="6035040" y="4526280"/>
            <a:ext cx="2651760" cy="457200"/>
          </a:xfrm>
          <a:prstGeom prst="rect">
            <a:avLst/>
          </a:prstGeom>
          <a:noFill/>
          <a:ln/>
        </p:spPr>
        <p:txBody>
          <a:bodyPr wrap="square" lIns="0" tIns="0" rIns="0" bIns="0" rtlCol="0" anchor="ctr"/>
          <a:lstStyle/>
          <a:p>
            <a:pPr algn="ctr" indent="0" marL="0">
              <a:buNone/>
            </a:pPr>
            <a:r>
              <a:rPr lang="en-US" sz="1150" b="1" dirty="0">
                <a:solidFill>
                  <a:srgbClr val="1B7F79"/>
                </a:solidFill>
                <a:latin typeface="Arial" pitchFamily="34" charset="0"/>
                <a:ea typeface="Arial" pitchFamily="34" charset="-122"/>
                <a:cs typeface="Arial" pitchFamily="34" charset="-120"/>
              </a:rPr>
              <a:t>How much to compute  </a:t>
            </a:r>
            <a:pPr algn="ctr" indent="0" marL="0">
              <a:buNone/>
            </a:pPr>
            <a:r>
              <a:rPr lang="en-US" sz="1150" dirty="0">
                <a:solidFill>
                  <a:srgbClr val="1F2933"/>
                </a:solidFill>
                <a:latin typeface="Arial" pitchFamily="34" charset="0"/>
                <a:ea typeface="Arial" pitchFamily="34" charset="-122"/>
                <a:cs typeface="Arial" pitchFamily="34" charset="-120"/>
              </a:rPr>
              <a:t>Depth pruning · Temporal fusion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5  ·  8s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What to see: visual foveation</a:t>
            </a:r>
            <a:endParaRPr lang="en-US" sz="2600" dirty="0"/>
          </a:p>
        </p:txBody>
      </p:sp>
      <p:pic>
        <p:nvPicPr>
          <p:cNvPr id="4" name="Image 0" descr="/tmp/claude-0/-home-user-BiVLA/4327cefa-ba5d-5e2e-9d87-c73dd3a8ccbb/scratchpad/video_ppt/assets/ov_fov.png">    </p:cNvPr>
          <p:cNvPicPr>
            <a:picLocks noChangeAspect="1"/>
          </p:cNvPicPr>
          <p:nvPr/>
        </p:nvPicPr>
        <p:blipFill>
          <a:blip r:embed="rId1"/>
          <a:stretch>
            <a:fillRect/>
          </a:stretch>
        </p:blipFill>
        <p:spPr>
          <a:xfrm>
            <a:off x="457200" y="1005840"/>
            <a:ext cx="3931920" cy="1325880"/>
          </a:xfrm>
          <a:prstGeom prst="rect">
            <a:avLst/>
          </a:prstGeom>
        </p:spPr>
      </p:pic>
      <p:sp>
        <p:nvSpPr>
          <p:cNvPr id="5" name="Text 2"/>
          <p:cNvSpPr txBox="1"/>
          <p:nvPr/>
        </p:nvSpPr>
        <p:spPr>
          <a:xfrm>
            <a:off x="457200" y="2606040"/>
            <a:ext cx="3931920"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3"/>
                </a:solidFill>
                <a:latin typeface="Arial" pitchFamily="34" charset="0"/>
                <a:ea typeface="Arial" pitchFamily="34" charset="-122"/>
                <a:cs typeface="Arial" pitchFamily="34" charset="-120"/>
              </a:rPr>
              <a:t>Sharp central disc, progressively blurred periphery</a:t>
            </a:r>
            <a:endParaRPr lang="en-US" sz="1400" dirty="0"/>
          </a:p>
          <a:p>
            <a:pPr marL="177800" indent="-177800">
              <a:spcAft>
                <a:spcPts val="600"/>
              </a:spcAft>
              <a:buSzPct val="100000"/>
              <a:buChar char="•"/>
            </a:pPr>
            <a:r>
              <a:rPr lang="en-US" sz="1400" dirty="0">
                <a:solidFill>
                  <a:srgbClr val="1F2933"/>
                </a:solidFill>
                <a:latin typeface="Arial" pitchFamily="34" charset="0"/>
                <a:ea typeface="Arial" pitchFamily="34" charset="-122"/>
                <a:cs typeface="Arial" pitchFamily="34" charset="-120"/>
              </a:rPr>
              <a:t>Keep ratio 20% or 50% of the image</a:t>
            </a:r>
            <a:endParaRPr lang="en-US" sz="1400" dirty="0"/>
          </a:p>
          <a:p>
            <a:pPr marL="177800" indent="-177800">
              <a:spcAft>
                <a:spcPts val="600"/>
              </a:spcAft>
              <a:buSzPct val="100000"/>
              <a:buChar char="•"/>
            </a:pPr>
            <a:r>
              <a:rPr lang="en-US" sz="1400" dirty="0">
                <a:solidFill>
                  <a:srgbClr val="1F2933"/>
                </a:solidFill>
                <a:latin typeface="Arial" pitchFamily="34" charset="0"/>
                <a:ea typeface="Arial" pitchFamily="34" charset="-122"/>
                <a:cs typeface="Arial" pitchFamily="34" charset="-120"/>
              </a:rPr>
              <a:t>Token count unchanged, so this changes information, not FLOPs</a:t>
            </a:r>
            <a:endParaRPr lang="en-US" sz="1400" dirty="0"/>
          </a:p>
        </p:txBody>
      </p:sp>
      <p:pic>
        <p:nvPicPr>
          <p:cNvPr id="6" name="Image 1" descr="/tmp/claude-0/-home-user-BiVLA/4327cefa-ba5d-5e2e-9d87-c73dd3a8ccbb/scratchpad/video_ppt/assets/frame_raw.png">    </p:cNvPr>
          <p:cNvPicPr>
            <a:picLocks noChangeAspect="1"/>
          </p:cNvPicPr>
          <p:nvPr/>
        </p:nvPicPr>
        <p:blipFill>
          <a:blip r:embed="rId2"/>
          <a:stretch>
            <a:fillRect/>
          </a:stretch>
        </p:blipFill>
        <p:spPr>
          <a:xfrm>
            <a:off x="4846320" y="1371600"/>
            <a:ext cx="1188720" cy="841248"/>
          </a:xfrm>
          <a:prstGeom prst="rect">
            <a:avLst/>
          </a:prstGeom>
        </p:spPr>
      </p:pic>
      <p:sp>
        <p:nvSpPr>
          <p:cNvPr id="7" name="Text 3"/>
          <p:cNvSpPr txBox="1"/>
          <p:nvPr/>
        </p:nvSpPr>
        <p:spPr>
          <a:xfrm>
            <a:off x="4846320" y="2258568"/>
            <a:ext cx="1188720" cy="274320"/>
          </a:xfrm>
          <a:prstGeom prst="rect">
            <a:avLst/>
          </a:prstGeom>
          <a:noFill/>
          <a:ln/>
        </p:spPr>
        <p:txBody>
          <a:bodyPr wrap="square" lIns="0" tIns="0" rIns="0" bIns="0" rtlCol="0" anchor="t"/>
          <a:lstStyle/>
          <a:p>
            <a:pPr algn="ctr" indent="0" marL="0">
              <a:buNone/>
            </a:pPr>
            <a:r>
              <a:rPr lang="en-US" sz="1100" dirty="0">
                <a:solidFill>
                  <a:srgbClr val="5F6B7A"/>
                </a:solidFill>
                <a:latin typeface="Arial" pitchFamily="34" charset="0"/>
                <a:ea typeface="Arial" pitchFamily="34" charset="-122"/>
                <a:cs typeface="Arial" pitchFamily="34" charset="-120"/>
              </a:rPr>
              <a:t>Original frame</a:t>
            </a:r>
            <a:endParaRPr lang="en-US" sz="1100" dirty="0"/>
          </a:p>
        </p:txBody>
      </p:sp>
      <p:pic>
        <p:nvPicPr>
          <p:cNvPr id="8" name="Image 2" descr="/tmp/claude-0/-home-user-BiVLA/4327cefa-ba5d-5e2e-9d87-c73dd3a8ccbb/scratchpad/video_ppt/assets/frame_fov20.png">    </p:cNvPr>
          <p:cNvPicPr>
            <a:picLocks noChangeAspect="1"/>
          </p:cNvPicPr>
          <p:nvPr/>
        </p:nvPicPr>
        <p:blipFill>
          <a:blip r:embed="rId3"/>
          <a:stretch>
            <a:fillRect/>
          </a:stretch>
        </p:blipFill>
        <p:spPr>
          <a:xfrm>
            <a:off x="6172200" y="1371600"/>
            <a:ext cx="1188720" cy="841248"/>
          </a:xfrm>
          <a:prstGeom prst="rect">
            <a:avLst/>
          </a:prstGeom>
        </p:spPr>
      </p:pic>
      <p:sp>
        <p:nvSpPr>
          <p:cNvPr id="9" name="Text 4"/>
          <p:cNvSpPr txBox="1"/>
          <p:nvPr/>
        </p:nvSpPr>
        <p:spPr>
          <a:xfrm>
            <a:off x="6172200" y="2258568"/>
            <a:ext cx="1188720" cy="274320"/>
          </a:xfrm>
          <a:prstGeom prst="rect">
            <a:avLst/>
          </a:prstGeom>
          <a:noFill/>
          <a:ln/>
        </p:spPr>
        <p:txBody>
          <a:bodyPr wrap="square" lIns="0" tIns="0" rIns="0" bIns="0" rtlCol="0" anchor="t"/>
          <a:lstStyle/>
          <a:p>
            <a:pPr algn="ctr" indent="0" marL="0">
              <a:buNone/>
            </a:pPr>
            <a:r>
              <a:rPr lang="en-US" sz="1100" dirty="0">
                <a:solidFill>
                  <a:srgbClr val="5F6B7A"/>
                </a:solidFill>
                <a:latin typeface="Arial" pitchFamily="34" charset="0"/>
                <a:ea typeface="Arial" pitchFamily="34" charset="-122"/>
                <a:cs typeface="Arial" pitchFamily="34" charset="-120"/>
              </a:rPr>
              <a:t>Keep 20%</a:t>
            </a:r>
            <a:endParaRPr lang="en-US" sz="1100" dirty="0"/>
          </a:p>
        </p:txBody>
      </p:sp>
      <p:pic>
        <p:nvPicPr>
          <p:cNvPr id="10" name="Image 3" descr="/tmp/claude-0/-home-user-BiVLA/4327cefa-ba5d-5e2e-9d87-c73dd3a8ccbb/scratchpad/video_ppt/assets/frame_fov50.png">    </p:cNvPr>
          <p:cNvPicPr>
            <a:picLocks noChangeAspect="1"/>
          </p:cNvPicPr>
          <p:nvPr/>
        </p:nvPicPr>
        <p:blipFill>
          <a:blip r:embed="rId4"/>
          <a:stretch>
            <a:fillRect/>
          </a:stretch>
        </p:blipFill>
        <p:spPr>
          <a:xfrm>
            <a:off x="7498080" y="1371600"/>
            <a:ext cx="1188720" cy="841248"/>
          </a:xfrm>
          <a:prstGeom prst="rect">
            <a:avLst/>
          </a:prstGeom>
        </p:spPr>
      </p:pic>
      <p:sp>
        <p:nvSpPr>
          <p:cNvPr id="11" name="Text 5"/>
          <p:cNvSpPr txBox="1"/>
          <p:nvPr/>
        </p:nvSpPr>
        <p:spPr>
          <a:xfrm>
            <a:off x="7498080" y="2258568"/>
            <a:ext cx="1188720" cy="274320"/>
          </a:xfrm>
          <a:prstGeom prst="rect">
            <a:avLst/>
          </a:prstGeom>
          <a:noFill/>
          <a:ln/>
        </p:spPr>
        <p:txBody>
          <a:bodyPr wrap="square" lIns="0" tIns="0" rIns="0" bIns="0" rtlCol="0" anchor="t"/>
          <a:lstStyle/>
          <a:p>
            <a:pPr algn="ctr" indent="0" marL="0">
              <a:buNone/>
            </a:pPr>
            <a:r>
              <a:rPr lang="en-US" sz="1100" dirty="0">
                <a:solidFill>
                  <a:srgbClr val="5F6B7A"/>
                </a:solidFill>
                <a:latin typeface="Arial" pitchFamily="34" charset="0"/>
                <a:ea typeface="Arial" pitchFamily="34" charset="-122"/>
                <a:cs typeface="Arial" pitchFamily="34" charset="-120"/>
              </a:rPr>
              <a:t>Keep 50%</a:t>
            </a:r>
            <a:endParaRPr lang="en-US" sz="1100" dirty="0"/>
          </a:p>
        </p:txBody>
      </p:sp>
      <p:sp>
        <p:nvSpPr>
          <p:cNvPr id="12" name="Shape 6"/>
          <p:cNvSpPr/>
          <p:nvPr/>
        </p:nvSpPr>
        <p:spPr>
          <a:xfrm>
            <a:off x="4846320" y="2834640"/>
            <a:ext cx="3840480" cy="1463040"/>
          </a:xfrm>
          <a:prstGeom prst="roundRect">
            <a:avLst>
              <a:gd name="adj" fmla="val 7500"/>
            </a:avLst>
          </a:prstGeom>
          <a:solidFill>
            <a:srgbClr val="E1EAF7"/>
          </a:solidFill>
          <a:ln w="9525">
            <a:solidFill>
              <a:srgbClr val="E1EAF7"/>
            </a:solidFill>
            <a:prstDash val="solid"/>
          </a:ln>
        </p:spPr>
      </p:sp>
      <p:sp>
        <p:nvSpPr>
          <p:cNvPr id="13" name="Text 7"/>
          <p:cNvSpPr txBox="1"/>
          <p:nvPr/>
        </p:nvSpPr>
        <p:spPr>
          <a:xfrm>
            <a:off x="4983480" y="2926080"/>
            <a:ext cx="3566160" cy="1280160"/>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Tests whether a policy needs high-frequency detail only near the objects and the gripper.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6  ·  10s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1F2933"/>
                </a:solidFill>
                <a:latin typeface="Arial" pitchFamily="34" charset="0"/>
                <a:ea typeface="Arial" pitchFamily="34" charset="-122"/>
                <a:cs typeface="Arial" pitchFamily="34" charset="-120"/>
              </a:rPr>
              <a:t>When to act: action repeat vs guarded reuse</a:t>
            </a:r>
            <a:endParaRPr lang="en-US" sz="2400" dirty="0"/>
          </a:p>
        </p:txBody>
      </p:sp>
      <p:sp>
        <p:nvSpPr>
          <p:cNvPr id="4" name="Text 2"/>
          <p:cNvSpPr txBox="1"/>
          <p:nvPr/>
        </p:nvSpPr>
        <p:spPr>
          <a:xfrm>
            <a:off x="457200" y="1097280"/>
            <a:ext cx="2377440" cy="27432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Original</a:t>
            </a:r>
            <a:endParaRPr lang="en-US" sz="1400" dirty="0"/>
          </a:p>
        </p:txBody>
      </p:sp>
      <p:sp>
        <p:nvSpPr>
          <p:cNvPr id="5" name="Text 3"/>
          <p:cNvSpPr txBox="1"/>
          <p:nvPr/>
        </p:nvSpPr>
        <p:spPr>
          <a:xfrm>
            <a:off x="457200" y="1371600"/>
            <a:ext cx="2377440" cy="274320"/>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policy call every step</a:t>
            </a:r>
            <a:endParaRPr lang="en-US" sz="1100" dirty="0"/>
          </a:p>
        </p:txBody>
      </p:sp>
      <p:sp>
        <p:nvSpPr>
          <p:cNvPr id="6" name="Shape 4"/>
          <p:cNvSpPr/>
          <p:nvPr/>
        </p:nvSpPr>
        <p:spPr>
          <a:xfrm>
            <a:off x="3017520" y="1207008"/>
            <a:ext cx="274320" cy="274320"/>
          </a:xfrm>
          <a:prstGeom prst="ellipse">
            <a:avLst/>
          </a:prstGeom>
          <a:solidFill>
            <a:srgbClr val="1F2933"/>
          </a:solidFill>
          <a:ln w="15875">
            <a:solidFill>
              <a:srgbClr val="1F2933"/>
            </a:solidFill>
            <a:prstDash val="solid"/>
          </a:ln>
        </p:spPr>
      </p:sp>
      <p:sp>
        <p:nvSpPr>
          <p:cNvPr id="7" name="Shape 5"/>
          <p:cNvSpPr/>
          <p:nvPr/>
        </p:nvSpPr>
        <p:spPr>
          <a:xfrm>
            <a:off x="3474720" y="1207008"/>
            <a:ext cx="274320" cy="274320"/>
          </a:xfrm>
          <a:prstGeom prst="ellipse">
            <a:avLst/>
          </a:prstGeom>
          <a:solidFill>
            <a:srgbClr val="1F2933"/>
          </a:solidFill>
          <a:ln w="15875">
            <a:solidFill>
              <a:srgbClr val="1F2933"/>
            </a:solidFill>
            <a:prstDash val="solid"/>
          </a:ln>
        </p:spPr>
      </p:sp>
      <p:sp>
        <p:nvSpPr>
          <p:cNvPr id="8" name="Shape 6"/>
          <p:cNvSpPr/>
          <p:nvPr/>
        </p:nvSpPr>
        <p:spPr>
          <a:xfrm>
            <a:off x="3931920" y="1207008"/>
            <a:ext cx="274320" cy="274320"/>
          </a:xfrm>
          <a:prstGeom prst="ellipse">
            <a:avLst/>
          </a:prstGeom>
          <a:solidFill>
            <a:srgbClr val="1F2933"/>
          </a:solidFill>
          <a:ln w="15875">
            <a:solidFill>
              <a:srgbClr val="1F2933"/>
            </a:solidFill>
            <a:prstDash val="solid"/>
          </a:ln>
        </p:spPr>
      </p:sp>
      <p:sp>
        <p:nvSpPr>
          <p:cNvPr id="9" name="Shape 7"/>
          <p:cNvSpPr/>
          <p:nvPr/>
        </p:nvSpPr>
        <p:spPr>
          <a:xfrm>
            <a:off x="4389120" y="1207008"/>
            <a:ext cx="274320" cy="274320"/>
          </a:xfrm>
          <a:prstGeom prst="ellipse">
            <a:avLst/>
          </a:prstGeom>
          <a:solidFill>
            <a:srgbClr val="1F2933"/>
          </a:solidFill>
          <a:ln w="15875">
            <a:solidFill>
              <a:srgbClr val="1F2933"/>
            </a:solidFill>
            <a:prstDash val="solid"/>
          </a:ln>
        </p:spPr>
      </p:sp>
      <p:sp>
        <p:nvSpPr>
          <p:cNvPr id="10" name="Shape 8"/>
          <p:cNvSpPr/>
          <p:nvPr/>
        </p:nvSpPr>
        <p:spPr>
          <a:xfrm>
            <a:off x="4846320" y="1207008"/>
            <a:ext cx="274320" cy="274320"/>
          </a:xfrm>
          <a:prstGeom prst="ellipse">
            <a:avLst/>
          </a:prstGeom>
          <a:solidFill>
            <a:srgbClr val="1F2933"/>
          </a:solidFill>
          <a:ln w="15875">
            <a:solidFill>
              <a:srgbClr val="1F2933"/>
            </a:solidFill>
            <a:prstDash val="solid"/>
          </a:ln>
        </p:spPr>
      </p:sp>
      <p:sp>
        <p:nvSpPr>
          <p:cNvPr id="11" name="Shape 9"/>
          <p:cNvSpPr/>
          <p:nvPr/>
        </p:nvSpPr>
        <p:spPr>
          <a:xfrm>
            <a:off x="5303520" y="1207008"/>
            <a:ext cx="274320" cy="274320"/>
          </a:xfrm>
          <a:prstGeom prst="ellipse">
            <a:avLst/>
          </a:prstGeom>
          <a:solidFill>
            <a:srgbClr val="1F2933"/>
          </a:solidFill>
          <a:ln w="15875">
            <a:solidFill>
              <a:srgbClr val="1F2933"/>
            </a:solidFill>
            <a:prstDash val="solid"/>
          </a:ln>
        </p:spPr>
      </p:sp>
      <p:sp>
        <p:nvSpPr>
          <p:cNvPr id="12" name="Shape 10"/>
          <p:cNvSpPr/>
          <p:nvPr/>
        </p:nvSpPr>
        <p:spPr>
          <a:xfrm>
            <a:off x="5760720" y="1207008"/>
            <a:ext cx="274320" cy="274320"/>
          </a:xfrm>
          <a:prstGeom prst="ellipse">
            <a:avLst/>
          </a:prstGeom>
          <a:solidFill>
            <a:srgbClr val="1F2933"/>
          </a:solidFill>
          <a:ln w="15875">
            <a:solidFill>
              <a:srgbClr val="1F2933"/>
            </a:solidFill>
            <a:prstDash val="solid"/>
          </a:ln>
        </p:spPr>
      </p:sp>
      <p:sp>
        <p:nvSpPr>
          <p:cNvPr id="13" name="Shape 11"/>
          <p:cNvSpPr/>
          <p:nvPr/>
        </p:nvSpPr>
        <p:spPr>
          <a:xfrm>
            <a:off x="6217920" y="1207008"/>
            <a:ext cx="274320" cy="274320"/>
          </a:xfrm>
          <a:prstGeom prst="ellipse">
            <a:avLst/>
          </a:prstGeom>
          <a:solidFill>
            <a:srgbClr val="1F2933"/>
          </a:solidFill>
          <a:ln w="15875">
            <a:solidFill>
              <a:srgbClr val="1F2933"/>
            </a:solidFill>
            <a:prstDash val="solid"/>
          </a:ln>
        </p:spPr>
      </p:sp>
      <p:sp>
        <p:nvSpPr>
          <p:cNvPr id="14" name="Shape 12"/>
          <p:cNvSpPr/>
          <p:nvPr/>
        </p:nvSpPr>
        <p:spPr>
          <a:xfrm>
            <a:off x="6675120" y="1207008"/>
            <a:ext cx="274320" cy="274320"/>
          </a:xfrm>
          <a:prstGeom prst="ellipse">
            <a:avLst/>
          </a:prstGeom>
          <a:solidFill>
            <a:srgbClr val="1F2933"/>
          </a:solidFill>
          <a:ln w="15875">
            <a:solidFill>
              <a:srgbClr val="1F2933"/>
            </a:solidFill>
            <a:prstDash val="solid"/>
          </a:ln>
        </p:spPr>
      </p:sp>
      <p:sp>
        <p:nvSpPr>
          <p:cNvPr id="15" name="Shape 13"/>
          <p:cNvSpPr/>
          <p:nvPr/>
        </p:nvSpPr>
        <p:spPr>
          <a:xfrm>
            <a:off x="7132320" y="1207008"/>
            <a:ext cx="274320" cy="274320"/>
          </a:xfrm>
          <a:prstGeom prst="ellipse">
            <a:avLst/>
          </a:prstGeom>
          <a:solidFill>
            <a:srgbClr val="1F2933"/>
          </a:solidFill>
          <a:ln w="15875">
            <a:solidFill>
              <a:srgbClr val="1F2933"/>
            </a:solidFill>
            <a:prstDash val="solid"/>
          </a:ln>
        </p:spPr>
      </p:sp>
      <p:sp>
        <p:nvSpPr>
          <p:cNvPr id="16" name="Shape 14"/>
          <p:cNvSpPr/>
          <p:nvPr/>
        </p:nvSpPr>
        <p:spPr>
          <a:xfrm>
            <a:off x="7589520" y="1207008"/>
            <a:ext cx="274320" cy="274320"/>
          </a:xfrm>
          <a:prstGeom prst="ellipse">
            <a:avLst/>
          </a:prstGeom>
          <a:solidFill>
            <a:srgbClr val="1F2933"/>
          </a:solidFill>
          <a:ln w="15875">
            <a:solidFill>
              <a:srgbClr val="1F2933"/>
            </a:solidFill>
            <a:prstDash val="solid"/>
          </a:ln>
        </p:spPr>
      </p:sp>
      <p:sp>
        <p:nvSpPr>
          <p:cNvPr id="17" name="Shape 15"/>
          <p:cNvSpPr/>
          <p:nvPr/>
        </p:nvSpPr>
        <p:spPr>
          <a:xfrm>
            <a:off x="8046720" y="1207008"/>
            <a:ext cx="274320" cy="274320"/>
          </a:xfrm>
          <a:prstGeom prst="ellipse">
            <a:avLst/>
          </a:prstGeom>
          <a:solidFill>
            <a:srgbClr val="1F2933"/>
          </a:solidFill>
          <a:ln w="15875">
            <a:solidFill>
              <a:srgbClr val="1F2933"/>
            </a:solidFill>
            <a:prstDash val="solid"/>
          </a:ln>
        </p:spPr>
      </p:sp>
      <p:sp>
        <p:nvSpPr>
          <p:cNvPr id="18" name="Text 16"/>
          <p:cNvSpPr txBox="1"/>
          <p:nvPr/>
        </p:nvSpPr>
        <p:spPr>
          <a:xfrm>
            <a:off x="457200" y="1965960"/>
            <a:ext cx="2377440" cy="27432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Action repeat k = 4</a:t>
            </a:r>
            <a:endParaRPr lang="en-US" sz="1400" dirty="0"/>
          </a:p>
        </p:txBody>
      </p:sp>
      <p:sp>
        <p:nvSpPr>
          <p:cNvPr id="19" name="Text 17"/>
          <p:cNvSpPr txBox="1"/>
          <p:nvPr/>
        </p:nvSpPr>
        <p:spPr>
          <a:xfrm>
            <a:off x="457200" y="2240280"/>
            <a:ext cx="2377440" cy="274320"/>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one call, then three held actions</a:t>
            </a:r>
            <a:endParaRPr lang="en-US" sz="1100" dirty="0"/>
          </a:p>
        </p:txBody>
      </p:sp>
      <p:sp>
        <p:nvSpPr>
          <p:cNvPr id="20" name="Shape 18"/>
          <p:cNvSpPr/>
          <p:nvPr/>
        </p:nvSpPr>
        <p:spPr>
          <a:xfrm>
            <a:off x="3017520" y="2075688"/>
            <a:ext cx="274320" cy="274320"/>
          </a:xfrm>
          <a:prstGeom prst="ellipse">
            <a:avLst/>
          </a:prstGeom>
          <a:solidFill>
            <a:srgbClr val="C8641E"/>
          </a:solidFill>
          <a:ln w="15875">
            <a:solidFill>
              <a:srgbClr val="C8641E"/>
            </a:solidFill>
            <a:prstDash val="solid"/>
          </a:ln>
        </p:spPr>
      </p:sp>
      <p:sp>
        <p:nvSpPr>
          <p:cNvPr id="21" name="Shape 19"/>
          <p:cNvSpPr/>
          <p:nvPr/>
        </p:nvSpPr>
        <p:spPr>
          <a:xfrm>
            <a:off x="3474720" y="2075688"/>
            <a:ext cx="274320" cy="274320"/>
          </a:xfrm>
          <a:prstGeom prst="ellipse">
            <a:avLst/>
          </a:prstGeom>
          <a:solidFill>
            <a:srgbClr val="FFFFFF"/>
          </a:solidFill>
          <a:ln w="15875">
            <a:solidFill>
              <a:srgbClr val="9AA3AE"/>
            </a:solidFill>
            <a:prstDash val="solid"/>
          </a:ln>
        </p:spPr>
      </p:sp>
      <p:sp>
        <p:nvSpPr>
          <p:cNvPr id="22" name="Shape 20"/>
          <p:cNvSpPr/>
          <p:nvPr/>
        </p:nvSpPr>
        <p:spPr>
          <a:xfrm>
            <a:off x="3931920" y="2075688"/>
            <a:ext cx="274320" cy="274320"/>
          </a:xfrm>
          <a:prstGeom prst="ellipse">
            <a:avLst/>
          </a:prstGeom>
          <a:solidFill>
            <a:srgbClr val="FFFFFF"/>
          </a:solidFill>
          <a:ln w="15875">
            <a:solidFill>
              <a:srgbClr val="9AA3AE"/>
            </a:solidFill>
            <a:prstDash val="solid"/>
          </a:ln>
        </p:spPr>
      </p:sp>
      <p:sp>
        <p:nvSpPr>
          <p:cNvPr id="23" name="Shape 21"/>
          <p:cNvSpPr/>
          <p:nvPr/>
        </p:nvSpPr>
        <p:spPr>
          <a:xfrm>
            <a:off x="4389120" y="2075688"/>
            <a:ext cx="274320" cy="274320"/>
          </a:xfrm>
          <a:prstGeom prst="ellipse">
            <a:avLst/>
          </a:prstGeom>
          <a:solidFill>
            <a:srgbClr val="FFFFFF"/>
          </a:solidFill>
          <a:ln w="15875">
            <a:solidFill>
              <a:srgbClr val="9AA3AE"/>
            </a:solidFill>
            <a:prstDash val="solid"/>
          </a:ln>
        </p:spPr>
      </p:sp>
      <p:sp>
        <p:nvSpPr>
          <p:cNvPr id="24" name="Shape 22"/>
          <p:cNvSpPr/>
          <p:nvPr/>
        </p:nvSpPr>
        <p:spPr>
          <a:xfrm>
            <a:off x="4846320" y="2075688"/>
            <a:ext cx="274320" cy="274320"/>
          </a:xfrm>
          <a:prstGeom prst="ellipse">
            <a:avLst/>
          </a:prstGeom>
          <a:solidFill>
            <a:srgbClr val="C8641E"/>
          </a:solidFill>
          <a:ln w="15875">
            <a:solidFill>
              <a:srgbClr val="C8641E"/>
            </a:solidFill>
            <a:prstDash val="solid"/>
          </a:ln>
        </p:spPr>
      </p:sp>
      <p:sp>
        <p:nvSpPr>
          <p:cNvPr id="25" name="Shape 23"/>
          <p:cNvSpPr/>
          <p:nvPr/>
        </p:nvSpPr>
        <p:spPr>
          <a:xfrm>
            <a:off x="5303520" y="2075688"/>
            <a:ext cx="274320" cy="274320"/>
          </a:xfrm>
          <a:prstGeom prst="ellipse">
            <a:avLst/>
          </a:prstGeom>
          <a:solidFill>
            <a:srgbClr val="FFFFFF"/>
          </a:solidFill>
          <a:ln w="15875">
            <a:solidFill>
              <a:srgbClr val="9AA3AE"/>
            </a:solidFill>
            <a:prstDash val="solid"/>
          </a:ln>
        </p:spPr>
      </p:sp>
      <p:sp>
        <p:nvSpPr>
          <p:cNvPr id="26" name="Shape 24"/>
          <p:cNvSpPr/>
          <p:nvPr/>
        </p:nvSpPr>
        <p:spPr>
          <a:xfrm>
            <a:off x="5760720" y="2075688"/>
            <a:ext cx="274320" cy="274320"/>
          </a:xfrm>
          <a:prstGeom prst="ellipse">
            <a:avLst/>
          </a:prstGeom>
          <a:solidFill>
            <a:srgbClr val="FFFFFF"/>
          </a:solidFill>
          <a:ln w="15875">
            <a:solidFill>
              <a:srgbClr val="9AA3AE"/>
            </a:solidFill>
            <a:prstDash val="solid"/>
          </a:ln>
        </p:spPr>
      </p:sp>
      <p:sp>
        <p:nvSpPr>
          <p:cNvPr id="27" name="Shape 25"/>
          <p:cNvSpPr/>
          <p:nvPr/>
        </p:nvSpPr>
        <p:spPr>
          <a:xfrm>
            <a:off x="6217920" y="2075688"/>
            <a:ext cx="274320" cy="274320"/>
          </a:xfrm>
          <a:prstGeom prst="ellipse">
            <a:avLst/>
          </a:prstGeom>
          <a:solidFill>
            <a:srgbClr val="FFFFFF"/>
          </a:solidFill>
          <a:ln w="15875">
            <a:solidFill>
              <a:srgbClr val="9AA3AE"/>
            </a:solidFill>
            <a:prstDash val="solid"/>
          </a:ln>
        </p:spPr>
      </p:sp>
      <p:sp>
        <p:nvSpPr>
          <p:cNvPr id="28" name="Shape 26"/>
          <p:cNvSpPr/>
          <p:nvPr/>
        </p:nvSpPr>
        <p:spPr>
          <a:xfrm>
            <a:off x="6675120" y="2075688"/>
            <a:ext cx="274320" cy="274320"/>
          </a:xfrm>
          <a:prstGeom prst="ellipse">
            <a:avLst/>
          </a:prstGeom>
          <a:solidFill>
            <a:srgbClr val="C8641E"/>
          </a:solidFill>
          <a:ln w="15875">
            <a:solidFill>
              <a:srgbClr val="C8641E"/>
            </a:solidFill>
            <a:prstDash val="solid"/>
          </a:ln>
        </p:spPr>
      </p:sp>
      <p:sp>
        <p:nvSpPr>
          <p:cNvPr id="29" name="Shape 27"/>
          <p:cNvSpPr/>
          <p:nvPr/>
        </p:nvSpPr>
        <p:spPr>
          <a:xfrm>
            <a:off x="7132320" y="2075688"/>
            <a:ext cx="274320" cy="274320"/>
          </a:xfrm>
          <a:prstGeom prst="ellipse">
            <a:avLst/>
          </a:prstGeom>
          <a:solidFill>
            <a:srgbClr val="FFFFFF"/>
          </a:solidFill>
          <a:ln w="15875">
            <a:solidFill>
              <a:srgbClr val="9AA3AE"/>
            </a:solidFill>
            <a:prstDash val="solid"/>
          </a:ln>
        </p:spPr>
      </p:sp>
      <p:sp>
        <p:nvSpPr>
          <p:cNvPr id="30" name="Shape 28"/>
          <p:cNvSpPr/>
          <p:nvPr/>
        </p:nvSpPr>
        <p:spPr>
          <a:xfrm>
            <a:off x="7589520" y="2075688"/>
            <a:ext cx="274320" cy="274320"/>
          </a:xfrm>
          <a:prstGeom prst="ellipse">
            <a:avLst/>
          </a:prstGeom>
          <a:solidFill>
            <a:srgbClr val="FFFFFF"/>
          </a:solidFill>
          <a:ln w="15875">
            <a:solidFill>
              <a:srgbClr val="9AA3AE"/>
            </a:solidFill>
            <a:prstDash val="solid"/>
          </a:ln>
        </p:spPr>
      </p:sp>
      <p:sp>
        <p:nvSpPr>
          <p:cNvPr id="31" name="Shape 29"/>
          <p:cNvSpPr/>
          <p:nvPr/>
        </p:nvSpPr>
        <p:spPr>
          <a:xfrm>
            <a:off x="8046720" y="2075688"/>
            <a:ext cx="274320" cy="274320"/>
          </a:xfrm>
          <a:prstGeom prst="ellipse">
            <a:avLst/>
          </a:prstGeom>
          <a:solidFill>
            <a:srgbClr val="FFFFFF"/>
          </a:solidFill>
          <a:ln w="15875">
            <a:solidFill>
              <a:srgbClr val="9AA3AE"/>
            </a:solidFill>
            <a:prstDash val="solid"/>
          </a:ln>
        </p:spPr>
      </p:sp>
      <p:sp>
        <p:nvSpPr>
          <p:cNvPr id="32" name="Text 30"/>
          <p:cNvSpPr txBox="1"/>
          <p:nvPr/>
        </p:nvSpPr>
        <p:spPr>
          <a:xfrm>
            <a:off x="457200" y="2834640"/>
            <a:ext cx="2377440" cy="27432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Guarded reuse</a:t>
            </a:r>
            <a:endParaRPr lang="en-US" sz="1400" dirty="0"/>
          </a:p>
        </p:txBody>
      </p:sp>
      <p:sp>
        <p:nvSpPr>
          <p:cNvPr id="33" name="Text 31"/>
          <p:cNvSpPr txBox="1"/>
          <p:nvPr/>
        </p:nvSpPr>
        <p:spPr>
          <a:xfrm>
            <a:off x="457200" y="3108960"/>
            <a:ext cx="2377440" cy="274320"/>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skip only while every gate passes</a:t>
            </a:r>
            <a:endParaRPr lang="en-US" sz="1100" dirty="0"/>
          </a:p>
        </p:txBody>
      </p:sp>
      <p:sp>
        <p:nvSpPr>
          <p:cNvPr id="34" name="Shape 32"/>
          <p:cNvSpPr/>
          <p:nvPr/>
        </p:nvSpPr>
        <p:spPr>
          <a:xfrm>
            <a:off x="3017520" y="2944368"/>
            <a:ext cx="274320" cy="274320"/>
          </a:xfrm>
          <a:prstGeom prst="ellipse">
            <a:avLst/>
          </a:prstGeom>
          <a:solidFill>
            <a:srgbClr val="C8641E"/>
          </a:solidFill>
          <a:ln w="15875">
            <a:solidFill>
              <a:srgbClr val="C8641E"/>
            </a:solidFill>
            <a:prstDash val="solid"/>
          </a:ln>
        </p:spPr>
      </p:sp>
      <p:sp>
        <p:nvSpPr>
          <p:cNvPr id="35" name="Shape 33"/>
          <p:cNvSpPr/>
          <p:nvPr/>
        </p:nvSpPr>
        <p:spPr>
          <a:xfrm>
            <a:off x="3474720" y="2944368"/>
            <a:ext cx="274320" cy="274320"/>
          </a:xfrm>
          <a:prstGeom prst="ellipse">
            <a:avLst/>
          </a:prstGeom>
          <a:solidFill>
            <a:srgbClr val="FFFFFF"/>
          </a:solidFill>
          <a:ln w="15875">
            <a:solidFill>
              <a:srgbClr val="9AA3AE"/>
            </a:solidFill>
            <a:prstDash val="solid"/>
          </a:ln>
        </p:spPr>
      </p:sp>
      <p:sp>
        <p:nvSpPr>
          <p:cNvPr id="36" name="Shape 34"/>
          <p:cNvSpPr/>
          <p:nvPr/>
        </p:nvSpPr>
        <p:spPr>
          <a:xfrm>
            <a:off x="3931920" y="2944368"/>
            <a:ext cx="274320" cy="274320"/>
          </a:xfrm>
          <a:prstGeom prst="ellipse">
            <a:avLst/>
          </a:prstGeom>
          <a:solidFill>
            <a:srgbClr val="FFFFFF"/>
          </a:solidFill>
          <a:ln w="15875">
            <a:solidFill>
              <a:srgbClr val="9AA3AE"/>
            </a:solidFill>
            <a:prstDash val="solid"/>
          </a:ln>
        </p:spPr>
      </p:sp>
      <p:sp>
        <p:nvSpPr>
          <p:cNvPr id="37" name="Shape 35"/>
          <p:cNvSpPr/>
          <p:nvPr/>
        </p:nvSpPr>
        <p:spPr>
          <a:xfrm>
            <a:off x="4389120" y="2944368"/>
            <a:ext cx="274320" cy="274320"/>
          </a:xfrm>
          <a:prstGeom prst="ellipse">
            <a:avLst/>
          </a:prstGeom>
          <a:solidFill>
            <a:srgbClr val="C8641E"/>
          </a:solidFill>
          <a:ln w="15875">
            <a:solidFill>
              <a:srgbClr val="C8641E"/>
            </a:solidFill>
            <a:prstDash val="solid"/>
          </a:ln>
        </p:spPr>
      </p:sp>
      <p:sp>
        <p:nvSpPr>
          <p:cNvPr id="38" name="Shape 36"/>
          <p:cNvSpPr/>
          <p:nvPr/>
        </p:nvSpPr>
        <p:spPr>
          <a:xfrm>
            <a:off x="4846320" y="2944368"/>
            <a:ext cx="274320" cy="274320"/>
          </a:xfrm>
          <a:prstGeom prst="ellipse">
            <a:avLst/>
          </a:prstGeom>
          <a:solidFill>
            <a:srgbClr val="C8641E"/>
          </a:solidFill>
          <a:ln w="15875">
            <a:solidFill>
              <a:srgbClr val="C8641E"/>
            </a:solidFill>
            <a:prstDash val="solid"/>
          </a:ln>
        </p:spPr>
      </p:sp>
      <p:sp>
        <p:nvSpPr>
          <p:cNvPr id="39" name="Shape 37"/>
          <p:cNvSpPr/>
          <p:nvPr/>
        </p:nvSpPr>
        <p:spPr>
          <a:xfrm>
            <a:off x="5303520" y="2944368"/>
            <a:ext cx="274320" cy="274320"/>
          </a:xfrm>
          <a:prstGeom prst="ellipse">
            <a:avLst/>
          </a:prstGeom>
          <a:solidFill>
            <a:srgbClr val="FFFFFF"/>
          </a:solidFill>
          <a:ln w="15875">
            <a:solidFill>
              <a:srgbClr val="9AA3AE"/>
            </a:solidFill>
            <a:prstDash val="solid"/>
          </a:ln>
        </p:spPr>
      </p:sp>
      <p:sp>
        <p:nvSpPr>
          <p:cNvPr id="40" name="Shape 38"/>
          <p:cNvSpPr/>
          <p:nvPr/>
        </p:nvSpPr>
        <p:spPr>
          <a:xfrm>
            <a:off x="5760720" y="2944368"/>
            <a:ext cx="274320" cy="274320"/>
          </a:xfrm>
          <a:prstGeom prst="ellipse">
            <a:avLst/>
          </a:prstGeom>
          <a:solidFill>
            <a:srgbClr val="C8641E"/>
          </a:solidFill>
          <a:ln w="15875">
            <a:solidFill>
              <a:srgbClr val="C8641E"/>
            </a:solidFill>
            <a:prstDash val="solid"/>
          </a:ln>
        </p:spPr>
      </p:sp>
      <p:sp>
        <p:nvSpPr>
          <p:cNvPr id="41" name="Shape 39"/>
          <p:cNvSpPr/>
          <p:nvPr/>
        </p:nvSpPr>
        <p:spPr>
          <a:xfrm>
            <a:off x="6217920" y="2944368"/>
            <a:ext cx="274320" cy="274320"/>
          </a:xfrm>
          <a:prstGeom prst="ellipse">
            <a:avLst/>
          </a:prstGeom>
          <a:solidFill>
            <a:srgbClr val="C8641E"/>
          </a:solidFill>
          <a:ln w="15875">
            <a:solidFill>
              <a:srgbClr val="C8641E"/>
            </a:solidFill>
            <a:prstDash val="solid"/>
          </a:ln>
        </p:spPr>
      </p:sp>
      <p:sp>
        <p:nvSpPr>
          <p:cNvPr id="42" name="Shape 40"/>
          <p:cNvSpPr/>
          <p:nvPr/>
        </p:nvSpPr>
        <p:spPr>
          <a:xfrm>
            <a:off x="6675120" y="2944368"/>
            <a:ext cx="274320" cy="274320"/>
          </a:xfrm>
          <a:prstGeom prst="ellipse">
            <a:avLst/>
          </a:prstGeom>
          <a:solidFill>
            <a:srgbClr val="C8641E"/>
          </a:solidFill>
          <a:ln w="15875">
            <a:solidFill>
              <a:srgbClr val="C8641E"/>
            </a:solidFill>
            <a:prstDash val="solid"/>
          </a:ln>
        </p:spPr>
      </p:sp>
      <p:sp>
        <p:nvSpPr>
          <p:cNvPr id="43" name="Shape 41"/>
          <p:cNvSpPr/>
          <p:nvPr/>
        </p:nvSpPr>
        <p:spPr>
          <a:xfrm>
            <a:off x="7132320" y="2944368"/>
            <a:ext cx="274320" cy="274320"/>
          </a:xfrm>
          <a:prstGeom prst="ellipse">
            <a:avLst/>
          </a:prstGeom>
          <a:solidFill>
            <a:srgbClr val="FFFFFF"/>
          </a:solidFill>
          <a:ln w="15875">
            <a:solidFill>
              <a:srgbClr val="9AA3AE"/>
            </a:solidFill>
            <a:prstDash val="solid"/>
          </a:ln>
        </p:spPr>
      </p:sp>
      <p:sp>
        <p:nvSpPr>
          <p:cNvPr id="44" name="Shape 42"/>
          <p:cNvSpPr/>
          <p:nvPr/>
        </p:nvSpPr>
        <p:spPr>
          <a:xfrm>
            <a:off x="7589520" y="2944368"/>
            <a:ext cx="274320" cy="274320"/>
          </a:xfrm>
          <a:prstGeom prst="ellipse">
            <a:avLst/>
          </a:prstGeom>
          <a:solidFill>
            <a:srgbClr val="FFFFFF"/>
          </a:solidFill>
          <a:ln w="15875">
            <a:solidFill>
              <a:srgbClr val="9AA3AE"/>
            </a:solidFill>
            <a:prstDash val="solid"/>
          </a:ln>
        </p:spPr>
      </p:sp>
      <p:sp>
        <p:nvSpPr>
          <p:cNvPr id="45" name="Shape 43"/>
          <p:cNvSpPr/>
          <p:nvPr/>
        </p:nvSpPr>
        <p:spPr>
          <a:xfrm>
            <a:off x="8046720" y="2944368"/>
            <a:ext cx="274320" cy="274320"/>
          </a:xfrm>
          <a:prstGeom prst="ellipse">
            <a:avLst/>
          </a:prstGeom>
          <a:solidFill>
            <a:srgbClr val="C8641E"/>
          </a:solidFill>
          <a:ln w="15875">
            <a:solidFill>
              <a:srgbClr val="C8641E"/>
            </a:solidFill>
            <a:prstDash val="solid"/>
          </a:ln>
        </p:spPr>
      </p:sp>
      <p:sp>
        <p:nvSpPr>
          <p:cNvPr id="46" name="Shape 44"/>
          <p:cNvSpPr/>
          <p:nvPr/>
        </p:nvSpPr>
        <p:spPr>
          <a:xfrm>
            <a:off x="3557016" y="3337560"/>
            <a:ext cx="109728" cy="109728"/>
          </a:xfrm>
          <a:prstGeom prst="ellipse">
            <a:avLst/>
          </a:prstGeom>
          <a:solidFill>
            <a:srgbClr val="2E8B57"/>
          </a:solidFill>
          <a:ln w="12700">
            <a:solidFill>
              <a:srgbClr val="2E8B57"/>
            </a:solidFill>
            <a:prstDash val="solid"/>
          </a:ln>
        </p:spPr>
      </p:sp>
      <p:sp>
        <p:nvSpPr>
          <p:cNvPr id="47" name="Shape 45"/>
          <p:cNvSpPr/>
          <p:nvPr/>
        </p:nvSpPr>
        <p:spPr>
          <a:xfrm>
            <a:off x="4014216" y="3337560"/>
            <a:ext cx="109728" cy="109728"/>
          </a:xfrm>
          <a:prstGeom prst="ellipse">
            <a:avLst/>
          </a:prstGeom>
          <a:solidFill>
            <a:srgbClr val="2E8B57"/>
          </a:solidFill>
          <a:ln w="12700">
            <a:solidFill>
              <a:srgbClr val="2E8B57"/>
            </a:solidFill>
            <a:prstDash val="solid"/>
          </a:ln>
        </p:spPr>
      </p:sp>
      <p:sp>
        <p:nvSpPr>
          <p:cNvPr id="48" name="Shape 46"/>
          <p:cNvSpPr/>
          <p:nvPr/>
        </p:nvSpPr>
        <p:spPr>
          <a:xfrm>
            <a:off x="5385816" y="3337560"/>
            <a:ext cx="109728" cy="109728"/>
          </a:xfrm>
          <a:prstGeom prst="ellipse">
            <a:avLst/>
          </a:prstGeom>
          <a:solidFill>
            <a:srgbClr val="2E8B57"/>
          </a:solidFill>
          <a:ln w="12700">
            <a:solidFill>
              <a:srgbClr val="2E8B57"/>
            </a:solidFill>
            <a:prstDash val="solid"/>
          </a:ln>
        </p:spPr>
      </p:sp>
      <p:sp>
        <p:nvSpPr>
          <p:cNvPr id="49" name="Shape 47"/>
          <p:cNvSpPr/>
          <p:nvPr/>
        </p:nvSpPr>
        <p:spPr>
          <a:xfrm>
            <a:off x="7214616" y="3337560"/>
            <a:ext cx="109728" cy="109728"/>
          </a:xfrm>
          <a:prstGeom prst="ellipse">
            <a:avLst/>
          </a:prstGeom>
          <a:solidFill>
            <a:srgbClr val="2E8B57"/>
          </a:solidFill>
          <a:ln w="12700">
            <a:solidFill>
              <a:srgbClr val="2E8B57"/>
            </a:solidFill>
            <a:prstDash val="solid"/>
          </a:ln>
        </p:spPr>
      </p:sp>
      <p:sp>
        <p:nvSpPr>
          <p:cNvPr id="50" name="Shape 48"/>
          <p:cNvSpPr/>
          <p:nvPr/>
        </p:nvSpPr>
        <p:spPr>
          <a:xfrm>
            <a:off x="7671816" y="3337560"/>
            <a:ext cx="109728" cy="109728"/>
          </a:xfrm>
          <a:prstGeom prst="ellipse">
            <a:avLst/>
          </a:prstGeom>
          <a:solidFill>
            <a:srgbClr val="2E8B57"/>
          </a:solidFill>
          <a:ln w="12700">
            <a:solidFill>
              <a:srgbClr val="2E8B57"/>
            </a:solidFill>
            <a:prstDash val="solid"/>
          </a:ln>
        </p:spPr>
      </p:sp>
      <p:sp>
        <p:nvSpPr>
          <p:cNvPr id="51" name="Text 49"/>
          <p:cNvSpPr txBox="1"/>
          <p:nvPr/>
        </p:nvSpPr>
        <p:spPr>
          <a:xfrm>
            <a:off x="3017520" y="3611880"/>
            <a:ext cx="5669280" cy="27432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filled = policy call    hollow = previous action held    green dot = all gates passed</a:t>
            </a:r>
            <a:endParaRPr lang="en-US" sz="1050" dirty="0"/>
          </a:p>
        </p:txBody>
      </p:sp>
      <p:sp>
        <p:nvSpPr>
          <p:cNvPr id="52" name="Shape 50"/>
          <p:cNvSpPr/>
          <p:nvPr/>
        </p:nvSpPr>
        <p:spPr>
          <a:xfrm>
            <a:off x="457200" y="3931920"/>
            <a:ext cx="8229600" cy="777240"/>
          </a:xfrm>
          <a:prstGeom prst="roundRect">
            <a:avLst>
              <a:gd name="adj" fmla="val 14118"/>
            </a:avLst>
          </a:prstGeom>
          <a:solidFill>
            <a:srgbClr val="F9E6D8"/>
          </a:solidFill>
          <a:ln w="9525">
            <a:solidFill>
              <a:srgbClr val="F9E6D8"/>
            </a:solidFill>
            <a:prstDash val="solid"/>
          </a:ln>
        </p:spPr>
      </p:sp>
      <p:sp>
        <p:nvSpPr>
          <p:cNvPr id="53" name="Text 51"/>
          <p:cNvSpPr txBox="1"/>
          <p:nvPr/>
        </p:nvSpPr>
        <p:spPr>
          <a:xfrm>
            <a:off x="594360" y="3977640"/>
            <a:ext cx="7955280" cy="685800"/>
          </a:xfrm>
          <a:prstGeom prst="rect">
            <a:avLst/>
          </a:prstGeom>
          <a:noFill/>
          <a:ln/>
        </p:spPr>
        <p:txBody>
          <a:bodyPr wrap="square" lIns="0" tIns="0" rIns="0" bIns="0" rtlCol="0" anchor="ctr"/>
          <a:lstStyle/>
          <a:p>
            <a:pPr indent="0" marL="0">
              <a:buNone/>
            </a:pPr>
            <a:r>
              <a:rPr lang="en-US" sz="1200" b="1" dirty="0">
                <a:solidFill>
                  <a:srgbClr val="C8641E"/>
                </a:solidFill>
                <a:latin typeface="Arial" pitchFamily="34" charset="0"/>
                <a:ea typeface="Arial" pitchFamily="34" charset="-122"/>
                <a:cs typeface="Arial" pitchFamily="34" charset="-120"/>
              </a:rPr>
              <a:t>Gates: </a:t>
            </a:r>
            <a:pPr indent="0" marL="0">
              <a:buNone/>
            </a:pPr>
            <a:r>
              <a:rPr lang="en-US" sz="1200" dirty="0">
                <a:solidFill>
                  <a:srgbClr val="1F2933"/>
                </a:solidFill>
                <a:latin typeface="Arial" pitchFamily="34" charset="0"/>
                <a:ea typeface="Arial" pitchFamily="34" charset="-122"/>
                <a:cs typeface="Arial" pitchFamily="34" charset="-120"/>
              </a:rPr>
              <a:t>global and local image change small · recent actions agree · translation not near zero · gripper unchanged · reuse count below cap.   Presets: strict, moderate, aggressive.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7  ·  10s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1F2933"/>
                </a:solidFill>
                <a:latin typeface="Arial" pitchFamily="34" charset="0"/>
                <a:ea typeface="Arial" pitchFamily="34" charset="-122"/>
                <a:cs typeface="Arial" pitchFamily="34" charset="-120"/>
              </a:rPr>
              <a:t>How much to compute: pruning and fusion</a:t>
            </a:r>
            <a:endParaRPr lang="en-US" sz="2400" dirty="0"/>
          </a:p>
        </p:txBody>
      </p:sp>
      <p:pic>
        <p:nvPicPr>
          <p:cNvPr id="4" name="Image 0" descr="/tmp/claude-0/-home-user-BiVLA/4327cefa-ba5d-5e2e-9d87-c73dd3a8ccbb/scratchpad/video_ppt/assets/ov_prune.png">    </p:cNvPr>
          <p:cNvPicPr>
            <a:picLocks noChangeAspect="1"/>
          </p:cNvPicPr>
          <p:nvPr/>
        </p:nvPicPr>
        <p:blipFill>
          <a:blip r:embed="rId1"/>
          <a:stretch>
            <a:fillRect/>
          </a:stretch>
        </p:blipFill>
        <p:spPr>
          <a:xfrm>
            <a:off x="457200" y="1005840"/>
            <a:ext cx="3931920" cy="1645920"/>
          </a:xfrm>
          <a:prstGeom prst="rect">
            <a:avLst/>
          </a:prstGeom>
        </p:spPr>
      </p:pic>
      <p:sp>
        <p:nvSpPr>
          <p:cNvPr id="5" name="Text 2"/>
          <p:cNvSpPr txBox="1"/>
          <p:nvPr/>
        </p:nvSpPr>
        <p:spPr>
          <a:xfrm>
            <a:off x="457200" y="2834640"/>
            <a:ext cx="3931920" cy="17373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933"/>
                </a:solidFill>
                <a:latin typeface="Arial" pitchFamily="34" charset="0"/>
                <a:ea typeface="Arial" pitchFamily="34" charset="-122"/>
                <a:cs typeface="Arial" pitchFamily="34" charset="-120"/>
              </a:rPr>
              <a:t>Remove 1, 2, or 4 decoder layers with the lowest Block Influence</a:t>
            </a:r>
            <a:endParaRPr lang="en-US" sz="1300" dirty="0"/>
          </a:p>
          <a:p>
            <a:pPr marL="177800" indent="-177800">
              <a:spcAft>
                <a:spcPts val="500"/>
              </a:spcAft>
              <a:buSzPct val="100000"/>
              <a:buChar char="•"/>
            </a:pPr>
            <a:r>
              <a:rPr lang="en-US" sz="1300" dirty="0">
                <a:solidFill>
                  <a:srgbClr val="1F2933"/>
                </a:solidFill>
                <a:latin typeface="Arial" pitchFamily="34" charset="0"/>
                <a:ea typeface="Arial" pitchFamily="34" charset="-122"/>
                <a:cs typeface="Arial" pitchFamily="34" charset="-120"/>
              </a:rPr>
              <a:t>None adjacent, first and last layers kept</a:t>
            </a:r>
            <a:endParaRPr lang="en-US" sz="1300" dirty="0"/>
          </a:p>
          <a:p>
            <a:pPr marL="177800" indent="-177800">
              <a:spcAft>
                <a:spcPts val="500"/>
              </a:spcAft>
              <a:buSzPct val="100000"/>
              <a:buChar char="•"/>
            </a:pPr>
            <a:r>
              <a:rPr lang="en-US" sz="1300" dirty="0">
                <a:solidFill>
                  <a:srgbClr val="1F2933"/>
                </a:solidFill>
                <a:latin typeface="Arial" pitchFamily="34" charset="0"/>
                <a:ea typeface="Arial" pitchFamily="34" charset="-122"/>
                <a:cs typeface="Arial" pitchFamily="34" charset="-120"/>
              </a:rPr>
              <a:t>Selected once from calibration data, fixed before evaluation</a:t>
            </a:r>
            <a:endParaRPr lang="en-US" sz="1300" dirty="0"/>
          </a:p>
        </p:txBody>
      </p:sp>
      <p:pic>
        <p:nvPicPr>
          <p:cNvPr id="6" name="Image 1" descr="/tmp/claude-0/-home-user-BiVLA/4327cefa-ba5d-5e2e-9d87-c73dd3a8ccbb/scratchpad/video_ppt/assets/ov_fusion.png">    </p:cNvPr>
          <p:cNvPicPr>
            <a:picLocks noChangeAspect="1"/>
          </p:cNvPicPr>
          <p:nvPr/>
        </p:nvPicPr>
        <p:blipFill>
          <a:blip r:embed="rId2"/>
          <a:stretch>
            <a:fillRect/>
          </a:stretch>
        </p:blipFill>
        <p:spPr>
          <a:xfrm>
            <a:off x="4754880" y="1005840"/>
            <a:ext cx="3931920" cy="1645920"/>
          </a:xfrm>
          <a:prstGeom prst="rect">
            <a:avLst/>
          </a:prstGeom>
        </p:spPr>
      </p:pic>
      <p:sp>
        <p:nvSpPr>
          <p:cNvPr id="7" name="Text 3"/>
          <p:cNvSpPr txBox="1"/>
          <p:nvPr/>
        </p:nvSpPr>
        <p:spPr>
          <a:xfrm>
            <a:off x="4754880" y="2834640"/>
            <a:ext cx="3931920" cy="17373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933"/>
                </a:solidFill>
                <a:latin typeface="Arial" pitchFamily="34" charset="0"/>
                <a:ea typeface="Arial" pitchFamily="34" charset="-122"/>
                <a:cs typeface="Arial" pitchFamily="34" charset="-120"/>
              </a:rPr>
              <a:t>Reuse projected visual tokens of stable patches from the previous call</a:t>
            </a:r>
            <a:endParaRPr lang="en-US" sz="1300" dirty="0"/>
          </a:p>
          <a:p>
            <a:pPr marL="177800" indent="-177800">
              <a:spcAft>
                <a:spcPts val="500"/>
              </a:spcAft>
              <a:buSzPct val="100000"/>
              <a:buChar char="•"/>
            </a:pPr>
            <a:r>
              <a:rPr lang="en-US" sz="1300" dirty="0">
                <a:solidFill>
                  <a:srgbClr val="1F2933"/>
                </a:solidFill>
                <a:latin typeface="Arial" pitchFamily="34" charset="0"/>
                <a:ea typeface="Arial" pitchFamily="34" charset="-122"/>
                <a:cs typeface="Arial" pitchFamily="34" charset="-120"/>
              </a:rPr>
              <a:t>Protect patches with motion, entropy, language attention, or interaction regions</a:t>
            </a:r>
            <a:endParaRPr lang="en-US" sz="1300" dirty="0"/>
          </a:p>
          <a:p>
            <a:pPr marL="177800" indent="-177800">
              <a:spcAft>
                <a:spcPts val="500"/>
              </a:spcAft>
              <a:buSzPct val="100000"/>
              <a:buChar char="•"/>
            </a:pPr>
            <a:r>
              <a:rPr lang="en-US" sz="1300" dirty="0">
                <a:solidFill>
                  <a:srgbClr val="1F2933"/>
                </a:solidFill>
                <a:latin typeface="Arial" pitchFamily="34" charset="0"/>
                <a:ea typeface="Arial" pitchFamily="34" charset="-122"/>
                <a:cs typeface="Arial" pitchFamily="34" charset="-120"/>
              </a:rPr>
              <a:t>Presets: motion-entropy, task-aware, conservative-adaptive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8  ·  12s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Matched evaluation protocol</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572000" cy="914400"/>
        </p:xfrm>
        <a:graphic>
          <a:graphicData uri="http://schemas.openxmlformats.org/drawingml/2006/table">
            <a:tbl>
              <a:tblPr/>
              <a:tblGrid>
                <a:gridCol w="1828800"/>
                <a:gridCol w="914400"/>
                <a:gridCol w="914400"/>
                <a:gridCol w="914400"/>
              </a:tblGrid>
              <a:tr h="3291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Backbone</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WidowX</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Fractal</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LIBERO</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CogACT (7.6B)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OpenVLA (7B)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SpatialVLA (4B)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CronusVLA (0.5B)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UniVLA (8.5B)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MiniVLA (1B)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SmolVLA (0.45B)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794760"/>
            <a:ext cx="457200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SimplerEnv WidowX: 4 tasks × 50 episodes.  Google Robot/Fractal: 5 tasks × 50.  LIBERO: Long, Goal, Object, Spatial.</a:t>
            </a:r>
            <a:endParaRPr lang="en-US" sz="1050" dirty="0"/>
          </a:p>
        </p:txBody>
      </p:sp>
      <p:sp>
        <p:nvSpPr>
          <p:cNvPr id="6" name="Text 3"/>
          <p:cNvSpPr txBox="1"/>
          <p:nvPr/>
        </p:nvSpPr>
        <p:spPr>
          <a:xfrm>
            <a:off x="521208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22</a:t>
            </a:r>
            <a:endParaRPr lang="en-US" sz="3000" dirty="0"/>
          </a:p>
        </p:txBody>
      </p:sp>
      <p:sp>
        <p:nvSpPr>
          <p:cNvPr id="7" name="Text 4"/>
          <p:cNvSpPr txBox="1"/>
          <p:nvPr/>
        </p:nvSpPr>
        <p:spPr>
          <a:xfrm>
            <a:off x="521208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backbone × environment pairs</a:t>
            </a:r>
            <a:endParaRPr lang="en-US" sz="1050" dirty="0"/>
          </a:p>
        </p:txBody>
      </p:sp>
      <p:sp>
        <p:nvSpPr>
          <p:cNvPr id="8" name="Text 5"/>
          <p:cNvSpPr txBox="1"/>
          <p:nvPr/>
        </p:nvSpPr>
        <p:spPr>
          <a:xfrm>
            <a:off x="640080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13 + 1</a:t>
            </a:r>
            <a:endParaRPr lang="en-US" sz="3000" dirty="0"/>
          </a:p>
        </p:txBody>
      </p:sp>
      <p:sp>
        <p:nvSpPr>
          <p:cNvPr id="9" name="Text 6"/>
          <p:cNvSpPr txBox="1"/>
          <p:nvPr/>
        </p:nvSpPr>
        <p:spPr>
          <a:xfrm>
            <a:off x="640080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trick settings + original, per pair</a:t>
            </a:r>
            <a:endParaRPr lang="en-US" sz="1050" dirty="0"/>
          </a:p>
        </p:txBody>
      </p:sp>
      <p:sp>
        <p:nvSpPr>
          <p:cNvPr id="10" name="Text 7"/>
          <p:cNvSpPr txBox="1"/>
          <p:nvPr/>
        </p:nvSpPr>
        <p:spPr>
          <a:xfrm>
            <a:off x="758952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286</a:t>
            </a:r>
            <a:endParaRPr lang="en-US" sz="3000" dirty="0"/>
          </a:p>
        </p:txBody>
      </p:sp>
      <p:sp>
        <p:nvSpPr>
          <p:cNvPr id="11" name="Text 8"/>
          <p:cNvSpPr txBox="1"/>
          <p:nvPr/>
        </p:nvSpPr>
        <p:spPr>
          <a:xfrm>
            <a:off x="758952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trick settings, all paired with the original</a:t>
            </a:r>
            <a:endParaRPr lang="en-US" sz="1050" dirty="0"/>
          </a:p>
        </p:txBody>
      </p:sp>
      <p:sp>
        <p:nvSpPr>
          <p:cNvPr id="12" name="Text 9"/>
          <p:cNvSpPr txBox="1"/>
          <p:nvPr/>
        </p:nvSpPr>
        <p:spPr>
          <a:xfrm>
            <a:off x="5212080" y="2651760"/>
            <a:ext cx="3474720" cy="201168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Official checkpoints, no retraining</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Same task instances and initial states as the original</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Latency = wall-clock per environment step</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Exact two-sided McNemar test on paired episodes</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4 × RTX 5090; tables report the best setting per trick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9  ·  12s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1F2933"/>
                </a:solidFill>
                <a:latin typeface="Arial" pitchFamily="34" charset="0"/>
                <a:ea typeface="Arial" pitchFamily="34" charset="-122"/>
                <a:cs typeface="Arial" pitchFamily="34" charset="-120"/>
              </a:rPr>
              <a:t>RQ-1  Which tricks preserve success?</a:t>
            </a:r>
            <a:endParaRPr lang="en-US" sz="2400" dirty="0"/>
          </a:p>
        </p:txBody>
      </p:sp>
      <p:pic>
        <p:nvPicPr>
          <p:cNvPr id="4" name="Image 0" descr="/tmp/claude-0/-home-user-BiVLA/4327cefa-ba5d-5e2e-9d87-c73dd3a8ccbb/scratchpad/video_ppt/assets/fig1_teaser.png">    </p:cNvPr>
          <p:cNvPicPr>
            <a:picLocks noChangeAspect="1"/>
          </p:cNvPicPr>
          <p:nvPr/>
        </p:nvPicPr>
        <p:blipFill>
          <a:blip r:embed="rId1"/>
          <a:stretch>
            <a:fillRect/>
          </a:stretch>
        </p:blipFill>
        <p:spPr>
          <a:xfrm>
            <a:off x="457200" y="960120"/>
            <a:ext cx="4206240" cy="3785616"/>
          </a:xfrm>
          <a:prstGeom prst="rect">
            <a:avLst/>
          </a:prstGeom>
        </p:spPr>
      </p:pic>
      <p:sp>
        <p:nvSpPr>
          <p:cNvPr id="5" name="Shape 2"/>
          <p:cNvSpPr/>
          <p:nvPr/>
        </p:nvSpPr>
        <p:spPr>
          <a:xfrm>
            <a:off x="5029200" y="1051560"/>
            <a:ext cx="457200" cy="457200"/>
          </a:xfrm>
          <a:prstGeom prst="ellipse">
            <a:avLst/>
          </a:prstGeom>
          <a:solidFill>
            <a:srgbClr val="1B7F79"/>
          </a:solidFill>
          <a:ln w="12700">
            <a:solidFill>
              <a:srgbClr val="1B7F79"/>
            </a:solidFill>
            <a:prstDash val="solid"/>
          </a:ln>
        </p:spPr>
      </p:sp>
      <p:sp>
        <p:nvSpPr>
          <p:cNvPr id="6" name="Text 3"/>
          <p:cNvSpPr txBox="1"/>
          <p:nvPr/>
        </p:nvSpPr>
        <p:spPr>
          <a:xfrm>
            <a:off x="5029200" y="10515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A-1</a:t>
            </a:r>
            <a:endParaRPr lang="en-US" sz="1200" dirty="0"/>
          </a:p>
        </p:txBody>
      </p:sp>
      <p:sp>
        <p:nvSpPr>
          <p:cNvPr id="7" name="Text 4"/>
          <p:cNvSpPr txBox="1"/>
          <p:nvPr/>
        </p:nvSpPr>
        <p:spPr>
          <a:xfrm>
            <a:off x="5577840" y="1005840"/>
            <a:ext cx="3108960" cy="59436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Guarded reuse and temporal fusion match or improve success for most backbones.</a:t>
            </a:r>
            <a:endParaRPr lang="en-US" sz="1400" dirty="0"/>
          </a:p>
        </p:txBody>
      </p:sp>
      <p:sp>
        <p:nvSpPr>
          <p:cNvPr id="8" name="Text 5"/>
          <p:cNvSpPr txBox="1"/>
          <p:nvPr/>
        </p:nvSpPr>
        <p:spPr>
          <a:xfrm>
            <a:off x="5029200" y="1783080"/>
            <a:ext cx="3657600" cy="274320"/>
          </a:xfrm>
          <a:prstGeom prst="rect">
            <a:avLst/>
          </a:prstGeom>
          <a:noFill/>
          <a:ln/>
        </p:spPr>
        <p:txBody>
          <a:bodyPr wrap="square" lIns="0" tIns="0" rIns="0" bIns="0" rtlCol="0" anchor="t"/>
          <a:lstStyle/>
          <a:p>
            <a:pPr algn="l" indent="0" marL="0">
              <a:buNone/>
            </a:pPr>
            <a:r>
              <a:rPr lang="en-US" sz="1200" dirty="0">
                <a:solidFill>
                  <a:srgbClr val="1F2933"/>
                </a:solidFill>
                <a:latin typeface="Arial" pitchFamily="34" charset="0"/>
                <a:ea typeface="Arial" pitchFamily="34" charset="-122"/>
                <a:cs typeface="Arial" pitchFamily="34" charset="-120"/>
              </a:rPr>
              <a:t>Selected backbones also gain:</a:t>
            </a:r>
            <a:endParaRPr lang="en-US" sz="1200" dirty="0"/>
          </a:p>
        </p:txBody>
      </p:sp>
      <p:sp>
        <p:nvSpPr>
          <p:cNvPr id="9" name="Shape 6"/>
          <p:cNvSpPr/>
          <p:nvPr/>
        </p:nvSpPr>
        <p:spPr>
          <a:xfrm>
            <a:off x="5029200" y="2103120"/>
            <a:ext cx="3657600" cy="457200"/>
          </a:xfrm>
          <a:prstGeom prst="roundRect">
            <a:avLst>
              <a:gd name="adj" fmla="val 20000"/>
            </a:avLst>
          </a:prstGeom>
          <a:solidFill>
            <a:srgbClr val="DFF1E6"/>
          </a:solidFill>
          <a:ln w="12700">
            <a:solidFill>
              <a:srgbClr val="DFF1E6"/>
            </a:solidFill>
            <a:prstDash val="solid"/>
          </a:ln>
        </p:spPr>
      </p:sp>
      <p:sp>
        <p:nvSpPr>
          <p:cNvPr id="10" name="Text 7"/>
          <p:cNvSpPr txBox="1"/>
          <p:nvPr/>
        </p:nvSpPr>
        <p:spPr>
          <a:xfrm>
            <a:off x="5029200" y="2103120"/>
            <a:ext cx="3657600" cy="457200"/>
          </a:xfrm>
          <a:prstGeom prst="rect">
            <a:avLst/>
          </a:prstGeom>
          <a:noFill/>
          <a:ln/>
        </p:spPr>
        <p:txBody>
          <a:bodyPr wrap="square" lIns="0" tIns="0" rIns="0" bIns="0" rtlCol="0" anchor="ctr"/>
          <a:lstStyle/>
          <a:p>
            <a:pPr algn="ctr" indent="0" marL="0">
              <a:buNone/>
            </a:pPr>
            <a:r>
              <a:rPr lang="en-US" sz="1050" b="1" dirty="0">
                <a:solidFill>
                  <a:srgbClr val="2E8B57"/>
                </a:solidFill>
                <a:latin typeface="Arial" pitchFamily="34" charset="0"/>
                <a:ea typeface="Arial" pitchFamily="34" charset="-122"/>
                <a:cs typeface="Arial" pitchFamily="34" charset="-120"/>
              </a:rPr>
              <a:t>Foveation, WidowX: CogACT +2.5 · SpatialVLA +5.0 · CronusVLA +2.5</a:t>
            </a:r>
            <a:endParaRPr lang="en-US" sz="1050" dirty="0"/>
          </a:p>
        </p:txBody>
      </p:sp>
      <p:sp>
        <p:nvSpPr>
          <p:cNvPr id="11" name="Shape 8"/>
          <p:cNvSpPr/>
          <p:nvPr/>
        </p:nvSpPr>
        <p:spPr>
          <a:xfrm>
            <a:off x="5029200" y="2651760"/>
            <a:ext cx="3657600" cy="384048"/>
          </a:xfrm>
          <a:prstGeom prst="roundRect">
            <a:avLst>
              <a:gd name="adj" fmla="val 23810"/>
            </a:avLst>
          </a:prstGeom>
          <a:solidFill>
            <a:srgbClr val="DFF1E6"/>
          </a:solidFill>
          <a:ln w="12700">
            <a:solidFill>
              <a:srgbClr val="DFF1E6"/>
            </a:solidFill>
            <a:prstDash val="solid"/>
          </a:ln>
        </p:spPr>
      </p:sp>
      <p:sp>
        <p:nvSpPr>
          <p:cNvPr id="12" name="Text 9"/>
          <p:cNvSpPr txBox="1"/>
          <p:nvPr/>
        </p:nvSpPr>
        <p:spPr>
          <a:xfrm>
            <a:off x="5029200" y="2651760"/>
            <a:ext cx="3657600" cy="384048"/>
          </a:xfrm>
          <a:prstGeom prst="rect">
            <a:avLst/>
          </a:prstGeom>
          <a:noFill/>
          <a:ln/>
        </p:spPr>
        <p:txBody>
          <a:bodyPr wrap="square" lIns="0" tIns="0" rIns="0" bIns="0" rtlCol="0" anchor="ctr"/>
          <a:lstStyle/>
          <a:p>
            <a:pPr algn="ctr" indent="0" marL="0">
              <a:buNone/>
            </a:pPr>
            <a:r>
              <a:rPr lang="en-US" sz="1100" b="1" dirty="0">
                <a:solidFill>
                  <a:srgbClr val="2E8B57"/>
                </a:solidFill>
                <a:latin typeface="Arial" pitchFamily="34" charset="0"/>
                <a:ea typeface="Arial" pitchFamily="34" charset="-122"/>
                <a:cs typeface="Arial" pitchFamily="34" charset="-120"/>
              </a:rPr>
              <a:t>Depth pruning, WidowX: CogACT +9.5</a:t>
            </a:r>
            <a:endParaRPr lang="en-US" sz="1100" dirty="0"/>
          </a:p>
        </p:txBody>
      </p:sp>
      <p:sp>
        <p:nvSpPr>
          <p:cNvPr id="13" name="Shape 10"/>
          <p:cNvSpPr/>
          <p:nvPr/>
        </p:nvSpPr>
        <p:spPr>
          <a:xfrm>
            <a:off x="5029200" y="3127248"/>
            <a:ext cx="3657600" cy="384048"/>
          </a:xfrm>
          <a:prstGeom prst="roundRect">
            <a:avLst>
              <a:gd name="adj" fmla="val 23810"/>
            </a:avLst>
          </a:prstGeom>
          <a:solidFill>
            <a:srgbClr val="F9E6D8"/>
          </a:solidFill>
          <a:ln w="12700">
            <a:solidFill>
              <a:srgbClr val="F9E6D8"/>
            </a:solidFill>
            <a:prstDash val="solid"/>
          </a:ln>
        </p:spPr>
      </p:sp>
      <p:sp>
        <p:nvSpPr>
          <p:cNvPr id="14" name="Text 11"/>
          <p:cNvSpPr txBox="1"/>
          <p:nvPr/>
        </p:nvSpPr>
        <p:spPr>
          <a:xfrm>
            <a:off x="5029200" y="3127248"/>
            <a:ext cx="3657600" cy="384048"/>
          </a:xfrm>
          <a:prstGeom prst="rect">
            <a:avLst/>
          </a:prstGeom>
          <a:noFill/>
          <a:ln/>
        </p:spPr>
        <p:txBody>
          <a:bodyPr wrap="square" lIns="0" tIns="0" rIns="0" bIns="0" rtlCol="0" anchor="ctr"/>
          <a:lstStyle/>
          <a:p>
            <a:pPr algn="ctr" indent="0" marL="0">
              <a:buNone/>
            </a:pPr>
            <a:r>
              <a:rPr lang="en-US" sz="1100" b="1" dirty="0">
                <a:solidFill>
                  <a:srgbClr val="C8641E"/>
                </a:solidFill>
                <a:latin typeface="Arial" pitchFamily="34" charset="0"/>
                <a:ea typeface="Arial" pitchFamily="34" charset="-122"/>
                <a:cs typeface="Arial" pitchFamily="34" charset="-120"/>
              </a:rPr>
              <a:t>Foveation, LIBERO Goal: UniVLA +7.0  vs  SmolVLA −13.0</a:t>
            </a:r>
            <a:endParaRPr lang="en-US" sz="1100" dirty="0"/>
          </a:p>
        </p:txBody>
      </p:sp>
      <p:sp>
        <p:nvSpPr>
          <p:cNvPr id="15" name="Shape 12"/>
          <p:cNvSpPr/>
          <p:nvPr/>
        </p:nvSpPr>
        <p:spPr>
          <a:xfrm>
            <a:off x="5029200" y="3602736"/>
            <a:ext cx="3657600" cy="384048"/>
          </a:xfrm>
          <a:prstGeom prst="roundRect">
            <a:avLst>
              <a:gd name="adj" fmla="val 23810"/>
            </a:avLst>
          </a:prstGeom>
          <a:solidFill>
            <a:srgbClr val="F3F5F7"/>
          </a:solidFill>
          <a:ln w="12700">
            <a:solidFill>
              <a:srgbClr val="F3F5F7"/>
            </a:solidFill>
            <a:prstDash val="solid"/>
          </a:ln>
        </p:spPr>
      </p:sp>
      <p:sp>
        <p:nvSpPr>
          <p:cNvPr id="16" name="Text 13"/>
          <p:cNvSpPr txBox="1"/>
          <p:nvPr/>
        </p:nvSpPr>
        <p:spPr>
          <a:xfrm>
            <a:off x="5029200" y="3602736"/>
            <a:ext cx="3657600" cy="384048"/>
          </a:xfrm>
          <a:prstGeom prst="rect">
            <a:avLst/>
          </a:prstGeom>
          <a:noFill/>
          <a:ln/>
        </p:spPr>
        <p:txBody>
          <a:bodyPr wrap="square" lIns="0" tIns="0" rIns="0" bIns="0" rtlCol="0" anchor="ctr"/>
          <a:lstStyle/>
          <a:p>
            <a:pPr algn="ctr" indent="0" marL="0">
              <a:buNone/>
            </a:pPr>
            <a:r>
              <a:rPr lang="en-US" sz="1100" b="1" dirty="0">
                <a:solidFill>
                  <a:srgbClr val="1F2933"/>
                </a:solidFill>
                <a:latin typeface="Arial" pitchFamily="34" charset="0"/>
                <a:ea typeface="Arial" pitchFamily="34" charset="-122"/>
                <a:cs typeface="Arial" pitchFamily="34" charset="-120"/>
              </a:rPr>
              <a:t>Action repeat: mainly a speed baseline</a:t>
            </a:r>
            <a:endParaRPr lang="en-US" sz="1100" dirty="0"/>
          </a:p>
        </p:txBody>
      </p:sp>
      <p:sp>
        <p:nvSpPr>
          <p:cNvPr id="17" name="Text 14"/>
          <p:cNvSpPr txBox="1"/>
          <p:nvPr/>
        </p:nvSpPr>
        <p:spPr>
          <a:xfrm>
            <a:off x="5029200" y="4114800"/>
            <a:ext cx="3657600" cy="54864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Fig. 1: success per configuration, six WidowX backbones. Dotted line = original policy. Deltas from Tables I and II, best setting per trick.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10  ·  12s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1F2933"/>
                </a:solidFill>
                <a:latin typeface="Arial" pitchFamily="34" charset="0"/>
                <a:ea typeface="Arial" pitchFamily="34" charset="-122"/>
                <a:cs typeface="Arial" pitchFamily="34" charset="-120"/>
              </a:rPr>
              <a:t>Depth pruning helps CogACT on WidowX</a:t>
            </a:r>
            <a:endParaRPr lang="en-US" sz="2400" dirty="0"/>
          </a:p>
        </p:txBody>
      </p:sp>
      <p:pic>
        <p:nvPicPr>
          <p:cNvPr id="4" name="Image 0" descr="/tmp/claude-0/-home-user-BiVLA/4327cefa-ba5d-5e2e-9d87-c73dd3a8ccbb/scratchpad/video_ppt/assets/fig3a_cogact.png">    </p:cNvPr>
          <p:cNvPicPr>
            <a:picLocks noChangeAspect="1"/>
          </p:cNvPicPr>
          <p:nvPr/>
        </p:nvPicPr>
        <p:blipFill>
          <a:blip r:embed="rId1"/>
          <a:stretch>
            <a:fillRect/>
          </a:stretch>
        </p:blipFill>
        <p:spPr>
          <a:xfrm>
            <a:off x="457200" y="914400"/>
            <a:ext cx="8229600" cy="2743200"/>
          </a:xfrm>
          <a:prstGeom prst="rect">
            <a:avLst/>
          </a:prstGeom>
        </p:spPr>
      </p:pic>
      <p:sp>
        <p:nvSpPr>
          <p:cNvPr id="5" name="Shape 2"/>
          <p:cNvSpPr/>
          <p:nvPr/>
        </p:nvSpPr>
        <p:spPr>
          <a:xfrm>
            <a:off x="457200" y="3794760"/>
            <a:ext cx="4023360" cy="914400"/>
          </a:xfrm>
          <a:prstGeom prst="roundRect">
            <a:avLst>
              <a:gd name="adj" fmla="val 8000"/>
            </a:avLst>
          </a:prstGeom>
          <a:solidFill>
            <a:srgbClr val="2A2F3A"/>
          </a:solidFill>
          <a:ln w="12700">
            <a:solidFill>
              <a:srgbClr val="8A94A6"/>
            </a:solidFill>
            <a:prstDash val="dash"/>
          </a:ln>
        </p:spPr>
      </p:sp>
      <p:sp>
        <p:nvSpPr>
          <p:cNvPr id="6" name="Text 3"/>
          <p:cNvSpPr txBox="1"/>
          <p:nvPr/>
        </p:nvSpPr>
        <p:spPr>
          <a:xfrm>
            <a:off x="548640" y="3794760"/>
            <a:ext cx="3840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CLIP: original vs depth pruning (paired episode)</a:t>
            </a:r>
            <a:endParaRPr lang="en-US" sz="1200" dirty="0"/>
          </a:p>
        </p:txBody>
      </p:sp>
      <p:sp>
        <p:nvSpPr>
          <p:cNvPr id="7" name="Shape 4"/>
          <p:cNvSpPr/>
          <p:nvPr/>
        </p:nvSpPr>
        <p:spPr>
          <a:xfrm>
            <a:off x="4663440" y="3794760"/>
            <a:ext cx="1965960" cy="365760"/>
          </a:xfrm>
          <a:prstGeom prst="roundRect">
            <a:avLst>
              <a:gd name="adj" fmla="val 25000"/>
            </a:avLst>
          </a:prstGeom>
          <a:solidFill>
            <a:srgbClr val="DFF1E6"/>
          </a:solidFill>
          <a:ln w="12700">
            <a:solidFill>
              <a:srgbClr val="DFF1E6"/>
            </a:solidFill>
            <a:prstDash val="solid"/>
          </a:ln>
        </p:spPr>
      </p:sp>
      <p:sp>
        <p:nvSpPr>
          <p:cNvPr id="8" name="Text 5"/>
          <p:cNvSpPr txBox="1"/>
          <p:nvPr/>
        </p:nvSpPr>
        <p:spPr>
          <a:xfrm>
            <a:off x="4663440" y="3794760"/>
            <a:ext cx="1965960" cy="365760"/>
          </a:xfrm>
          <a:prstGeom prst="rect">
            <a:avLst/>
          </a:prstGeom>
          <a:noFill/>
          <a:ln/>
        </p:spPr>
        <p:txBody>
          <a:bodyPr wrap="square" lIns="0" tIns="0" rIns="0" bIns="0" rtlCol="0" anchor="ctr"/>
          <a:lstStyle/>
          <a:p>
            <a:pPr algn="ctr" indent="0" marL="0">
              <a:buNone/>
            </a:pPr>
            <a:r>
              <a:rPr lang="en-US" sz="1150" b="1" dirty="0">
                <a:solidFill>
                  <a:srgbClr val="2E8B57"/>
                </a:solidFill>
                <a:latin typeface="Arial" pitchFamily="34" charset="0"/>
                <a:ea typeface="Arial" pitchFamily="34" charset="-122"/>
                <a:cs typeface="Arial" pitchFamily="34" charset="-120"/>
              </a:rPr>
              <a:t>Success 50.0 → 59.5 %</a:t>
            </a:r>
            <a:endParaRPr lang="en-US" sz="1150" dirty="0"/>
          </a:p>
        </p:txBody>
      </p:sp>
      <p:sp>
        <p:nvSpPr>
          <p:cNvPr id="9" name="Shape 6"/>
          <p:cNvSpPr/>
          <p:nvPr/>
        </p:nvSpPr>
        <p:spPr>
          <a:xfrm>
            <a:off x="6720840" y="3794760"/>
            <a:ext cx="1965960" cy="365760"/>
          </a:xfrm>
          <a:prstGeom prst="roundRect">
            <a:avLst>
              <a:gd name="adj" fmla="val 25000"/>
            </a:avLst>
          </a:prstGeom>
          <a:solidFill>
            <a:srgbClr val="DDEFEC"/>
          </a:solidFill>
          <a:ln w="12700">
            <a:solidFill>
              <a:srgbClr val="DDEFEC"/>
            </a:solidFill>
            <a:prstDash val="solid"/>
          </a:ln>
        </p:spPr>
      </p:sp>
      <p:sp>
        <p:nvSpPr>
          <p:cNvPr id="10" name="Text 7"/>
          <p:cNvSpPr txBox="1"/>
          <p:nvPr/>
        </p:nvSpPr>
        <p:spPr>
          <a:xfrm>
            <a:off x="6720840" y="3794760"/>
            <a:ext cx="1965960" cy="365760"/>
          </a:xfrm>
          <a:prstGeom prst="rect">
            <a:avLst/>
          </a:prstGeom>
          <a:noFill/>
          <a:ln/>
        </p:spPr>
        <p:txBody>
          <a:bodyPr wrap="square" lIns="0" tIns="0" rIns="0" bIns="0" rtlCol="0" anchor="ctr"/>
          <a:lstStyle/>
          <a:p>
            <a:pPr algn="ctr" indent="0" marL="0">
              <a:buNone/>
            </a:pPr>
            <a:r>
              <a:rPr lang="en-US" sz="1050" b="1" dirty="0">
                <a:solidFill>
                  <a:srgbClr val="1B7F79"/>
                </a:solidFill>
                <a:latin typeface="Arial" pitchFamily="34" charset="0"/>
                <a:ea typeface="Arial" pitchFamily="34" charset="-122"/>
                <a:cs typeface="Arial" pitchFamily="34" charset="-120"/>
              </a:rPr>
              <a:t>Latency 141.4 → 137.5 ms/step</a:t>
            </a:r>
            <a:endParaRPr lang="en-US" sz="1050" dirty="0"/>
          </a:p>
        </p:txBody>
      </p:sp>
      <p:sp>
        <p:nvSpPr>
          <p:cNvPr id="11" name="Text 8"/>
          <p:cNvSpPr txBox="1"/>
          <p:nvPr/>
        </p:nvSpPr>
        <p:spPr>
          <a:xfrm>
            <a:off x="4663440" y="4251960"/>
            <a:ext cx="4023360" cy="457200"/>
          </a:xfrm>
          <a:prstGeom prst="rect">
            <a:avLst/>
          </a:prstGeom>
          <a:noFill/>
          <a:ln/>
        </p:spPr>
        <p:txBody>
          <a:bodyPr wrap="square" lIns="0" tIns="0" rIns="0" bIns="0" rtlCol="0" anchor="t"/>
          <a:lstStyle/>
          <a:p>
            <a:pPr algn="l" indent="0" marL="0">
              <a:buNone/>
            </a:pPr>
            <a:r>
              <a:rPr lang="en-US" sz="950" dirty="0">
                <a:solidFill>
                  <a:srgbClr val="5F6B7A"/>
                </a:solidFill>
                <a:latin typeface="Arial" pitchFamily="34" charset="0"/>
                <a:ea typeface="Arial" pitchFamily="34" charset="-122"/>
                <a:cs typeface="Arial" pitchFamily="34" charset="-120"/>
              </a:rPr>
              <a:t>Red = failure, green = success. Selected episodes, same task instances and initial states. Aggregate values from Table I.</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11  ·  10s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1F2933"/>
                </a:solidFill>
                <a:latin typeface="Arial" pitchFamily="34" charset="0"/>
                <a:ea typeface="Arial" pitchFamily="34" charset="-122"/>
                <a:cs typeface="Arial" pitchFamily="34" charset="-120"/>
              </a:rPr>
              <a:t>Same trick, same benchmark, different backbone</a:t>
            </a:r>
            <a:endParaRPr lang="en-US" sz="2400" dirty="0"/>
          </a:p>
        </p:txBody>
      </p:sp>
      <p:sp>
        <p:nvSpPr>
          <p:cNvPr id="4" name="Shape 2"/>
          <p:cNvSpPr/>
          <p:nvPr/>
        </p:nvSpPr>
        <p:spPr>
          <a:xfrm>
            <a:off x="457200" y="960120"/>
            <a:ext cx="2651760" cy="2011680"/>
          </a:xfrm>
          <a:prstGeom prst="roundRect">
            <a:avLst>
              <a:gd name="adj" fmla="val 3636"/>
            </a:avLst>
          </a:prstGeom>
          <a:solidFill>
            <a:srgbClr val="2A2F3A"/>
          </a:solidFill>
          <a:ln w="12700">
            <a:solidFill>
              <a:srgbClr val="8A94A6"/>
            </a:solidFill>
            <a:prstDash val="dash"/>
          </a:ln>
        </p:spPr>
      </p:sp>
      <p:sp>
        <p:nvSpPr>
          <p:cNvPr id="5" name="Shape 3"/>
          <p:cNvSpPr/>
          <p:nvPr/>
        </p:nvSpPr>
        <p:spPr>
          <a:xfrm>
            <a:off x="1508760" y="1581912"/>
            <a:ext cx="548640" cy="548640"/>
          </a:xfrm>
          <a:prstGeom prst="ellipse">
            <a:avLst/>
          </a:prstGeom>
          <a:solidFill>
            <a:srgbClr val="FFFFFF"/>
          </a:solidFill>
          <a:ln w="12700">
            <a:solidFill>
              <a:srgbClr val="FFFFFF"/>
            </a:solidFill>
            <a:prstDash val="solid"/>
          </a:ln>
        </p:spPr>
      </p:sp>
      <p:sp>
        <p:nvSpPr>
          <p:cNvPr id="6" name="Shape 4"/>
          <p:cNvSpPr/>
          <p:nvPr/>
        </p:nvSpPr>
        <p:spPr>
          <a:xfrm rot="5400000">
            <a:off x="1700784" y="1700784"/>
            <a:ext cx="219456" cy="310896"/>
          </a:xfrm>
          <a:prstGeom prst="triangle">
            <a:avLst/>
          </a:prstGeom>
          <a:solidFill>
            <a:srgbClr val="2A2F3A"/>
          </a:solidFill>
          <a:ln w="12700">
            <a:solidFill>
              <a:srgbClr val="2A2F3A"/>
            </a:solidFill>
            <a:prstDash val="solid"/>
          </a:ln>
        </p:spPr>
      </p:sp>
      <p:sp>
        <p:nvSpPr>
          <p:cNvPr id="7" name="Text 5"/>
          <p:cNvSpPr txBox="1"/>
          <p:nvPr/>
        </p:nvSpPr>
        <p:spPr>
          <a:xfrm>
            <a:off x="548640" y="219456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MiniVLA original</a:t>
            </a:r>
            <a:endParaRPr lang="en-US" sz="1200" dirty="0"/>
          </a:p>
        </p:txBody>
      </p:sp>
      <p:sp>
        <p:nvSpPr>
          <p:cNvPr id="8" name="Text 6"/>
          <p:cNvSpPr txBox="1"/>
          <p:nvPr/>
        </p:nvSpPr>
        <p:spPr>
          <a:xfrm>
            <a:off x="548640" y="244144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succeeds (green border)</a:t>
            </a:r>
            <a:endParaRPr lang="en-US" sz="950" dirty="0"/>
          </a:p>
        </p:txBody>
      </p:sp>
      <p:sp>
        <p:nvSpPr>
          <p:cNvPr id="9" name="Shape 7"/>
          <p:cNvSpPr/>
          <p:nvPr/>
        </p:nvSpPr>
        <p:spPr>
          <a:xfrm>
            <a:off x="3246120" y="960120"/>
            <a:ext cx="2651760" cy="2011680"/>
          </a:xfrm>
          <a:prstGeom prst="roundRect">
            <a:avLst>
              <a:gd name="adj" fmla="val 3636"/>
            </a:avLst>
          </a:prstGeom>
          <a:solidFill>
            <a:srgbClr val="2A2F3A"/>
          </a:solidFill>
          <a:ln w="12700">
            <a:solidFill>
              <a:srgbClr val="8A94A6"/>
            </a:solidFill>
            <a:prstDash val="dash"/>
          </a:ln>
        </p:spPr>
      </p:sp>
      <p:sp>
        <p:nvSpPr>
          <p:cNvPr id="10" name="Shape 8"/>
          <p:cNvSpPr/>
          <p:nvPr/>
        </p:nvSpPr>
        <p:spPr>
          <a:xfrm>
            <a:off x="4297680" y="1581912"/>
            <a:ext cx="548640" cy="548640"/>
          </a:xfrm>
          <a:prstGeom prst="ellipse">
            <a:avLst/>
          </a:prstGeom>
          <a:solidFill>
            <a:srgbClr val="FFFFFF"/>
          </a:solidFill>
          <a:ln w="12700">
            <a:solidFill>
              <a:srgbClr val="FFFFFF"/>
            </a:solidFill>
            <a:prstDash val="solid"/>
          </a:ln>
        </p:spPr>
      </p:sp>
      <p:sp>
        <p:nvSpPr>
          <p:cNvPr id="11" name="Shape 9"/>
          <p:cNvSpPr/>
          <p:nvPr/>
        </p:nvSpPr>
        <p:spPr>
          <a:xfrm rot="5400000">
            <a:off x="4489704" y="1700784"/>
            <a:ext cx="219456" cy="310896"/>
          </a:xfrm>
          <a:prstGeom prst="triangle">
            <a:avLst/>
          </a:prstGeom>
          <a:solidFill>
            <a:srgbClr val="2A2F3A"/>
          </a:solidFill>
          <a:ln w="12700">
            <a:solidFill>
              <a:srgbClr val="2A2F3A"/>
            </a:solidFill>
            <a:prstDash val="solid"/>
          </a:ln>
        </p:spPr>
      </p:sp>
      <p:sp>
        <p:nvSpPr>
          <p:cNvPr id="12" name="Text 10"/>
          <p:cNvSpPr txBox="1"/>
          <p:nvPr/>
        </p:nvSpPr>
        <p:spPr>
          <a:xfrm>
            <a:off x="3337560" y="219456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MiniVLA + pruning</a:t>
            </a:r>
            <a:endParaRPr lang="en-US" sz="1200" dirty="0"/>
          </a:p>
        </p:txBody>
      </p:sp>
      <p:sp>
        <p:nvSpPr>
          <p:cNvPr id="13" name="Text 11"/>
          <p:cNvSpPr txBox="1"/>
          <p:nvPr/>
        </p:nvSpPr>
        <p:spPr>
          <a:xfrm>
            <a:off x="3337560" y="244144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fails (red border)</a:t>
            </a:r>
            <a:endParaRPr lang="en-US" sz="950" dirty="0"/>
          </a:p>
        </p:txBody>
      </p:sp>
      <p:sp>
        <p:nvSpPr>
          <p:cNvPr id="14" name="Text 12"/>
          <p:cNvSpPr txBox="1"/>
          <p:nvPr/>
        </p:nvSpPr>
        <p:spPr>
          <a:xfrm>
            <a:off x="457200" y="3017520"/>
            <a:ext cx="5440680" cy="27432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Selected episode, same initial state, WidowX</a:t>
            </a:r>
            <a:endParaRPr lang="en-US" sz="1050" dirty="0"/>
          </a:p>
        </p:txBody>
      </p:sp>
      <p:sp>
        <p:nvSpPr>
          <p:cNvPr id="15" name="Shape 13"/>
          <p:cNvSpPr/>
          <p:nvPr/>
        </p:nvSpPr>
        <p:spPr>
          <a:xfrm>
            <a:off x="6126480" y="960120"/>
            <a:ext cx="2560320" cy="2331720"/>
          </a:xfrm>
          <a:prstGeom prst="roundRect">
            <a:avLst>
              <a:gd name="adj" fmla="val 4706"/>
            </a:avLst>
          </a:prstGeom>
          <a:solidFill>
            <a:srgbClr val="F3F5F7"/>
          </a:solidFill>
          <a:ln w="9525">
            <a:solidFill>
              <a:srgbClr val="D9DEE3"/>
            </a:solidFill>
            <a:prstDash val="solid"/>
          </a:ln>
        </p:spPr>
      </p:sp>
      <p:sp>
        <p:nvSpPr>
          <p:cNvPr id="16" name="Text 14"/>
          <p:cNvSpPr txBox="1"/>
          <p:nvPr/>
        </p:nvSpPr>
        <p:spPr>
          <a:xfrm>
            <a:off x="6126480" y="1051560"/>
            <a:ext cx="2560320" cy="320040"/>
          </a:xfrm>
          <a:prstGeom prst="rect">
            <a:avLst/>
          </a:prstGeom>
          <a:noFill/>
          <a:ln/>
        </p:spPr>
        <p:txBody>
          <a:bodyPr wrap="square" lIns="0" tIns="0" rIns="0" bIns="0" rtlCol="0" anchor="ctr"/>
          <a:lstStyle/>
          <a:p>
            <a:pPr algn="ctr" indent="0" marL="0">
              <a:buNone/>
            </a:pPr>
            <a:r>
              <a:rPr lang="en-US" sz="1300" b="1" dirty="0">
                <a:solidFill>
                  <a:srgbClr val="1F2933"/>
                </a:solidFill>
                <a:latin typeface="Arial" pitchFamily="34" charset="0"/>
                <a:ea typeface="Arial" pitchFamily="34" charset="-122"/>
                <a:cs typeface="Arial" pitchFamily="34" charset="-120"/>
              </a:rPr>
              <a:t>Depth pruning, WidowX</a:t>
            </a:r>
            <a:endParaRPr lang="en-US" sz="1300" dirty="0"/>
          </a:p>
        </p:txBody>
      </p:sp>
      <p:sp>
        <p:nvSpPr>
          <p:cNvPr id="17" name="Shape 15"/>
          <p:cNvSpPr/>
          <p:nvPr/>
        </p:nvSpPr>
        <p:spPr>
          <a:xfrm>
            <a:off x="6309360" y="1463040"/>
            <a:ext cx="2194560" cy="457200"/>
          </a:xfrm>
          <a:prstGeom prst="roundRect">
            <a:avLst>
              <a:gd name="adj" fmla="val 20000"/>
            </a:avLst>
          </a:prstGeom>
          <a:solidFill>
            <a:srgbClr val="DFF1E6"/>
          </a:solidFill>
          <a:ln w="12700">
            <a:solidFill>
              <a:srgbClr val="DFF1E6"/>
            </a:solidFill>
            <a:prstDash val="solid"/>
          </a:ln>
        </p:spPr>
      </p:sp>
      <p:sp>
        <p:nvSpPr>
          <p:cNvPr id="18" name="Text 16"/>
          <p:cNvSpPr txBox="1"/>
          <p:nvPr/>
        </p:nvSpPr>
        <p:spPr>
          <a:xfrm>
            <a:off x="6309360" y="1463040"/>
            <a:ext cx="2194560" cy="457200"/>
          </a:xfrm>
          <a:prstGeom prst="rect">
            <a:avLst/>
          </a:prstGeom>
          <a:noFill/>
          <a:ln/>
        </p:spPr>
        <p:txBody>
          <a:bodyPr wrap="square" lIns="0" tIns="0" rIns="0" bIns="0" rtlCol="0" anchor="ctr"/>
          <a:lstStyle/>
          <a:p>
            <a:pPr algn="ctr" indent="0" marL="0">
              <a:buNone/>
            </a:pPr>
            <a:r>
              <a:rPr lang="en-US" sz="1400" b="1" dirty="0">
                <a:solidFill>
                  <a:srgbClr val="2E8B57"/>
                </a:solidFill>
                <a:latin typeface="Arial" pitchFamily="34" charset="0"/>
                <a:ea typeface="Arial" pitchFamily="34" charset="-122"/>
                <a:cs typeface="Arial" pitchFamily="34" charset="-120"/>
              </a:rPr>
              <a:t>CogACT  +9.5</a:t>
            </a:r>
            <a:endParaRPr lang="en-US" sz="1400" dirty="0"/>
          </a:p>
        </p:txBody>
      </p:sp>
      <p:sp>
        <p:nvSpPr>
          <p:cNvPr id="19" name="Shape 17"/>
          <p:cNvSpPr/>
          <p:nvPr/>
        </p:nvSpPr>
        <p:spPr>
          <a:xfrm>
            <a:off x="6309360" y="2011680"/>
            <a:ext cx="2194560" cy="457200"/>
          </a:xfrm>
          <a:prstGeom prst="roundRect">
            <a:avLst>
              <a:gd name="adj" fmla="val 20000"/>
            </a:avLst>
          </a:prstGeom>
          <a:solidFill>
            <a:srgbClr val="F6E0DD"/>
          </a:solidFill>
          <a:ln w="12700">
            <a:solidFill>
              <a:srgbClr val="F6E0DD"/>
            </a:solidFill>
            <a:prstDash val="solid"/>
          </a:ln>
        </p:spPr>
      </p:sp>
      <p:sp>
        <p:nvSpPr>
          <p:cNvPr id="20" name="Text 18"/>
          <p:cNvSpPr txBox="1"/>
          <p:nvPr/>
        </p:nvSpPr>
        <p:spPr>
          <a:xfrm>
            <a:off x="6309360" y="2011680"/>
            <a:ext cx="2194560" cy="457200"/>
          </a:xfrm>
          <a:prstGeom prst="rect">
            <a:avLst/>
          </a:prstGeom>
          <a:noFill/>
          <a:ln/>
        </p:spPr>
        <p:txBody>
          <a:bodyPr wrap="square" lIns="0" tIns="0" rIns="0" bIns="0" rtlCol="0" anchor="ctr"/>
          <a:lstStyle/>
          <a:p>
            <a:pPr algn="ctr" indent="0" marL="0">
              <a:buNone/>
            </a:pPr>
            <a:r>
              <a:rPr lang="en-US" sz="1400" b="1" dirty="0">
                <a:solidFill>
                  <a:srgbClr val="B03A2E"/>
                </a:solidFill>
                <a:latin typeface="Arial" pitchFamily="34" charset="0"/>
                <a:ea typeface="Arial" pitchFamily="34" charset="-122"/>
                <a:cs typeface="Arial" pitchFamily="34" charset="-120"/>
              </a:rPr>
              <a:t>MiniVLA  −17.5</a:t>
            </a:r>
            <a:endParaRPr lang="en-US" sz="1400" dirty="0"/>
          </a:p>
        </p:txBody>
      </p:sp>
      <p:sp>
        <p:nvSpPr>
          <p:cNvPr id="21" name="Shape 19"/>
          <p:cNvSpPr/>
          <p:nvPr/>
        </p:nvSpPr>
        <p:spPr>
          <a:xfrm>
            <a:off x="6309360" y="2560320"/>
            <a:ext cx="2194560" cy="457200"/>
          </a:xfrm>
          <a:prstGeom prst="roundRect">
            <a:avLst>
              <a:gd name="adj" fmla="val 20000"/>
            </a:avLst>
          </a:prstGeom>
          <a:solidFill>
            <a:srgbClr val="F6E0DD"/>
          </a:solidFill>
          <a:ln w="12700">
            <a:solidFill>
              <a:srgbClr val="F6E0DD"/>
            </a:solidFill>
            <a:prstDash val="solid"/>
          </a:ln>
        </p:spPr>
      </p:sp>
      <p:sp>
        <p:nvSpPr>
          <p:cNvPr id="22" name="Text 20"/>
          <p:cNvSpPr txBox="1"/>
          <p:nvPr/>
        </p:nvSpPr>
        <p:spPr>
          <a:xfrm>
            <a:off x="6309360" y="2560320"/>
            <a:ext cx="2194560" cy="457200"/>
          </a:xfrm>
          <a:prstGeom prst="rect">
            <a:avLst/>
          </a:prstGeom>
          <a:noFill/>
          <a:ln/>
        </p:spPr>
        <p:txBody>
          <a:bodyPr wrap="square" lIns="0" tIns="0" rIns="0" bIns="0" rtlCol="0" anchor="ctr"/>
          <a:lstStyle/>
          <a:p>
            <a:pPr algn="ctr" indent="0" marL="0">
              <a:buNone/>
            </a:pPr>
            <a:r>
              <a:rPr lang="en-US" sz="1400" b="1" dirty="0">
                <a:solidFill>
                  <a:srgbClr val="B03A2E"/>
                </a:solidFill>
                <a:latin typeface="Arial" pitchFamily="34" charset="0"/>
                <a:ea typeface="Arial" pitchFamily="34" charset="-122"/>
                <a:cs typeface="Arial" pitchFamily="34" charset="-120"/>
              </a:rPr>
              <a:t>SpatialVLA  −6.5</a:t>
            </a:r>
            <a:endParaRPr lang="en-US" sz="1400" dirty="0"/>
          </a:p>
        </p:txBody>
      </p:sp>
      <p:sp>
        <p:nvSpPr>
          <p:cNvPr id="23" name="Text 21"/>
          <p:cNvSpPr txBox="1"/>
          <p:nvPr/>
        </p:nvSpPr>
        <p:spPr>
          <a:xfrm>
            <a:off x="457200" y="3520440"/>
            <a:ext cx="8229600" cy="822960"/>
          </a:xfrm>
          <a:prstGeom prst="rect">
            <a:avLst/>
          </a:prstGeom>
          <a:noFill/>
          <a:ln/>
        </p:spPr>
        <p:txBody>
          <a:bodyPr wrap="square" lIns="0" tIns="0" rIns="0" bIns="0" rtlCol="0" anchor="ctr"/>
          <a:lstStyle/>
          <a:p>
            <a:pPr indent="0" marL="0">
              <a:buNone/>
            </a:pPr>
            <a:r>
              <a:rPr lang="en-US" sz="1500" dirty="0">
                <a:solidFill>
                  <a:srgbClr val="1F2933"/>
                </a:solidFill>
                <a:latin typeface="Arial" pitchFamily="34" charset="0"/>
                <a:ea typeface="Arial" pitchFamily="34" charset="-122"/>
                <a:cs typeface="Arial" pitchFamily="34" charset="-120"/>
              </a:rPr>
              <a:t>Structural redundancy is not a property of the trick alone. It depends on how each backbone uses its decoder layers during control.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12  ·  12s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1F2933"/>
                </a:solidFill>
                <a:latin typeface="Arial" pitchFamily="34" charset="0"/>
                <a:ea typeface="Arial" pitchFamily="34" charset="-122"/>
                <a:cs typeface="Arial" pitchFamily="34" charset="-120"/>
              </a:rPr>
              <a:t>RQ-2  Which tricks are actually faster?</a:t>
            </a:r>
            <a:endParaRPr lang="en-US" sz="2400" dirty="0"/>
          </a:p>
        </p:txBody>
      </p:sp>
      <p:pic>
        <p:nvPicPr>
          <p:cNvPr id="4" name="Image 0" descr="/tmp/claude-0/-home-user-BiVLA/4327cefa-ba5d-5e2e-9d87-c73dd3a8ccbb/scratchpad/video_ppt/assets/fig4_tradeoff_row.png">    </p:cNvPr>
          <p:cNvPicPr>
            <a:picLocks noChangeAspect="1"/>
          </p:cNvPicPr>
          <p:nvPr/>
        </p:nvPicPr>
        <p:blipFill>
          <a:blip r:embed="rId1"/>
          <a:stretch>
            <a:fillRect/>
          </a:stretch>
        </p:blipFill>
        <p:spPr>
          <a:xfrm>
            <a:off x="594360" y="868680"/>
            <a:ext cx="7955280" cy="2706624"/>
          </a:xfrm>
          <a:prstGeom prst="rect">
            <a:avLst/>
          </a:prstGeom>
        </p:spPr>
      </p:pic>
      <p:sp>
        <p:nvSpPr>
          <p:cNvPr id="5" name="Shape 2"/>
          <p:cNvSpPr/>
          <p:nvPr/>
        </p:nvSpPr>
        <p:spPr>
          <a:xfrm>
            <a:off x="457200" y="3703320"/>
            <a:ext cx="411480" cy="411480"/>
          </a:xfrm>
          <a:prstGeom prst="ellipse">
            <a:avLst/>
          </a:prstGeom>
          <a:solidFill>
            <a:srgbClr val="1B7F79"/>
          </a:solidFill>
          <a:ln w="12700">
            <a:solidFill>
              <a:srgbClr val="1B7F79"/>
            </a:solidFill>
            <a:prstDash val="solid"/>
          </a:ln>
        </p:spPr>
      </p:sp>
      <p:sp>
        <p:nvSpPr>
          <p:cNvPr id="6" name="Text 3"/>
          <p:cNvSpPr txBox="1"/>
          <p:nvPr/>
        </p:nvSpPr>
        <p:spPr>
          <a:xfrm>
            <a:off x="457200" y="370332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A-2</a:t>
            </a:r>
            <a:endParaRPr lang="en-US" sz="1100" dirty="0"/>
          </a:p>
        </p:txBody>
      </p:sp>
      <p:sp>
        <p:nvSpPr>
          <p:cNvPr id="7" name="Text 4"/>
          <p:cNvSpPr txBox="1"/>
          <p:nvPr/>
        </p:nvSpPr>
        <p:spPr>
          <a:xfrm>
            <a:off x="960120" y="3611880"/>
            <a:ext cx="3840480" cy="1097280"/>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Action repeat gives the largest speedup, depth pruning gives practical decoder-level savings, guarded reuse gives the safest trade-off.</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0" y="3611880"/>
          <a:ext cx="3657600" cy="914400"/>
        </p:xfrm>
        <a:graphic>
          <a:graphicData uri="http://schemas.openxmlformats.org/drawingml/2006/table">
            <a:tbl>
              <a:tblPr/>
              <a:tblGrid>
                <a:gridCol w="2286000"/>
                <a:gridCol w="1371600"/>
              </a:tblGrid>
              <a:tr h="219456">
                <a:tc>
                  <a:txBody>
                    <a:bodyPr/>
                    <a:lstStyle/>
                    <a:p>
                      <a:pPr indent="0" marL="0">
                        <a:buNone/>
                      </a:pPr>
                      <a:r>
                        <a:rPr lang="en-US" sz="950" b="1" dirty="0">
                          <a:solidFill>
                            <a:srgbClr val="FFFFFF"/>
                          </a:solidFill>
                          <a:latin typeface="Arial" pitchFamily="34" charset="0"/>
                          <a:ea typeface="Arial" pitchFamily="34" charset="-122"/>
                          <a:cs typeface="Arial" pitchFamily="34" charset="-120"/>
                        </a:rPr>
                        <a:t>Latency, ms per step</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Original → trick</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r>
              <a:tr h="219456">
                <a:tc>
                  <a:txBody>
                    <a:bodyPr/>
                    <a:lstStyle/>
                    <a:p>
                      <a:pPr indent="0" marL="0">
                        <a:buNone/>
                      </a:pPr>
                      <a:r>
                        <a:rPr lang="en-US" sz="950" dirty="0">
                          <a:solidFill>
                            <a:srgbClr val="1F2933"/>
                          </a:solidFill>
                          <a:latin typeface="Arial" pitchFamily="34" charset="0"/>
                          <a:ea typeface="Arial" pitchFamily="34" charset="-122"/>
                          <a:cs typeface="Arial" pitchFamily="34" charset="-120"/>
                        </a:rPr>
                        <a:t>Repeat · SpatialVLA WidowX</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950" b="1" dirty="0">
                          <a:solidFill>
                            <a:srgbClr val="C8641E"/>
                          </a:solidFill>
                          <a:latin typeface="Arial" pitchFamily="34" charset="0"/>
                          <a:ea typeface="Arial" pitchFamily="34" charset="-122"/>
                          <a:cs typeface="Arial" pitchFamily="34" charset="-120"/>
                        </a:rPr>
                        <a:t>423.5 → 235.1</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19456">
                <a:tc>
                  <a:txBody>
                    <a:bodyPr/>
                    <a:lstStyle/>
                    <a:p>
                      <a:pPr indent="0" marL="0">
                        <a:buNone/>
                      </a:pPr>
                      <a:r>
                        <a:rPr lang="en-US" sz="950" dirty="0">
                          <a:solidFill>
                            <a:srgbClr val="1F2933"/>
                          </a:solidFill>
                          <a:latin typeface="Arial" pitchFamily="34" charset="0"/>
                          <a:ea typeface="Arial" pitchFamily="34" charset="-122"/>
                          <a:cs typeface="Arial" pitchFamily="34" charset="-120"/>
                        </a:rPr>
                        <a:t>Repeat · OpenVLA LIBERO Long</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950" b="1" dirty="0">
                          <a:solidFill>
                            <a:srgbClr val="C8641E"/>
                          </a:solidFill>
                          <a:latin typeface="Arial" pitchFamily="34" charset="0"/>
                          <a:ea typeface="Arial" pitchFamily="34" charset="-122"/>
                          <a:cs typeface="Arial" pitchFamily="34" charset="-120"/>
                        </a:rPr>
                        <a:t>171.6 → 93.2</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19456">
                <a:tc>
                  <a:txBody>
                    <a:bodyPr/>
                    <a:lstStyle/>
                    <a:p>
                      <a:pPr indent="0" marL="0">
                        <a:buNone/>
                      </a:pPr>
                      <a:r>
                        <a:rPr lang="en-US" sz="950" dirty="0">
                          <a:solidFill>
                            <a:srgbClr val="1F2933"/>
                          </a:solidFill>
                          <a:latin typeface="Arial" pitchFamily="34" charset="0"/>
                          <a:ea typeface="Arial" pitchFamily="34" charset="-122"/>
                          <a:cs typeface="Arial" pitchFamily="34" charset="-120"/>
                        </a:rPr>
                        <a:t>Pruning · OpenVLA WidowX</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950" b="1" dirty="0">
                          <a:solidFill>
                            <a:srgbClr val="1B7F79"/>
                          </a:solidFill>
                          <a:latin typeface="Arial" pitchFamily="34" charset="0"/>
                          <a:ea typeface="Arial" pitchFamily="34" charset="-122"/>
                          <a:cs typeface="Arial" pitchFamily="34" charset="-120"/>
                        </a:rPr>
                        <a:t>210.2 → 199.4</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19456">
                <a:tc>
                  <a:txBody>
                    <a:bodyPr/>
                    <a:lstStyle/>
                    <a:p>
                      <a:pPr indent="0" marL="0">
                        <a:buNone/>
                      </a:pPr>
                      <a:r>
                        <a:rPr lang="en-US" sz="950" dirty="0">
                          <a:solidFill>
                            <a:srgbClr val="1F2933"/>
                          </a:solidFill>
                          <a:latin typeface="Arial" pitchFamily="34" charset="0"/>
                          <a:ea typeface="Arial" pitchFamily="34" charset="-122"/>
                          <a:cs typeface="Arial" pitchFamily="34" charset="-120"/>
                        </a:rPr>
                        <a:t>Reuse · SmolVLA LIBERO Long</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950" b="1" dirty="0">
                          <a:solidFill>
                            <a:srgbClr val="1B7F79"/>
                          </a:solidFill>
                          <a:latin typeface="Arial" pitchFamily="34" charset="0"/>
                          <a:ea typeface="Arial" pitchFamily="34" charset="-122"/>
                          <a:cs typeface="Arial" pitchFamily="34" charset="-120"/>
                        </a:rPr>
                        <a:t>289.5 → 268.9</a:t>
                      </a:r>
                      <a:endParaRPr lang="en-US" sz="95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13  ·  14s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1F2933"/>
                </a:solidFill>
                <a:latin typeface="Arial" pitchFamily="34" charset="0"/>
                <a:ea typeface="Arial" pitchFamily="34" charset="-122"/>
                <a:cs typeface="Arial" pitchFamily="34" charset="-120"/>
              </a:rPr>
              <a:t>Open loop has a cost, gating keeps it safe</a:t>
            </a:r>
            <a:endParaRPr lang="en-US" sz="2400" dirty="0"/>
          </a:p>
        </p:txBody>
      </p:sp>
      <p:sp>
        <p:nvSpPr>
          <p:cNvPr id="4" name="Shape 2"/>
          <p:cNvSpPr/>
          <p:nvPr/>
        </p:nvSpPr>
        <p:spPr>
          <a:xfrm>
            <a:off x="457200" y="960120"/>
            <a:ext cx="2651760" cy="1965960"/>
          </a:xfrm>
          <a:prstGeom prst="roundRect">
            <a:avLst>
              <a:gd name="adj" fmla="val 3721"/>
            </a:avLst>
          </a:prstGeom>
          <a:solidFill>
            <a:srgbClr val="2A2F3A"/>
          </a:solidFill>
          <a:ln w="12700">
            <a:solidFill>
              <a:srgbClr val="8A94A6"/>
            </a:solidFill>
            <a:prstDash val="dash"/>
          </a:ln>
        </p:spPr>
      </p:sp>
      <p:sp>
        <p:nvSpPr>
          <p:cNvPr id="5" name="Shape 3"/>
          <p:cNvSpPr/>
          <p:nvPr/>
        </p:nvSpPr>
        <p:spPr>
          <a:xfrm>
            <a:off x="1508760" y="1559052"/>
            <a:ext cx="548640" cy="548640"/>
          </a:xfrm>
          <a:prstGeom prst="ellipse">
            <a:avLst/>
          </a:prstGeom>
          <a:solidFill>
            <a:srgbClr val="FFFFFF"/>
          </a:solidFill>
          <a:ln w="12700">
            <a:solidFill>
              <a:srgbClr val="FFFFFF"/>
            </a:solidFill>
            <a:prstDash val="solid"/>
          </a:ln>
        </p:spPr>
      </p:sp>
      <p:sp>
        <p:nvSpPr>
          <p:cNvPr id="6" name="Shape 4"/>
          <p:cNvSpPr/>
          <p:nvPr/>
        </p:nvSpPr>
        <p:spPr>
          <a:xfrm rot="5400000">
            <a:off x="1700784" y="1677924"/>
            <a:ext cx="219456" cy="310896"/>
          </a:xfrm>
          <a:prstGeom prst="triangle">
            <a:avLst/>
          </a:prstGeom>
          <a:solidFill>
            <a:srgbClr val="2A2F3A"/>
          </a:solidFill>
          <a:ln w="12700">
            <a:solidFill>
              <a:srgbClr val="2A2F3A"/>
            </a:solidFill>
            <a:prstDash val="solid"/>
          </a:ln>
        </p:spPr>
      </p:sp>
      <p:sp>
        <p:nvSpPr>
          <p:cNvPr id="7" name="Text 5"/>
          <p:cNvSpPr txBox="1"/>
          <p:nvPr/>
        </p:nvSpPr>
        <p:spPr>
          <a:xfrm>
            <a:off x="548640" y="217170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a:t>
            </a:r>
            <a:endParaRPr lang="en-US" sz="1200" dirty="0"/>
          </a:p>
        </p:txBody>
      </p:sp>
      <p:sp>
        <p:nvSpPr>
          <p:cNvPr id="8" name="Text 6"/>
          <p:cNvSpPr txBox="1"/>
          <p:nvPr/>
        </p:nvSpPr>
        <p:spPr>
          <a:xfrm>
            <a:off x="548640" y="241858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policy call every step</a:t>
            </a:r>
            <a:endParaRPr lang="en-US" sz="950" dirty="0"/>
          </a:p>
        </p:txBody>
      </p:sp>
      <p:sp>
        <p:nvSpPr>
          <p:cNvPr id="9" name="Text 7"/>
          <p:cNvSpPr txBox="1"/>
          <p:nvPr/>
        </p:nvSpPr>
        <p:spPr>
          <a:xfrm>
            <a:off x="457200" y="2971800"/>
            <a:ext cx="2651760" cy="274320"/>
          </a:xfrm>
          <a:prstGeom prst="rect">
            <a:avLst/>
          </a:prstGeom>
          <a:noFill/>
          <a:ln/>
        </p:spPr>
        <p:txBody>
          <a:bodyPr wrap="square" lIns="0" tIns="0" rIns="0" bIns="0" rtlCol="0" anchor="t"/>
          <a:lstStyle/>
          <a:p>
            <a:pPr algn="ctr" indent="0" marL="0">
              <a:buNone/>
            </a:pPr>
            <a:r>
              <a:rPr lang="en-US" sz="1000" dirty="0">
                <a:solidFill>
                  <a:srgbClr val="5F6B7A"/>
                </a:solidFill>
                <a:latin typeface="Arial" pitchFamily="34" charset="0"/>
                <a:ea typeface="Arial" pitchFamily="34" charset="-122"/>
                <a:cs typeface="Arial" pitchFamily="34" charset="-120"/>
              </a:rPr>
              <a:t>policy calls used: ___</a:t>
            </a:r>
            <a:endParaRPr lang="en-US" sz="1000" dirty="0"/>
          </a:p>
        </p:txBody>
      </p:sp>
      <p:sp>
        <p:nvSpPr>
          <p:cNvPr id="10" name="Shape 8"/>
          <p:cNvSpPr/>
          <p:nvPr/>
        </p:nvSpPr>
        <p:spPr>
          <a:xfrm>
            <a:off x="3246120" y="960120"/>
            <a:ext cx="2651760" cy="1965960"/>
          </a:xfrm>
          <a:prstGeom prst="roundRect">
            <a:avLst>
              <a:gd name="adj" fmla="val 3721"/>
            </a:avLst>
          </a:prstGeom>
          <a:solidFill>
            <a:srgbClr val="2A2F3A"/>
          </a:solidFill>
          <a:ln w="12700">
            <a:solidFill>
              <a:srgbClr val="8A94A6"/>
            </a:solidFill>
            <a:prstDash val="dash"/>
          </a:ln>
        </p:spPr>
      </p:sp>
      <p:sp>
        <p:nvSpPr>
          <p:cNvPr id="11" name="Shape 9"/>
          <p:cNvSpPr/>
          <p:nvPr/>
        </p:nvSpPr>
        <p:spPr>
          <a:xfrm>
            <a:off x="4297680" y="1559052"/>
            <a:ext cx="548640" cy="548640"/>
          </a:xfrm>
          <a:prstGeom prst="ellipse">
            <a:avLst/>
          </a:prstGeom>
          <a:solidFill>
            <a:srgbClr val="FFFFFF"/>
          </a:solidFill>
          <a:ln w="12700">
            <a:solidFill>
              <a:srgbClr val="FFFFFF"/>
            </a:solidFill>
            <a:prstDash val="solid"/>
          </a:ln>
        </p:spPr>
      </p:sp>
      <p:sp>
        <p:nvSpPr>
          <p:cNvPr id="12" name="Shape 10"/>
          <p:cNvSpPr/>
          <p:nvPr/>
        </p:nvSpPr>
        <p:spPr>
          <a:xfrm rot="5400000">
            <a:off x="4489704" y="1677924"/>
            <a:ext cx="219456" cy="310896"/>
          </a:xfrm>
          <a:prstGeom prst="triangle">
            <a:avLst/>
          </a:prstGeom>
          <a:solidFill>
            <a:srgbClr val="2A2F3A"/>
          </a:solidFill>
          <a:ln w="12700">
            <a:solidFill>
              <a:srgbClr val="2A2F3A"/>
            </a:solidFill>
            <a:prstDash val="solid"/>
          </a:ln>
        </p:spPr>
      </p:sp>
      <p:sp>
        <p:nvSpPr>
          <p:cNvPr id="13" name="Text 11"/>
          <p:cNvSpPr txBox="1"/>
          <p:nvPr/>
        </p:nvSpPr>
        <p:spPr>
          <a:xfrm>
            <a:off x="3337560" y="217170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Action repeat k = 4</a:t>
            </a:r>
            <a:endParaRPr lang="en-US" sz="1200" dirty="0"/>
          </a:p>
        </p:txBody>
      </p:sp>
      <p:sp>
        <p:nvSpPr>
          <p:cNvPr id="14" name="Text 12"/>
          <p:cNvSpPr txBox="1"/>
          <p:nvPr/>
        </p:nvSpPr>
        <p:spPr>
          <a:xfrm>
            <a:off x="3337560" y="241858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held actions, episode fails</a:t>
            </a:r>
            <a:endParaRPr lang="en-US" sz="950" dirty="0"/>
          </a:p>
        </p:txBody>
      </p:sp>
      <p:sp>
        <p:nvSpPr>
          <p:cNvPr id="15" name="Text 13"/>
          <p:cNvSpPr txBox="1"/>
          <p:nvPr/>
        </p:nvSpPr>
        <p:spPr>
          <a:xfrm>
            <a:off x="3246120" y="2971800"/>
            <a:ext cx="2651760" cy="274320"/>
          </a:xfrm>
          <a:prstGeom prst="rect">
            <a:avLst/>
          </a:prstGeom>
          <a:noFill/>
          <a:ln/>
        </p:spPr>
        <p:txBody>
          <a:bodyPr wrap="square" lIns="0" tIns="0" rIns="0" bIns="0" rtlCol="0" anchor="t"/>
          <a:lstStyle/>
          <a:p>
            <a:pPr algn="ctr" indent="0" marL="0">
              <a:buNone/>
            </a:pPr>
            <a:r>
              <a:rPr lang="en-US" sz="1000" dirty="0">
                <a:solidFill>
                  <a:srgbClr val="5F6B7A"/>
                </a:solidFill>
                <a:latin typeface="Arial" pitchFamily="34" charset="0"/>
                <a:ea typeface="Arial" pitchFamily="34" charset="-122"/>
                <a:cs typeface="Arial" pitchFamily="34" charset="-120"/>
              </a:rPr>
              <a:t>policy calls used: ___</a:t>
            </a:r>
            <a:endParaRPr lang="en-US" sz="1000" dirty="0"/>
          </a:p>
        </p:txBody>
      </p:sp>
      <p:sp>
        <p:nvSpPr>
          <p:cNvPr id="16" name="Shape 14"/>
          <p:cNvSpPr/>
          <p:nvPr/>
        </p:nvSpPr>
        <p:spPr>
          <a:xfrm>
            <a:off x="6035040" y="960120"/>
            <a:ext cx="2651760" cy="1965960"/>
          </a:xfrm>
          <a:prstGeom prst="roundRect">
            <a:avLst>
              <a:gd name="adj" fmla="val 3721"/>
            </a:avLst>
          </a:prstGeom>
          <a:solidFill>
            <a:srgbClr val="2A2F3A"/>
          </a:solidFill>
          <a:ln w="12700">
            <a:solidFill>
              <a:srgbClr val="8A94A6"/>
            </a:solidFill>
            <a:prstDash val="dash"/>
          </a:ln>
        </p:spPr>
      </p:sp>
      <p:sp>
        <p:nvSpPr>
          <p:cNvPr id="17" name="Shape 15"/>
          <p:cNvSpPr/>
          <p:nvPr/>
        </p:nvSpPr>
        <p:spPr>
          <a:xfrm>
            <a:off x="7086600" y="1559052"/>
            <a:ext cx="548640" cy="548640"/>
          </a:xfrm>
          <a:prstGeom prst="ellipse">
            <a:avLst/>
          </a:prstGeom>
          <a:solidFill>
            <a:srgbClr val="FFFFFF"/>
          </a:solidFill>
          <a:ln w="12700">
            <a:solidFill>
              <a:srgbClr val="FFFFFF"/>
            </a:solidFill>
            <a:prstDash val="solid"/>
          </a:ln>
        </p:spPr>
      </p:sp>
      <p:sp>
        <p:nvSpPr>
          <p:cNvPr id="18" name="Shape 16"/>
          <p:cNvSpPr/>
          <p:nvPr/>
        </p:nvSpPr>
        <p:spPr>
          <a:xfrm rot="5400000">
            <a:off x="7278624" y="1677924"/>
            <a:ext cx="219456" cy="310896"/>
          </a:xfrm>
          <a:prstGeom prst="triangle">
            <a:avLst/>
          </a:prstGeom>
          <a:solidFill>
            <a:srgbClr val="2A2F3A"/>
          </a:solidFill>
          <a:ln w="12700">
            <a:solidFill>
              <a:srgbClr val="2A2F3A"/>
            </a:solidFill>
            <a:prstDash val="solid"/>
          </a:ln>
        </p:spPr>
      </p:sp>
      <p:sp>
        <p:nvSpPr>
          <p:cNvPr id="19" name="Text 17"/>
          <p:cNvSpPr txBox="1"/>
          <p:nvPr/>
        </p:nvSpPr>
        <p:spPr>
          <a:xfrm>
            <a:off x="6126480" y="217170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Guarded reuse</a:t>
            </a:r>
            <a:endParaRPr lang="en-US" sz="1200" dirty="0"/>
          </a:p>
        </p:txBody>
      </p:sp>
      <p:sp>
        <p:nvSpPr>
          <p:cNvPr id="20" name="Text 18"/>
          <p:cNvSpPr txBox="1"/>
          <p:nvPr/>
        </p:nvSpPr>
        <p:spPr>
          <a:xfrm>
            <a:off x="6126480" y="241858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gates shown, calls skipped only when they pass</a:t>
            </a:r>
            <a:endParaRPr lang="en-US" sz="950" dirty="0"/>
          </a:p>
        </p:txBody>
      </p:sp>
      <p:sp>
        <p:nvSpPr>
          <p:cNvPr id="21" name="Text 19"/>
          <p:cNvSpPr txBox="1"/>
          <p:nvPr/>
        </p:nvSpPr>
        <p:spPr>
          <a:xfrm>
            <a:off x="6035040" y="2971800"/>
            <a:ext cx="2651760" cy="274320"/>
          </a:xfrm>
          <a:prstGeom prst="rect">
            <a:avLst/>
          </a:prstGeom>
          <a:noFill/>
          <a:ln/>
        </p:spPr>
        <p:txBody>
          <a:bodyPr wrap="square" lIns="0" tIns="0" rIns="0" bIns="0" rtlCol="0" anchor="t"/>
          <a:lstStyle/>
          <a:p>
            <a:pPr algn="ctr" indent="0" marL="0">
              <a:buNone/>
            </a:pPr>
            <a:r>
              <a:rPr lang="en-US" sz="1000" dirty="0">
                <a:solidFill>
                  <a:srgbClr val="5F6B7A"/>
                </a:solidFill>
                <a:latin typeface="Arial" pitchFamily="34" charset="0"/>
                <a:ea typeface="Arial" pitchFamily="34" charset="-122"/>
                <a:cs typeface="Arial" pitchFamily="34" charset="-120"/>
              </a:rPr>
              <a:t>policy calls used: ___</a:t>
            </a:r>
            <a:endParaRPr lang="en-US" sz="1000" dirty="0"/>
          </a:p>
        </p:txBody>
      </p:sp>
      <p:sp>
        <p:nvSpPr>
          <p:cNvPr id="22" name="Shape 20"/>
          <p:cNvSpPr/>
          <p:nvPr/>
        </p:nvSpPr>
        <p:spPr>
          <a:xfrm>
            <a:off x="457200" y="3383280"/>
            <a:ext cx="4023360" cy="457200"/>
          </a:xfrm>
          <a:prstGeom prst="roundRect">
            <a:avLst>
              <a:gd name="adj" fmla="val 20000"/>
            </a:avLst>
          </a:prstGeom>
          <a:solidFill>
            <a:srgbClr val="F6E0DD"/>
          </a:solidFill>
          <a:ln w="12700">
            <a:solidFill>
              <a:srgbClr val="F6E0DD"/>
            </a:solidFill>
            <a:prstDash val="solid"/>
          </a:ln>
        </p:spPr>
      </p:sp>
      <p:sp>
        <p:nvSpPr>
          <p:cNvPr id="23" name="Text 21"/>
          <p:cNvSpPr txBox="1"/>
          <p:nvPr/>
        </p:nvSpPr>
        <p:spPr>
          <a:xfrm>
            <a:off x="457200" y="3383280"/>
            <a:ext cx="4023360" cy="457200"/>
          </a:xfrm>
          <a:prstGeom prst="rect">
            <a:avLst/>
          </a:prstGeom>
          <a:noFill/>
          <a:ln/>
        </p:spPr>
        <p:txBody>
          <a:bodyPr wrap="square" lIns="0" tIns="0" rIns="0" bIns="0" rtlCol="0" anchor="ctr"/>
          <a:lstStyle/>
          <a:p>
            <a:pPr algn="ctr" indent="0" marL="0">
              <a:buNone/>
            </a:pPr>
            <a:r>
              <a:rPr lang="en-US" sz="1100" b="1" dirty="0">
                <a:solidFill>
                  <a:srgbClr val="B03A2E"/>
                </a:solidFill>
                <a:latin typeface="Arial" pitchFamily="34" charset="0"/>
                <a:ea typeface="Arial" pitchFamily="34" charset="-122"/>
                <a:cs typeface="Arial" pitchFamily="34" charset="-120"/>
              </a:rPr>
              <a:t>Action repeat, WidowX: CogACT −38.0 · UniVLA −75.0</a:t>
            </a:r>
            <a:endParaRPr lang="en-US" sz="1100" dirty="0"/>
          </a:p>
        </p:txBody>
      </p:sp>
      <p:sp>
        <p:nvSpPr>
          <p:cNvPr id="24" name="Shape 22"/>
          <p:cNvSpPr/>
          <p:nvPr/>
        </p:nvSpPr>
        <p:spPr>
          <a:xfrm>
            <a:off x="457200" y="3931920"/>
            <a:ext cx="4023360" cy="457200"/>
          </a:xfrm>
          <a:prstGeom prst="roundRect">
            <a:avLst>
              <a:gd name="adj" fmla="val 20000"/>
            </a:avLst>
          </a:prstGeom>
          <a:solidFill>
            <a:srgbClr val="F3F5F7"/>
          </a:solidFill>
          <a:ln w="12700">
            <a:solidFill>
              <a:srgbClr val="F3F5F7"/>
            </a:solidFill>
            <a:prstDash val="solid"/>
          </a:ln>
        </p:spPr>
      </p:sp>
      <p:sp>
        <p:nvSpPr>
          <p:cNvPr id="25" name="Text 23"/>
          <p:cNvSpPr txBox="1"/>
          <p:nvPr/>
        </p:nvSpPr>
        <p:spPr>
          <a:xfrm>
            <a:off x="457200" y="3931920"/>
            <a:ext cx="4023360" cy="457200"/>
          </a:xfrm>
          <a:prstGeom prst="rect">
            <a:avLst/>
          </a:prstGeom>
          <a:noFill/>
          <a:ln/>
        </p:spPr>
        <p:txBody>
          <a:bodyPr wrap="square" lIns="0" tIns="0" rIns="0" bIns="0" rtlCol="0" anchor="ctr"/>
          <a:lstStyle/>
          <a:p>
            <a:pPr algn="ctr" indent="0" marL="0">
              <a:buNone/>
            </a:pPr>
            <a:r>
              <a:rPr lang="en-US" sz="1100" b="1" dirty="0">
                <a:solidFill>
                  <a:srgbClr val="1F2933"/>
                </a:solidFill>
                <a:latin typeface="Arial" pitchFamily="34" charset="0"/>
                <a:ea typeface="Arial" pitchFamily="34" charset="-122"/>
                <a:cs typeface="Arial" pitchFamily="34" charset="-120"/>
              </a:rPr>
              <a:t>Fractal, some backbones: CogACT −1.2 · SpatialVLA 0.0</a:t>
            </a:r>
            <a:endParaRPr lang="en-US" sz="1100" dirty="0"/>
          </a:p>
        </p:txBody>
      </p:sp>
      <p:sp>
        <p:nvSpPr>
          <p:cNvPr id="26" name="Shape 24"/>
          <p:cNvSpPr/>
          <p:nvPr/>
        </p:nvSpPr>
        <p:spPr>
          <a:xfrm>
            <a:off x="4663440" y="3383280"/>
            <a:ext cx="4023360" cy="457200"/>
          </a:xfrm>
          <a:prstGeom prst="roundRect">
            <a:avLst>
              <a:gd name="adj" fmla="val 20000"/>
            </a:avLst>
          </a:prstGeom>
          <a:solidFill>
            <a:srgbClr val="DDEFEC"/>
          </a:solidFill>
          <a:ln w="12700">
            <a:solidFill>
              <a:srgbClr val="DDEFEC"/>
            </a:solidFill>
            <a:prstDash val="solid"/>
          </a:ln>
        </p:spPr>
      </p:sp>
      <p:sp>
        <p:nvSpPr>
          <p:cNvPr id="27" name="Text 25"/>
          <p:cNvSpPr txBox="1"/>
          <p:nvPr/>
        </p:nvSpPr>
        <p:spPr>
          <a:xfrm>
            <a:off x="4663440" y="3383280"/>
            <a:ext cx="4023360" cy="457200"/>
          </a:xfrm>
          <a:prstGeom prst="rect">
            <a:avLst/>
          </a:prstGeom>
          <a:noFill/>
          <a:ln/>
        </p:spPr>
        <p:txBody>
          <a:bodyPr wrap="square" lIns="0" tIns="0" rIns="0" bIns="0" rtlCol="0" anchor="ctr"/>
          <a:lstStyle/>
          <a:p>
            <a:pPr algn="ctr" indent="0" marL="0">
              <a:buNone/>
            </a:pPr>
            <a:r>
              <a:rPr lang="en-US" sz="1100" b="1" dirty="0">
                <a:solidFill>
                  <a:srgbClr val="1B7F79"/>
                </a:solidFill>
                <a:latin typeface="Arial" pitchFamily="34" charset="0"/>
                <a:ea typeface="Arial" pitchFamily="34" charset="-122"/>
                <a:cs typeface="Arial" pitchFamily="34" charset="-120"/>
              </a:rPr>
              <a:t>Guarded reuse, SmolVLA LIBERO Long: 289.5 → 268.9 ms</a:t>
            </a:r>
            <a:endParaRPr lang="en-US" sz="1100" dirty="0"/>
          </a:p>
        </p:txBody>
      </p:sp>
      <p:sp>
        <p:nvSpPr>
          <p:cNvPr id="28" name="Shape 26"/>
          <p:cNvSpPr/>
          <p:nvPr/>
        </p:nvSpPr>
        <p:spPr>
          <a:xfrm>
            <a:off x="4663440" y="3931920"/>
            <a:ext cx="4023360" cy="457200"/>
          </a:xfrm>
          <a:prstGeom prst="roundRect">
            <a:avLst>
              <a:gd name="adj" fmla="val 20000"/>
            </a:avLst>
          </a:prstGeom>
          <a:solidFill>
            <a:srgbClr val="DFF1E6"/>
          </a:solidFill>
          <a:ln w="12700">
            <a:solidFill>
              <a:srgbClr val="DFF1E6"/>
            </a:solidFill>
            <a:prstDash val="solid"/>
          </a:ln>
        </p:spPr>
      </p:sp>
      <p:sp>
        <p:nvSpPr>
          <p:cNvPr id="29" name="Text 27"/>
          <p:cNvSpPr txBox="1"/>
          <p:nvPr/>
        </p:nvSpPr>
        <p:spPr>
          <a:xfrm>
            <a:off x="4663440" y="3931920"/>
            <a:ext cx="4023360" cy="457200"/>
          </a:xfrm>
          <a:prstGeom prst="rect">
            <a:avLst/>
          </a:prstGeom>
          <a:noFill/>
          <a:ln/>
        </p:spPr>
        <p:txBody>
          <a:bodyPr wrap="square" lIns="0" tIns="0" rIns="0" bIns="0" rtlCol="0" anchor="ctr"/>
          <a:lstStyle/>
          <a:p>
            <a:pPr algn="ctr" indent="0" marL="0">
              <a:buNone/>
            </a:pPr>
            <a:r>
              <a:rPr lang="en-US" sz="1100" b="1" dirty="0">
                <a:solidFill>
                  <a:srgbClr val="2E8B57"/>
                </a:solidFill>
                <a:latin typeface="Arial" pitchFamily="34" charset="0"/>
                <a:ea typeface="Arial" pitchFamily="34" charset="-122"/>
                <a:cs typeface="Arial" pitchFamily="34" charset="-120"/>
              </a:rPr>
              <a:t>success unchanged at 42.0 %</a:t>
            </a:r>
            <a:endParaRPr lang="en-US" sz="1100" dirty="0"/>
          </a:p>
        </p:txBody>
      </p:sp>
      <p:sp>
        <p:nvSpPr>
          <p:cNvPr id="30" name="Text 28"/>
          <p:cNvSpPr txBox="1"/>
          <p:nvPr/>
        </p:nvSpPr>
        <p:spPr>
          <a:xfrm>
            <a:off x="457200" y="4434840"/>
            <a:ext cx="8229600" cy="27432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Same CogACT WidowX episode and initial state in all three panels. Deltas from Tables I and II, best setting per trick.</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14  ·  12s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1F2933"/>
                </a:solidFill>
                <a:latin typeface="Arial" pitchFamily="34" charset="0"/>
                <a:ea typeface="Arial" pitchFamily="34" charset="-122"/>
                <a:cs typeface="Arial" pitchFamily="34" charset="-120"/>
              </a:rPr>
              <a:t>RQ-3  Does the effect transfer across models?</a:t>
            </a:r>
            <a:endParaRPr lang="en-US" sz="2400" dirty="0"/>
          </a:p>
        </p:txBody>
      </p:sp>
      <p:pic>
        <p:nvPicPr>
          <p:cNvPr id="4" name="Image 0" descr="/tmp/claude-0/-home-user-BiVLA/4327cefa-ba5d-5e2e-9d87-c73dd3a8ccbb/scratchpad/video_ppt/assets/consistency.png">    </p:cNvPr>
          <p:cNvPicPr>
            <a:picLocks noChangeAspect="1"/>
          </p:cNvPicPr>
          <p:nvPr/>
        </p:nvPicPr>
        <p:blipFill>
          <a:blip r:embed="rId1"/>
          <a:stretch>
            <a:fillRect/>
          </a:stretch>
        </p:blipFill>
        <p:spPr>
          <a:xfrm>
            <a:off x="457200" y="914400"/>
            <a:ext cx="5120640" cy="2523744"/>
          </a:xfrm>
          <a:prstGeom prst="rect">
            <a:avLst/>
          </a:prstGeom>
        </p:spPr>
      </p:pic>
      <p:sp>
        <p:nvSpPr>
          <p:cNvPr id="5" name="Text 2"/>
          <p:cNvSpPr txBox="1"/>
          <p:nvPr/>
        </p:nvSpPr>
        <p:spPr>
          <a:xfrm>
            <a:off x="457200" y="3474720"/>
            <a:ext cx="5120640" cy="45720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For each setting: how many of 13 backbone and environment pairs got lower, unchanged, or higher success (LIBERO suites pooled, so 13 stand for the 22 pairs).</a:t>
            </a:r>
            <a:endParaRPr lang="en-US" sz="1000" dirty="0"/>
          </a:p>
        </p:txBody>
      </p:sp>
      <p:sp>
        <p:nvSpPr>
          <p:cNvPr id="6" name="Shape 3"/>
          <p:cNvSpPr/>
          <p:nvPr/>
        </p:nvSpPr>
        <p:spPr>
          <a:xfrm>
            <a:off x="5852160" y="1005840"/>
            <a:ext cx="457200" cy="457200"/>
          </a:xfrm>
          <a:prstGeom prst="ellipse">
            <a:avLst/>
          </a:prstGeom>
          <a:solidFill>
            <a:srgbClr val="1B7F79"/>
          </a:solidFill>
          <a:ln w="12700">
            <a:solidFill>
              <a:srgbClr val="1B7F79"/>
            </a:solidFill>
            <a:prstDash val="solid"/>
          </a:ln>
        </p:spPr>
      </p:sp>
      <p:sp>
        <p:nvSpPr>
          <p:cNvPr id="7" name="Text 4"/>
          <p:cNvSpPr txBox="1"/>
          <p:nvPr/>
        </p:nvSpPr>
        <p:spPr>
          <a:xfrm>
            <a:off x="5852160" y="1005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A-3</a:t>
            </a:r>
            <a:endParaRPr lang="en-US" sz="1200" dirty="0"/>
          </a:p>
        </p:txBody>
      </p:sp>
      <p:sp>
        <p:nvSpPr>
          <p:cNvPr id="8" name="Text 5"/>
          <p:cNvSpPr txBox="1"/>
          <p:nvPr/>
        </p:nvSpPr>
        <p:spPr>
          <a:xfrm>
            <a:off x="6400800" y="960120"/>
            <a:ext cx="2286000" cy="82296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Effects are a joint property of the trick, the backbone, and the task distribution.</a:t>
            </a:r>
            <a:endParaRPr lang="en-US" sz="1300" dirty="0"/>
          </a:p>
        </p:txBody>
      </p:sp>
      <p:sp>
        <p:nvSpPr>
          <p:cNvPr id="9" name="Shape 6"/>
          <p:cNvSpPr/>
          <p:nvPr/>
        </p:nvSpPr>
        <p:spPr>
          <a:xfrm>
            <a:off x="5852160" y="1965960"/>
            <a:ext cx="2834640" cy="502920"/>
          </a:xfrm>
          <a:prstGeom prst="roundRect">
            <a:avLst>
              <a:gd name="adj" fmla="val 18182"/>
            </a:avLst>
          </a:prstGeom>
          <a:solidFill>
            <a:srgbClr val="F9E6D8"/>
          </a:solidFill>
          <a:ln w="12700">
            <a:solidFill>
              <a:srgbClr val="F9E6D8"/>
            </a:solidFill>
            <a:prstDash val="solid"/>
          </a:ln>
        </p:spPr>
      </p:sp>
      <p:sp>
        <p:nvSpPr>
          <p:cNvPr id="10" name="Text 7"/>
          <p:cNvSpPr txBox="1"/>
          <p:nvPr/>
        </p:nvSpPr>
        <p:spPr>
          <a:xfrm>
            <a:off x="5852160" y="1965960"/>
            <a:ext cx="2834640" cy="502920"/>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Depth pruning, WidowX: CogACT +9.5 · MiniVLA −17.5</a:t>
            </a:r>
            <a:endParaRPr lang="en-US" sz="1050" dirty="0"/>
          </a:p>
        </p:txBody>
      </p:sp>
      <p:sp>
        <p:nvSpPr>
          <p:cNvPr id="11" name="Shape 8"/>
          <p:cNvSpPr/>
          <p:nvPr/>
        </p:nvSpPr>
        <p:spPr>
          <a:xfrm>
            <a:off x="5852160" y="2560320"/>
            <a:ext cx="2834640" cy="502920"/>
          </a:xfrm>
          <a:prstGeom prst="roundRect">
            <a:avLst>
              <a:gd name="adj" fmla="val 18182"/>
            </a:avLst>
          </a:prstGeom>
          <a:solidFill>
            <a:srgbClr val="F9E6D8"/>
          </a:solidFill>
          <a:ln w="12700">
            <a:solidFill>
              <a:srgbClr val="F9E6D8"/>
            </a:solidFill>
            <a:prstDash val="solid"/>
          </a:ln>
        </p:spPr>
      </p:sp>
      <p:sp>
        <p:nvSpPr>
          <p:cNvPr id="12" name="Text 9"/>
          <p:cNvSpPr txBox="1"/>
          <p:nvPr/>
        </p:nvSpPr>
        <p:spPr>
          <a:xfrm>
            <a:off x="5852160" y="2560320"/>
            <a:ext cx="2834640" cy="502920"/>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Foveation, LIBERO Goal: UniVLA +7.0 · SmolVLA −13.0</a:t>
            </a:r>
            <a:endParaRPr lang="en-US" sz="1050" dirty="0"/>
          </a:p>
        </p:txBody>
      </p:sp>
      <p:sp>
        <p:nvSpPr>
          <p:cNvPr id="13" name="Shape 10"/>
          <p:cNvSpPr/>
          <p:nvPr/>
        </p:nvSpPr>
        <p:spPr>
          <a:xfrm>
            <a:off x="5852160" y="3154680"/>
            <a:ext cx="2834640" cy="566928"/>
          </a:xfrm>
          <a:prstGeom prst="roundRect">
            <a:avLst>
              <a:gd name="adj" fmla="val 16129"/>
            </a:avLst>
          </a:prstGeom>
          <a:solidFill>
            <a:srgbClr val="F9E6D8"/>
          </a:solidFill>
          <a:ln w="12700">
            <a:solidFill>
              <a:srgbClr val="F9E6D8"/>
            </a:solidFill>
            <a:prstDash val="solid"/>
          </a:ln>
        </p:spPr>
      </p:sp>
      <p:sp>
        <p:nvSpPr>
          <p:cNvPr id="14" name="Text 11"/>
          <p:cNvSpPr txBox="1"/>
          <p:nvPr/>
        </p:nvSpPr>
        <p:spPr>
          <a:xfrm>
            <a:off x="5852160" y="3154680"/>
            <a:ext cx="2834640" cy="566928"/>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Action repeat: harmful on WidowX, milder on Fractal for some backbones</a:t>
            </a:r>
            <a:endParaRPr lang="en-US" sz="1050" dirty="0"/>
          </a:p>
        </p:txBody>
      </p:sp>
      <p:sp>
        <p:nvSpPr>
          <p:cNvPr id="15" name="Shape 12"/>
          <p:cNvSpPr/>
          <p:nvPr/>
        </p:nvSpPr>
        <p:spPr>
          <a:xfrm>
            <a:off x="457200" y="4069080"/>
            <a:ext cx="8229600" cy="548640"/>
          </a:xfrm>
          <a:prstGeom prst="roundRect">
            <a:avLst>
              <a:gd name="adj" fmla="val 16667"/>
            </a:avLst>
          </a:prstGeom>
          <a:solidFill>
            <a:srgbClr val="16213A"/>
          </a:solidFill>
          <a:ln w="12700">
            <a:solidFill>
              <a:srgbClr val="16213A"/>
            </a:solidFill>
            <a:prstDash val="solid"/>
          </a:ln>
        </p:spPr>
      </p:sp>
      <p:sp>
        <p:nvSpPr>
          <p:cNvPr id="16" name="Text 13"/>
          <p:cNvSpPr txBox="1"/>
          <p:nvPr/>
        </p:nvSpPr>
        <p:spPr>
          <a:xfrm>
            <a:off x="548640" y="4069080"/>
            <a:ext cx="8046720" cy="54864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Not plug-and-play: each trick needs matched evaluation under the target backbone and environment.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5F6B7A"/>
                </a:solidFill>
                <a:latin typeface="Arial" pitchFamily="34" charset="0"/>
                <a:ea typeface="Arial" pitchFamily="34" charset="-122"/>
                <a:cs typeface="Arial" pitchFamily="34" charset="-120"/>
              </a:rPr>
              <a:t>15  ·  10s</a:t>
            </a:r>
            <a:endParaRPr lang="en-US" sz="9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Takeaways</a:t>
            </a:r>
            <a:endParaRPr lang="en-US" sz="2600" dirty="0"/>
          </a:p>
        </p:txBody>
      </p:sp>
      <p:sp>
        <p:nvSpPr>
          <p:cNvPr id="4" name="Shape 2"/>
          <p:cNvSpPr/>
          <p:nvPr/>
        </p:nvSpPr>
        <p:spPr>
          <a:xfrm>
            <a:off x="457200" y="1005840"/>
            <a:ext cx="4023360" cy="1188720"/>
          </a:xfrm>
          <a:prstGeom prst="roundRect">
            <a:avLst>
              <a:gd name="adj" fmla="val 9231"/>
            </a:avLst>
          </a:prstGeom>
          <a:solidFill>
            <a:srgbClr val="DFF1E6"/>
          </a:solidFill>
          <a:ln w="9525">
            <a:solidFill>
              <a:srgbClr val="DFF1E6"/>
            </a:solidFill>
            <a:prstDash val="solid"/>
          </a:ln>
        </p:spPr>
      </p:sp>
      <p:sp>
        <p:nvSpPr>
          <p:cNvPr id="5" name="Text 3"/>
          <p:cNvSpPr txBox="1"/>
          <p:nvPr/>
        </p:nvSpPr>
        <p:spPr>
          <a:xfrm>
            <a:off x="640080" y="1115568"/>
            <a:ext cx="3657600" cy="365760"/>
          </a:xfrm>
          <a:prstGeom prst="rect">
            <a:avLst/>
          </a:prstGeom>
          <a:noFill/>
          <a:ln/>
        </p:spPr>
        <p:txBody>
          <a:bodyPr wrap="square" lIns="0" tIns="0" rIns="0" bIns="0" rtlCol="0" anchor="ctr"/>
          <a:lstStyle/>
          <a:p>
            <a:pPr indent="0" marL="0">
              <a:buNone/>
            </a:pPr>
            <a:r>
              <a:rPr lang="en-US" sz="1600" b="1" dirty="0">
                <a:solidFill>
                  <a:srgbClr val="2E8B57"/>
                </a:solidFill>
                <a:latin typeface="Arial" pitchFamily="34" charset="0"/>
                <a:ea typeface="Arial" pitchFamily="34" charset="-122"/>
                <a:cs typeface="Arial" pitchFamily="34" charset="-120"/>
              </a:rPr>
              <a:t>Guarded reuse</a:t>
            </a:r>
            <a:endParaRPr lang="en-US" sz="1600" dirty="0"/>
          </a:p>
        </p:txBody>
      </p:sp>
      <p:sp>
        <p:nvSpPr>
          <p:cNvPr id="6" name="Text 4"/>
          <p:cNvSpPr txBox="1"/>
          <p:nvPr/>
        </p:nvSpPr>
        <p:spPr>
          <a:xfrm>
            <a:off x="640080" y="14813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Most reliable. Preserves success, modest speedup when the gates open.</a:t>
            </a:r>
            <a:endParaRPr lang="en-US" sz="1250" dirty="0"/>
          </a:p>
        </p:txBody>
      </p:sp>
      <p:sp>
        <p:nvSpPr>
          <p:cNvPr id="7" name="Shape 5"/>
          <p:cNvSpPr/>
          <p:nvPr/>
        </p:nvSpPr>
        <p:spPr>
          <a:xfrm>
            <a:off x="4663440" y="1005840"/>
            <a:ext cx="4023360" cy="1188720"/>
          </a:xfrm>
          <a:prstGeom prst="roundRect">
            <a:avLst>
              <a:gd name="adj" fmla="val 9231"/>
            </a:avLst>
          </a:prstGeom>
          <a:solidFill>
            <a:srgbClr val="F9E6D8"/>
          </a:solidFill>
          <a:ln w="9525">
            <a:solidFill>
              <a:srgbClr val="F9E6D8"/>
            </a:solidFill>
            <a:prstDash val="solid"/>
          </a:ln>
        </p:spPr>
      </p:sp>
      <p:sp>
        <p:nvSpPr>
          <p:cNvPr id="8" name="Text 6"/>
          <p:cNvSpPr txBox="1"/>
          <p:nvPr/>
        </p:nvSpPr>
        <p:spPr>
          <a:xfrm>
            <a:off x="4846320" y="1115568"/>
            <a:ext cx="3657600" cy="365760"/>
          </a:xfrm>
          <a:prstGeom prst="rect">
            <a:avLst/>
          </a:prstGeom>
          <a:noFill/>
          <a:ln/>
        </p:spPr>
        <p:txBody>
          <a:bodyPr wrap="square" lIns="0" tIns="0" rIns="0" bIns="0" rtlCol="0" anchor="ctr"/>
          <a:lstStyle/>
          <a:p>
            <a:pPr indent="0" marL="0">
              <a:buNone/>
            </a:pPr>
            <a:r>
              <a:rPr lang="en-US" sz="1600" b="1" dirty="0">
                <a:solidFill>
                  <a:srgbClr val="C8641E"/>
                </a:solidFill>
                <a:latin typeface="Arial" pitchFamily="34" charset="0"/>
                <a:ea typeface="Arial" pitchFamily="34" charset="-122"/>
                <a:cs typeface="Arial" pitchFamily="34" charset="-120"/>
              </a:rPr>
              <a:t>Action repeat</a:t>
            </a:r>
            <a:endParaRPr lang="en-US" sz="1600" dirty="0"/>
          </a:p>
        </p:txBody>
      </p:sp>
      <p:sp>
        <p:nvSpPr>
          <p:cNvPr id="9" name="Text 7"/>
          <p:cNvSpPr txBox="1"/>
          <p:nvPr/>
        </p:nvSpPr>
        <p:spPr>
          <a:xfrm>
            <a:off x="4846320" y="14813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Largest speedup, but the risk of long open-loop execution.</a:t>
            </a:r>
            <a:endParaRPr lang="en-US" sz="1250" dirty="0"/>
          </a:p>
        </p:txBody>
      </p:sp>
      <p:sp>
        <p:nvSpPr>
          <p:cNvPr id="10" name="Shape 8"/>
          <p:cNvSpPr/>
          <p:nvPr/>
        </p:nvSpPr>
        <p:spPr>
          <a:xfrm>
            <a:off x="457200" y="2377440"/>
            <a:ext cx="4023360" cy="1188720"/>
          </a:xfrm>
          <a:prstGeom prst="roundRect">
            <a:avLst>
              <a:gd name="adj" fmla="val 9231"/>
            </a:avLst>
          </a:prstGeom>
          <a:solidFill>
            <a:srgbClr val="DDEFEC"/>
          </a:solidFill>
          <a:ln w="9525">
            <a:solidFill>
              <a:srgbClr val="DDEFEC"/>
            </a:solidFill>
            <a:prstDash val="solid"/>
          </a:ln>
        </p:spPr>
      </p:sp>
      <p:sp>
        <p:nvSpPr>
          <p:cNvPr id="11" name="Text 9"/>
          <p:cNvSpPr txBox="1"/>
          <p:nvPr/>
        </p:nvSpPr>
        <p:spPr>
          <a:xfrm>
            <a:off x="640080" y="2487168"/>
            <a:ext cx="3657600" cy="365760"/>
          </a:xfrm>
          <a:prstGeom prst="rect">
            <a:avLst/>
          </a:prstGeom>
          <a:noFill/>
          <a:ln/>
        </p:spPr>
        <p:txBody>
          <a:bodyPr wrap="square" lIns="0" tIns="0" rIns="0" bIns="0" rtlCol="0" anchor="ctr"/>
          <a:lstStyle/>
          <a:p>
            <a:pPr indent="0" marL="0">
              <a:buNone/>
            </a:pPr>
            <a:r>
              <a:rPr lang="en-US" sz="1600" b="1" dirty="0">
                <a:solidFill>
                  <a:srgbClr val="1B7F79"/>
                </a:solidFill>
                <a:latin typeface="Arial" pitchFamily="34" charset="0"/>
                <a:ea typeface="Arial" pitchFamily="34" charset="-122"/>
                <a:cs typeface="Arial" pitchFamily="34" charset="-120"/>
              </a:rPr>
              <a:t>Depth pruning</a:t>
            </a:r>
            <a:endParaRPr lang="en-US" sz="1600" dirty="0"/>
          </a:p>
        </p:txBody>
      </p:sp>
      <p:sp>
        <p:nvSpPr>
          <p:cNvPr id="12" name="Text 10"/>
          <p:cNvSpPr txBox="1"/>
          <p:nvPr/>
        </p:nvSpPr>
        <p:spPr>
          <a:xfrm>
            <a:off x="640080" y="28529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Decoder-level savings, benefit depends on the backbone.</a:t>
            </a:r>
            <a:endParaRPr lang="en-US" sz="1250" dirty="0"/>
          </a:p>
        </p:txBody>
      </p:sp>
      <p:sp>
        <p:nvSpPr>
          <p:cNvPr id="13" name="Shape 11"/>
          <p:cNvSpPr/>
          <p:nvPr/>
        </p:nvSpPr>
        <p:spPr>
          <a:xfrm>
            <a:off x="4663440" y="2377440"/>
            <a:ext cx="4023360" cy="1188720"/>
          </a:xfrm>
          <a:prstGeom prst="roundRect">
            <a:avLst>
              <a:gd name="adj" fmla="val 9231"/>
            </a:avLst>
          </a:prstGeom>
          <a:solidFill>
            <a:srgbClr val="E1EAF7"/>
          </a:solidFill>
          <a:ln w="9525">
            <a:solidFill>
              <a:srgbClr val="E1EAF7"/>
            </a:solidFill>
            <a:prstDash val="solid"/>
          </a:ln>
        </p:spPr>
      </p:sp>
      <p:sp>
        <p:nvSpPr>
          <p:cNvPr id="14" name="Text 12"/>
          <p:cNvSpPr txBox="1"/>
          <p:nvPr/>
        </p:nvSpPr>
        <p:spPr>
          <a:xfrm>
            <a:off x="4846320" y="2487168"/>
            <a:ext cx="3657600" cy="365760"/>
          </a:xfrm>
          <a:prstGeom prst="rect">
            <a:avLst/>
          </a:prstGeom>
          <a:noFill/>
          <a:ln/>
        </p:spPr>
        <p:txBody>
          <a:bodyPr wrap="square" lIns="0" tIns="0" rIns="0" bIns="0" rtlCol="0" anchor="ctr"/>
          <a:lstStyle/>
          <a:p>
            <a:pPr indent="0" marL="0">
              <a:buNone/>
            </a:pPr>
            <a:r>
              <a:rPr lang="en-US" sz="1600" b="1" dirty="0">
                <a:solidFill>
                  <a:srgbClr val="2F6DB5"/>
                </a:solidFill>
                <a:latin typeface="Arial" pitchFamily="34" charset="0"/>
                <a:ea typeface="Arial" pitchFamily="34" charset="-122"/>
                <a:cs typeface="Arial" pitchFamily="34" charset="-120"/>
              </a:rPr>
              <a:t>Foveation · Temporal fusion</a:t>
            </a:r>
            <a:endParaRPr lang="en-US" sz="1600" dirty="0"/>
          </a:p>
        </p:txBody>
      </p:sp>
      <p:sp>
        <p:nvSpPr>
          <p:cNvPr id="15" name="Text 13"/>
          <p:cNvSpPr txBox="1"/>
          <p:nvPr/>
        </p:nvSpPr>
        <p:spPr>
          <a:xfrm>
            <a:off x="4846320" y="28529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Test how much the visual representation can change while the policy stays stable.</a:t>
            </a:r>
            <a:endParaRPr lang="en-US" sz="1250" dirty="0"/>
          </a:p>
        </p:txBody>
      </p:sp>
      <p:sp>
        <p:nvSpPr>
          <p:cNvPr id="16" name="Shape 14"/>
          <p:cNvSpPr/>
          <p:nvPr/>
        </p:nvSpPr>
        <p:spPr>
          <a:xfrm>
            <a:off x="457200" y="3886200"/>
            <a:ext cx="8229600" cy="731520"/>
          </a:xfrm>
          <a:prstGeom prst="roundRect">
            <a:avLst>
              <a:gd name="adj" fmla="val 12500"/>
            </a:avLst>
          </a:prstGeom>
          <a:solidFill>
            <a:srgbClr val="16213A"/>
          </a:solidFill>
          <a:ln w="12700">
            <a:solidFill>
              <a:srgbClr val="16213A"/>
            </a:solidFill>
            <a:prstDash val="solid"/>
          </a:ln>
        </p:spPr>
      </p:sp>
      <p:sp>
        <p:nvSpPr>
          <p:cNvPr id="17" name="Text 15"/>
          <p:cNvSpPr txBox="1"/>
          <p:nvPr/>
        </p:nvSpPr>
        <p:spPr>
          <a:xfrm>
            <a:off x="640080" y="3886200"/>
            <a:ext cx="7863840" cy="73152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VLA efficiency is policy- and environment-dependent. Evaluate every trick under the target backbone and environment before applying it.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13A"/>
        </a:solidFill>
      </p:bgPr>
    </p:bg>
    <p:spTree>
      <p:nvGrpSpPr>
        <p:cNvPr id="1" name=""/>
        <p:cNvGrpSpPr/>
        <p:nvPr/>
      </p:nvGrpSpPr>
      <p:grpSpPr>
        <a:xfrm>
          <a:off x="0" y="0"/>
          <a:ext cx="0" cy="0"/>
          <a:chOff x="0" y="0"/>
          <a:chExt cx="0" cy="0"/>
        </a:xfrm>
      </p:grpSpPr>
      <p:sp>
        <p:nvSpPr>
          <p:cNvPr id="2" name="Text 0"/>
          <p:cNvSpPr txBox="1"/>
          <p:nvPr/>
        </p:nvSpPr>
        <p:spPr>
          <a:xfrm>
            <a:off x="7680960" y="73152"/>
            <a:ext cx="1280160" cy="228600"/>
          </a:xfrm>
          <a:prstGeom prst="rect">
            <a:avLst/>
          </a:prstGeom>
          <a:noFill/>
          <a:ln/>
        </p:spPr>
        <p:txBody>
          <a:bodyPr wrap="square" lIns="0" tIns="0" rIns="0" bIns="0" rtlCol="0" anchor="ctr"/>
          <a:lstStyle/>
          <a:p>
            <a:pPr algn="r" indent="0" marL="0">
              <a:buNone/>
            </a:pPr>
            <a:r>
              <a:rPr lang="en-US" sz="900" dirty="0">
                <a:solidFill>
                  <a:srgbClr val="A9B4C2"/>
                </a:solidFill>
                <a:latin typeface="Arial" pitchFamily="34" charset="0"/>
                <a:ea typeface="Arial" pitchFamily="34" charset="-122"/>
                <a:cs typeface="Arial" pitchFamily="34" charset="-120"/>
              </a:rPr>
              <a:t>16  ·  4s</a:t>
            </a:r>
            <a:endParaRPr lang="en-US" sz="900" dirty="0"/>
          </a:p>
        </p:txBody>
      </p:sp>
      <p:pic>
        <p:nvPicPr>
          <p:cNvPr id="3" name="Image 0" descr="/tmp/claude-0/-home-user-BiVLA/4327cefa-ba5d-5e2e-9d87-c73dd3a8ccbb/scratchpad/video_ppt/assets/fig1_teaser.png">    </p:cNvPr>
          <p:cNvPicPr>
            <a:picLocks noChangeAspect="1"/>
          </p:cNvPicPr>
          <p:nvPr/>
        </p:nvPicPr>
        <p:blipFill>
          <a:blip r:embed="rId1">
            <a:alphaModFix amt="12000"/>
          </a:blip>
          <a:stretch>
            <a:fillRect/>
          </a:stretch>
        </p:blipFill>
        <p:spPr>
          <a:xfrm>
            <a:off x="2651760" y="548640"/>
            <a:ext cx="3840480" cy="3456432"/>
          </a:xfrm>
          <a:prstGeom prst="rect">
            <a:avLst/>
          </a:prstGeom>
        </p:spPr>
      </p:pic>
      <p:sp>
        <p:nvSpPr>
          <p:cNvPr id="4" name="Text 1"/>
          <p:cNvSpPr txBox="1"/>
          <p:nvPr/>
        </p:nvSpPr>
        <p:spPr>
          <a:xfrm>
            <a:off x="640080" y="1737360"/>
            <a:ext cx="7863840" cy="731520"/>
          </a:xfrm>
          <a:prstGeom prst="rect">
            <a:avLst/>
          </a:prstGeom>
          <a:noFill/>
          <a:ln/>
        </p:spPr>
        <p:txBody>
          <a:bodyPr wrap="square" lIns="0" tIns="0" rIns="0" bIns="0" rtlCol="0" anchor="ctr"/>
          <a:lstStyle/>
          <a:p>
            <a:pPr algn="ctr" indent="0" marL="0">
              <a:buNone/>
            </a:pPr>
            <a:r>
              <a:rPr lang="en-US" sz="2400" b="1" dirty="0">
                <a:solidFill>
                  <a:srgbClr val="F5F7FA"/>
                </a:solidFill>
                <a:latin typeface="Arial" pitchFamily="34" charset="0"/>
                <a:ea typeface="Arial" pitchFamily="34" charset="-122"/>
                <a:cs typeface="Arial" pitchFamily="34" charset="-120"/>
              </a:rPr>
              <a:t>Bag of Tricks for Training-Free Vision-Language-Action Models</a:t>
            </a:r>
            <a:endParaRPr lang="en-US" sz="2400" dirty="0"/>
          </a:p>
        </p:txBody>
      </p:sp>
      <p:sp>
        <p:nvSpPr>
          <p:cNvPr id="5" name="Text 2"/>
          <p:cNvSpPr txBox="1"/>
          <p:nvPr/>
        </p:nvSpPr>
        <p:spPr>
          <a:xfrm>
            <a:off x="640080" y="2560320"/>
            <a:ext cx="7863840" cy="457200"/>
          </a:xfrm>
          <a:prstGeom prst="rect">
            <a:avLst/>
          </a:prstGeom>
          <a:noFill/>
          <a:ln/>
        </p:spPr>
        <p:txBody>
          <a:bodyPr wrap="square" lIns="0" tIns="0" rIns="0" bIns="0" rtlCol="0" anchor="ctr"/>
          <a:lstStyle/>
          <a:p>
            <a:pPr algn="ctr" indent="0" marL="0">
              <a:buNone/>
            </a:pPr>
            <a:r>
              <a:rPr lang="en-US" sz="1400" dirty="0">
                <a:solidFill>
                  <a:srgbClr val="C9D3E0"/>
                </a:solidFill>
                <a:latin typeface="Arial" pitchFamily="34" charset="0"/>
                <a:ea typeface="Arial" pitchFamily="34" charset="-122"/>
                <a:cs typeface="Arial" pitchFamily="34" charset="-120"/>
              </a:rPr>
              <a:t>Details, per-cell p-values, and all 286 settings are in the paper and its supplementary material.</a:t>
            </a:r>
            <a:endParaRPr lang="en-US" sz="1400" dirty="0"/>
          </a:p>
        </p:txBody>
      </p:sp>
      <p:sp>
        <p:nvSpPr>
          <p:cNvPr id="6" name="Text 3"/>
          <p:cNvSpPr txBox="1"/>
          <p:nvPr/>
        </p:nvSpPr>
        <p:spPr>
          <a:xfrm>
            <a:off x="640080" y="3200400"/>
            <a:ext cx="7863840" cy="365760"/>
          </a:xfrm>
          <a:prstGeom prst="rect">
            <a:avLst/>
          </a:prstGeom>
          <a:noFill/>
          <a:ln/>
        </p:spPr>
        <p:txBody>
          <a:bodyPr wrap="square" lIns="0" tIns="0" rIns="0" bIns="0" rtlCol="0" anchor="ctr"/>
          <a:lstStyle/>
          <a:p>
            <a:pPr algn="ctr" indent="0" marL="0">
              <a:buNone/>
            </a:pPr>
            <a:r>
              <a:rPr lang="en-US" sz="1300" dirty="0">
                <a:solidFill>
                  <a:srgbClr val="9AA7B8"/>
                </a:solidFill>
                <a:latin typeface="Arial" pitchFamily="34" charset="0"/>
                <a:ea typeface="Arial" pitchFamily="34" charset="-122"/>
                <a:cs typeface="Arial" pitchFamily="34" charset="-120"/>
              </a:rPr>
              <a:t>Anonymous submission  ·  ICRA 2027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Bag of Tricks for Training-Free VLA Models, accompanying video storyboard</dc:title>
  <dc:subject>PptxGenJS Presentation</dc:subject>
  <dc:creator>PptxGenJS</dc:creator>
  <cp:lastModifiedBy>PptxGenJS</cp:lastModifiedBy>
  <cp:revision>1</cp:revision>
  <dcterms:created xsi:type="dcterms:W3CDTF">2026-09-19T02:29:54Z</dcterms:created>
  <dcterms:modified xsi:type="dcterms:W3CDTF">2026-09-19T02:29:54Z</dcterms:modified>
</cp:coreProperties>
</file>