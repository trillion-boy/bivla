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13 s  |  36 words (2.8 w/s)
NARRATION:
Vision-language-action models are capable but slow. Every policy call runs a vision encoder and a language backbone. Training-free tricks promise cheaper inference, but gains are typically reported for one backbone and one benchmark. Do they transfer?
VISUAL / PRODUCTION NOTE:
Static. Optional: play a short original-policy rollout behind the loop diagram. Pipeline row cropped from Fig. 2(a).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11 s  |  27 words (2.5 w/s)
NARRATION:
Trick one, visual foveation. The observation keeps a sharp central disc and blurs the periphery. Token count and compute are unchanged. Only what the policy sees changes.
VISUAL / PRODUCTION NOTE:
Left: Fig. 2(a) foveation panel. Right: side-by-side rollout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11 s  |  29 words (2.6 w/s)
NARRATION:
Trick two, action repeat. Each predicted action is held for two or four control steps, so the policy is called less often. No state check, a pure speed baseline.
VISUAL / PRODUCTION NOTE:
Left: Fig. 2(a) action repeat panel. Right: side-by-side rollout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12 s  |  32 words (2.7 w/s)
NARRATION:
Trick three, depth pruning. Decoder blocks that barely change their hidden states are removed, one, two, or four of them, keeping the early and final blocks. The selection is fixed before evaluation.
VISUAL / PRODUCTION NOTE:
Left: Fig. 2(a) panel. Right: side-by-side rollout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11 s  |  28 words (2.5 w/s)
NARRATION:
Trick four, guarded reuse. The previous action is reused only while every gate passes: image change, action agreement, translation, and gripper. Any failed gate restores a full call.
VISUAL / PRODUCTION NOTE:
Left: Fig. 2(a) guarded reuse panel. Right: side-by-side rollout clip with gate overlay.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12 s  |  31 words (2.6 w/s)
NARRATION:
Trick five, temporal fusion. Visual tokens of stable patches are reused from the previous call, while patches with motion, entropy, or language attention are recomputed. The policy still runs every step.
VISUAL / PRODUCTION NOTE:
Left: Fig. 2(a) panel. Right: side-by-side rollout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12 s  |  29 words (2.4 w/s)
NARRATION:
Seven backbones, official checkpoints, on WidowX, Fractal, and LIBERO. Thirteen trick settings per pair plus the original, 286 trick settings, each compared with the original on the same episodes.
VISUAL / PRODUCTION NOTE:
286 = 13 trick settings × 22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6 s  |  13 words (2.2 w/s)
NARRATION:
Now every configuration on one episode. CogACT on WidowX, 6 of 14 succeed.
VISUAL / PRODUCTION NOTE:
Video wall, 14 clips at 2x, longest 6 s; the slide auto-advances after 6 s. Clips auto-play on slide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8 s  |  8 words (1.0 w/s)
NARRATION:
Eggplant in the basket: 11 of 14 succeed.
VISUAL / PRODUCTION NOTE:
Video wall, 14 clips at 3x, longest 8 s; the slide auto-advances after 8 s. Clips auto-play on slide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6 s  |  8 words (1.3 w/s)
NARRATION:
Spoon on the towel: 11 of 14 succeed.
VISUAL / PRODUCTION NOTE:
Video wall, 14 clips at 2x, longest 6 s; the slide auto-advances after 6 s. Clips auto-play on slide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8 s  |  12 words (1.5 w/s)
NARRATION:
OpenVLA on Fractal, same episode for every configuration. 9 of 12 succeed.
VISUAL / PRODUCTION NOTE:
Video wall, 12 clips at 2x, longest 8 s; the slide auto-advances after 8 s. Clips auto-play on slide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8 s  |  9 words (1.1 w/s)
NARRATION:
Move the object near another: 9 of 12 succeed.
VISUAL / PRODUCTION NOTE:
Video wall, 12 clips at 2x, longest 8 s; the slide auto-advances after 8 s. Clips auto-play on slide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8 s  |  8 words (1.0 w/s)
NARRATION:
Pick the coke can: 9 of 12 succeed.
VISUAL / PRODUCTION NOTE:
Video wall, 12 clips at 2x, longest 8 s; the slide auto-advances after 8 s. Clips auto-play on slide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12 s  |  27 words (2.3 w/s)
NARRATION:
First, success. Guarded reuse and temporal fusion are the safest for preserving success. Foveation and depth pruning help selected backbones. Action repeat is mainly a speed baseline.
VISUAL / PRODUCTION NOTE:
Fig. 1 with a native legend. Optionally enlarge one row of panels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13 s  |  32 words (2.5 w/s)
NARRATION:
Second, speed. Action repeat gives the largest speedup. SpatialVLA on WidowX drops from about 424 to 235 milliseconds per step. Depth pruning gives smaller decoder-level savings, and guarded reuse the safest trade-off.
VISUAL / PRODUCTION NOTE:
Paper Fig. 4 with a native colour legend. If the Speechma clip runs longer than 13 s, extend the slide rather than speeding the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12 s  |  24 words (2.0 w/s)
NARRATION:
Third, consistency. Across backbone and environment pairs the same trick improves one model, leaves another unchanged, and hurts a third. No trick is plug-and-play.
VISUAL / PRODUCTION NOTE:
Consistency chart (supplementary figure, counts from the per-setting records with LIBERO episodes pooled). Do not read the counts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12 s  |  29 words (2.4 w/s)
NARRATION:
Guarded reuse is most reliable. Action repeat is fastest but risky. Depth pruning is backbone-dependent. Evaluate every trick under the target backbone and environment before applying it. Thank you.
VISUAL / PRODUCTION NOTE:
Final slide. No names, logos, or URLs. Hold 2 s after the narration ends, then fade to black.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video" Target="../media/media-2-2.mp4"/><Relationship Id="rId3" Type="http://schemas.microsoft.com/office/2007/relationships/media" Target="../media/media-2-2.mp4"/><Relationship Id="rId4" Type="http://schemas.openxmlformats.org/officeDocument/2006/relationships/image" Target="../media/image-2-4.png"/><Relationship Id="rId5" Type="http://schemas.openxmlformats.org/officeDocument/2006/relationships/video" Target="../media/media-2-5.mp4"/><Relationship Id="rId6" Type="http://schemas.microsoft.com/office/2007/relationships/media" Target="../media/media-2-5.mp4"/><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video" Target="../media/media-3-2.mp4"/><Relationship Id="rId3" Type="http://schemas.microsoft.com/office/2007/relationships/media" Target="../media/media-3-2.mp4"/><Relationship Id="rId4" Type="http://schemas.openxmlformats.org/officeDocument/2006/relationships/image" Target="../media/image-3-4.png"/><Relationship Id="rId5" Type="http://schemas.openxmlformats.org/officeDocument/2006/relationships/video" Target="../media/media-3-5.mp4"/><Relationship Id="rId6" Type="http://schemas.microsoft.com/office/2007/relationships/media" Target="../media/media-3-5.mp4"/><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video" Target="../media/media-4-2.mp4"/><Relationship Id="rId3" Type="http://schemas.microsoft.com/office/2007/relationships/media" Target="../media/media-4-2.mp4"/><Relationship Id="rId4" Type="http://schemas.openxmlformats.org/officeDocument/2006/relationships/image" Target="../media/image-4-4.png"/><Relationship Id="rId5" Type="http://schemas.openxmlformats.org/officeDocument/2006/relationships/video" Target="../media/media-4-5.mp4"/><Relationship Id="rId6" Type="http://schemas.microsoft.com/office/2007/relationships/media" Target="../media/media-4-5.mp4"/><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video" Target="../media/media-5-2.mp4"/><Relationship Id="rId3" Type="http://schemas.microsoft.com/office/2007/relationships/media" Target="../media/media-5-2.mp4"/><Relationship Id="rId4" Type="http://schemas.openxmlformats.org/officeDocument/2006/relationships/image" Target="../media/image-5-4.png"/><Relationship Id="rId5" Type="http://schemas.openxmlformats.org/officeDocument/2006/relationships/video" Target="../media/media-5-5.mp4"/><Relationship Id="rId6" Type="http://schemas.microsoft.com/office/2007/relationships/media" Target="../media/media-5-5.mp4"/><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video" Target="../media/media-6-3.mp4"/><Relationship Id="rId4" Type="http://schemas.microsoft.com/office/2007/relationships/media" Target="../media/media-6-3.mp4"/><Relationship Id="rId5" Type="http://schemas.openxmlformats.org/officeDocument/2006/relationships/image" Target="../media/image-6-5.png"/><Relationship Id="rId6" Type="http://schemas.openxmlformats.org/officeDocument/2006/relationships/video" Target="../media/media-6-6.mp4"/><Relationship Id="rId7" Type="http://schemas.microsoft.com/office/2007/relationships/media" Target="../media/media-6-6.mp4"/><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video" Target="../media/media-8-4.mp4"/><Relationship Id="rId5" Type="http://schemas.microsoft.com/office/2007/relationships/media" Target="../media/media-8-4.mp4"/><Relationship Id="rId6" Type="http://schemas.openxmlformats.org/officeDocument/2006/relationships/image" Target="../media/image-8-6.png"/><Relationship Id="rId7" Type="http://schemas.openxmlformats.org/officeDocument/2006/relationships/video" Target="../media/media-8-7.mp4"/><Relationship Id="rId8" Type="http://schemas.microsoft.com/office/2007/relationships/media" Target="../media/media-8-7.mp4"/><Relationship Id="rId9" Type="http://schemas.openxmlformats.org/officeDocument/2006/relationships/image" Target="../media/image-8-9.png"/><Relationship Id="rId10" Type="http://schemas.openxmlformats.org/officeDocument/2006/relationships/video" Target="../media/media-8-10.mp4"/><Relationship Id="rId11" Type="http://schemas.microsoft.com/office/2007/relationships/media" Target="../media/media-8-10.mp4"/><Relationship Id="rId12" Type="http://schemas.openxmlformats.org/officeDocument/2006/relationships/image" Target="../media/image-8-12.png"/><Relationship Id="rId13" Type="http://schemas.openxmlformats.org/officeDocument/2006/relationships/video" Target="../media/media-8-13.mp4"/><Relationship Id="rId14" Type="http://schemas.microsoft.com/office/2007/relationships/media" Target="../media/media-8-13.mp4"/><Relationship Id="rId15" Type="http://schemas.openxmlformats.org/officeDocument/2006/relationships/image" Target="../media/image-8-15.png"/><Relationship Id="rId16" Type="http://schemas.openxmlformats.org/officeDocument/2006/relationships/video" Target="../media/media-8-16.mp4"/><Relationship Id="rId17" Type="http://schemas.microsoft.com/office/2007/relationships/media" Target="../media/media-8-16.mp4"/><Relationship Id="rId18" Type="http://schemas.openxmlformats.org/officeDocument/2006/relationships/image" Target="../media/image-8-18.png"/><Relationship Id="rId19" Type="http://schemas.openxmlformats.org/officeDocument/2006/relationships/video" Target="../media/media-8-19.mp4"/><Relationship Id="rId20" Type="http://schemas.microsoft.com/office/2007/relationships/media" Target="../media/media-8-19.mp4"/><Relationship Id="rId21" Type="http://schemas.openxmlformats.org/officeDocument/2006/relationships/image" Target="../media/image-8-21.png"/><Relationship Id="rId22" Type="http://schemas.openxmlformats.org/officeDocument/2006/relationships/video" Target="../media/media-8-22.mp4"/><Relationship Id="rId23" Type="http://schemas.microsoft.com/office/2007/relationships/media" Target="../media/media-8-22.mp4"/><Relationship Id="rId24" Type="http://schemas.openxmlformats.org/officeDocument/2006/relationships/image" Target="../media/image-8-24.png"/><Relationship Id="rId25" Type="http://schemas.openxmlformats.org/officeDocument/2006/relationships/video" Target="../media/media-8-25.mp4"/><Relationship Id="rId26" Type="http://schemas.microsoft.com/office/2007/relationships/media" Target="../media/media-8-25.mp4"/><Relationship Id="rId27" Type="http://schemas.openxmlformats.org/officeDocument/2006/relationships/image" Target="../media/image-8-27.png"/><Relationship Id="rId28" Type="http://schemas.openxmlformats.org/officeDocument/2006/relationships/video" Target="../media/media-8-28.mp4"/><Relationship Id="rId29" Type="http://schemas.microsoft.com/office/2007/relationships/media" Target="../media/media-8-28.mp4"/><Relationship Id="rId30" Type="http://schemas.openxmlformats.org/officeDocument/2006/relationships/image" Target="../media/image-8-30.png"/><Relationship Id="rId31" Type="http://schemas.openxmlformats.org/officeDocument/2006/relationships/video" Target="../media/media-8-31.mp4"/><Relationship Id="rId32" Type="http://schemas.microsoft.com/office/2007/relationships/media" Target="../media/media-8-31.mp4"/><Relationship Id="rId33" Type="http://schemas.openxmlformats.org/officeDocument/2006/relationships/image" Target="../media/image-8-33.png"/><Relationship Id="rId34" Type="http://schemas.openxmlformats.org/officeDocument/2006/relationships/video" Target="../media/media-8-34.mp4"/><Relationship Id="rId35" Type="http://schemas.microsoft.com/office/2007/relationships/media" Target="../media/media-8-34.mp4"/><Relationship Id="rId36" Type="http://schemas.openxmlformats.org/officeDocument/2006/relationships/image" Target="../media/image-8-36.png"/><Relationship Id="rId37" Type="http://schemas.openxmlformats.org/officeDocument/2006/relationships/video" Target="../media/media-8-37.mp4"/><Relationship Id="rId38" Type="http://schemas.microsoft.com/office/2007/relationships/media" Target="../media/media-8-37.mp4"/><Relationship Id="rId39" Type="http://schemas.openxmlformats.org/officeDocument/2006/relationships/image" Target="../media/image-8-39.png"/><Relationship Id="rId40" Type="http://schemas.openxmlformats.org/officeDocument/2006/relationships/video" Target="../media/media-8-40.mp4"/><Relationship Id="rId41" Type="http://schemas.microsoft.com/office/2007/relationships/media" Target="../media/media-8-40.mp4"/><Relationship Id="rId42" Type="http://schemas.openxmlformats.org/officeDocument/2006/relationships/image" Target="../media/image-8-42.png"/><Relationship Id="rId43" Type="http://schemas.openxmlformats.org/officeDocument/2006/relationships/slideLayout" Target="../slideLayouts/slideLayout1.xml"/><Relationship Id="rId4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video" Target="../media/media-9-4.mp4"/><Relationship Id="rId5" Type="http://schemas.microsoft.com/office/2007/relationships/media" Target="../media/media-9-4.mp4"/><Relationship Id="rId6" Type="http://schemas.openxmlformats.org/officeDocument/2006/relationships/image" Target="../media/image-9-6.png"/><Relationship Id="rId7" Type="http://schemas.openxmlformats.org/officeDocument/2006/relationships/video" Target="../media/media-9-7.mp4"/><Relationship Id="rId8" Type="http://schemas.microsoft.com/office/2007/relationships/media" Target="../media/media-9-7.mp4"/><Relationship Id="rId9" Type="http://schemas.openxmlformats.org/officeDocument/2006/relationships/image" Target="../media/image-9-9.png"/><Relationship Id="rId10" Type="http://schemas.openxmlformats.org/officeDocument/2006/relationships/video" Target="../media/media-9-10.mp4"/><Relationship Id="rId11" Type="http://schemas.microsoft.com/office/2007/relationships/media" Target="../media/media-9-10.mp4"/><Relationship Id="rId12" Type="http://schemas.openxmlformats.org/officeDocument/2006/relationships/image" Target="../media/image-9-12.png"/><Relationship Id="rId13" Type="http://schemas.openxmlformats.org/officeDocument/2006/relationships/video" Target="../media/media-9-13.mp4"/><Relationship Id="rId14" Type="http://schemas.microsoft.com/office/2007/relationships/media" Target="../media/media-9-13.mp4"/><Relationship Id="rId15" Type="http://schemas.openxmlformats.org/officeDocument/2006/relationships/image" Target="../media/image-9-15.png"/><Relationship Id="rId16" Type="http://schemas.openxmlformats.org/officeDocument/2006/relationships/video" Target="../media/media-9-16.mp4"/><Relationship Id="rId17" Type="http://schemas.microsoft.com/office/2007/relationships/media" Target="../media/media-9-16.mp4"/><Relationship Id="rId18" Type="http://schemas.openxmlformats.org/officeDocument/2006/relationships/image" Target="../media/image-9-18.png"/><Relationship Id="rId19" Type="http://schemas.openxmlformats.org/officeDocument/2006/relationships/video" Target="../media/media-9-19.mp4"/><Relationship Id="rId20" Type="http://schemas.microsoft.com/office/2007/relationships/media" Target="../media/media-9-19.mp4"/><Relationship Id="rId21" Type="http://schemas.openxmlformats.org/officeDocument/2006/relationships/image" Target="../media/image-9-21.png"/><Relationship Id="rId22" Type="http://schemas.openxmlformats.org/officeDocument/2006/relationships/video" Target="../media/media-9-22.mp4"/><Relationship Id="rId23" Type="http://schemas.microsoft.com/office/2007/relationships/media" Target="../media/media-9-22.mp4"/><Relationship Id="rId24" Type="http://schemas.openxmlformats.org/officeDocument/2006/relationships/image" Target="../media/image-9-24.png"/><Relationship Id="rId25" Type="http://schemas.openxmlformats.org/officeDocument/2006/relationships/video" Target="../media/media-9-25.mp4"/><Relationship Id="rId26" Type="http://schemas.microsoft.com/office/2007/relationships/media" Target="../media/media-9-25.mp4"/><Relationship Id="rId27" Type="http://schemas.openxmlformats.org/officeDocument/2006/relationships/image" Target="../media/image-9-27.png"/><Relationship Id="rId28" Type="http://schemas.openxmlformats.org/officeDocument/2006/relationships/video" Target="../media/media-9-28.mp4"/><Relationship Id="rId29" Type="http://schemas.microsoft.com/office/2007/relationships/media" Target="../media/media-9-28.mp4"/><Relationship Id="rId30" Type="http://schemas.openxmlformats.org/officeDocument/2006/relationships/image" Target="../media/image-9-30.png"/><Relationship Id="rId31" Type="http://schemas.openxmlformats.org/officeDocument/2006/relationships/video" Target="../media/media-9-31.mp4"/><Relationship Id="rId32" Type="http://schemas.microsoft.com/office/2007/relationships/media" Target="../media/media-9-31.mp4"/><Relationship Id="rId33" Type="http://schemas.openxmlformats.org/officeDocument/2006/relationships/image" Target="../media/image-9-33.png"/><Relationship Id="rId34" Type="http://schemas.openxmlformats.org/officeDocument/2006/relationships/video" Target="../media/media-9-34.mp4"/><Relationship Id="rId35" Type="http://schemas.microsoft.com/office/2007/relationships/media" Target="../media/media-9-34.mp4"/><Relationship Id="rId36" Type="http://schemas.openxmlformats.org/officeDocument/2006/relationships/image" Target="../media/image-9-36.png"/><Relationship Id="rId37" Type="http://schemas.openxmlformats.org/officeDocument/2006/relationships/video" Target="../media/media-9-37.mp4"/><Relationship Id="rId38" Type="http://schemas.microsoft.com/office/2007/relationships/media" Target="../media/media-9-37.mp4"/><Relationship Id="rId39" Type="http://schemas.openxmlformats.org/officeDocument/2006/relationships/image" Target="../media/image-9-39.png"/><Relationship Id="rId40" Type="http://schemas.openxmlformats.org/officeDocument/2006/relationships/video" Target="../media/media-9-40.mp4"/><Relationship Id="rId41" Type="http://schemas.microsoft.com/office/2007/relationships/media" Target="../media/media-9-40.mp4"/><Relationship Id="rId42" Type="http://schemas.openxmlformats.org/officeDocument/2006/relationships/image" Target="../media/image-9-42.png"/><Relationship Id="rId43" Type="http://schemas.openxmlformats.org/officeDocument/2006/relationships/slideLayout" Target="../slideLayouts/slideLayout1.xml"/><Relationship Id="rId4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video" Target="../media/media-10-4.mp4"/><Relationship Id="rId5" Type="http://schemas.microsoft.com/office/2007/relationships/media" Target="../media/media-10-4.mp4"/><Relationship Id="rId6" Type="http://schemas.openxmlformats.org/officeDocument/2006/relationships/image" Target="../media/image-10-6.png"/><Relationship Id="rId7" Type="http://schemas.openxmlformats.org/officeDocument/2006/relationships/video" Target="../media/media-10-7.mp4"/><Relationship Id="rId8" Type="http://schemas.microsoft.com/office/2007/relationships/media" Target="../media/media-10-7.mp4"/><Relationship Id="rId9" Type="http://schemas.openxmlformats.org/officeDocument/2006/relationships/image" Target="../media/image-10-9.png"/><Relationship Id="rId10" Type="http://schemas.openxmlformats.org/officeDocument/2006/relationships/video" Target="../media/media-10-10.mp4"/><Relationship Id="rId11" Type="http://schemas.microsoft.com/office/2007/relationships/media" Target="../media/media-10-10.mp4"/><Relationship Id="rId12" Type="http://schemas.openxmlformats.org/officeDocument/2006/relationships/image" Target="../media/image-10-12.png"/><Relationship Id="rId13" Type="http://schemas.openxmlformats.org/officeDocument/2006/relationships/video" Target="../media/media-10-13.mp4"/><Relationship Id="rId14" Type="http://schemas.microsoft.com/office/2007/relationships/media" Target="../media/media-10-13.mp4"/><Relationship Id="rId15" Type="http://schemas.openxmlformats.org/officeDocument/2006/relationships/image" Target="../media/image-10-15.png"/><Relationship Id="rId16" Type="http://schemas.openxmlformats.org/officeDocument/2006/relationships/video" Target="../media/media-10-16.mp4"/><Relationship Id="rId17" Type="http://schemas.microsoft.com/office/2007/relationships/media" Target="../media/media-10-16.mp4"/><Relationship Id="rId18" Type="http://schemas.openxmlformats.org/officeDocument/2006/relationships/image" Target="../media/image-10-18.png"/><Relationship Id="rId19" Type="http://schemas.openxmlformats.org/officeDocument/2006/relationships/video" Target="../media/media-10-19.mp4"/><Relationship Id="rId20" Type="http://schemas.microsoft.com/office/2007/relationships/media" Target="../media/media-10-19.mp4"/><Relationship Id="rId21" Type="http://schemas.openxmlformats.org/officeDocument/2006/relationships/image" Target="../media/image-10-21.png"/><Relationship Id="rId22" Type="http://schemas.openxmlformats.org/officeDocument/2006/relationships/video" Target="../media/media-10-22.mp4"/><Relationship Id="rId23" Type="http://schemas.microsoft.com/office/2007/relationships/media" Target="../media/media-10-22.mp4"/><Relationship Id="rId24" Type="http://schemas.openxmlformats.org/officeDocument/2006/relationships/image" Target="../media/image-10-24.png"/><Relationship Id="rId25" Type="http://schemas.openxmlformats.org/officeDocument/2006/relationships/video" Target="../media/media-10-25.mp4"/><Relationship Id="rId26" Type="http://schemas.microsoft.com/office/2007/relationships/media" Target="../media/media-10-25.mp4"/><Relationship Id="rId27" Type="http://schemas.openxmlformats.org/officeDocument/2006/relationships/image" Target="../media/image-10-27.png"/><Relationship Id="rId28" Type="http://schemas.openxmlformats.org/officeDocument/2006/relationships/video" Target="../media/media-10-28.mp4"/><Relationship Id="rId29" Type="http://schemas.microsoft.com/office/2007/relationships/media" Target="../media/media-10-28.mp4"/><Relationship Id="rId30" Type="http://schemas.openxmlformats.org/officeDocument/2006/relationships/image" Target="../media/image-10-30.png"/><Relationship Id="rId31" Type="http://schemas.openxmlformats.org/officeDocument/2006/relationships/video" Target="../media/media-10-31.mp4"/><Relationship Id="rId32" Type="http://schemas.microsoft.com/office/2007/relationships/media" Target="../media/media-10-31.mp4"/><Relationship Id="rId33" Type="http://schemas.openxmlformats.org/officeDocument/2006/relationships/image" Target="../media/image-10-33.png"/><Relationship Id="rId34" Type="http://schemas.openxmlformats.org/officeDocument/2006/relationships/video" Target="../media/media-10-34.mp4"/><Relationship Id="rId35" Type="http://schemas.microsoft.com/office/2007/relationships/media" Target="../media/media-10-34.mp4"/><Relationship Id="rId36" Type="http://schemas.openxmlformats.org/officeDocument/2006/relationships/image" Target="../media/image-10-36.png"/><Relationship Id="rId37" Type="http://schemas.openxmlformats.org/officeDocument/2006/relationships/video" Target="../media/media-10-37.mp4"/><Relationship Id="rId38" Type="http://schemas.microsoft.com/office/2007/relationships/media" Target="../media/media-10-37.mp4"/><Relationship Id="rId39" Type="http://schemas.openxmlformats.org/officeDocument/2006/relationships/image" Target="../media/image-10-39.png"/><Relationship Id="rId40" Type="http://schemas.openxmlformats.org/officeDocument/2006/relationships/video" Target="../media/media-10-40.mp4"/><Relationship Id="rId41" Type="http://schemas.microsoft.com/office/2007/relationships/media" Target="../media/media-10-40.mp4"/><Relationship Id="rId42" Type="http://schemas.openxmlformats.org/officeDocument/2006/relationships/image" Target="../media/image-10-42.png"/><Relationship Id="rId43" Type="http://schemas.openxmlformats.org/officeDocument/2006/relationships/slideLayout" Target="../slideLayouts/slideLayout1.xml"/><Relationship Id="rId4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png"/><Relationship Id="rId4" Type="http://schemas.openxmlformats.org/officeDocument/2006/relationships/video" Target="../media/media-11-4.mp4"/><Relationship Id="rId5" Type="http://schemas.microsoft.com/office/2007/relationships/media" Target="../media/media-11-4.mp4"/><Relationship Id="rId6" Type="http://schemas.openxmlformats.org/officeDocument/2006/relationships/image" Target="../media/image-11-6.png"/><Relationship Id="rId7" Type="http://schemas.openxmlformats.org/officeDocument/2006/relationships/video" Target="../media/media-11-7.mp4"/><Relationship Id="rId8" Type="http://schemas.microsoft.com/office/2007/relationships/media" Target="../media/media-11-7.mp4"/><Relationship Id="rId9" Type="http://schemas.openxmlformats.org/officeDocument/2006/relationships/image" Target="../media/image-11-9.png"/><Relationship Id="rId10" Type="http://schemas.openxmlformats.org/officeDocument/2006/relationships/video" Target="../media/media-11-10.mp4"/><Relationship Id="rId11" Type="http://schemas.microsoft.com/office/2007/relationships/media" Target="../media/media-11-10.mp4"/><Relationship Id="rId12" Type="http://schemas.openxmlformats.org/officeDocument/2006/relationships/image" Target="../media/image-11-12.png"/><Relationship Id="rId13" Type="http://schemas.openxmlformats.org/officeDocument/2006/relationships/video" Target="../media/media-11-13.mp4"/><Relationship Id="rId14" Type="http://schemas.microsoft.com/office/2007/relationships/media" Target="../media/media-11-13.mp4"/><Relationship Id="rId15" Type="http://schemas.openxmlformats.org/officeDocument/2006/relationships/image" Target="../media/image-11-15.png"/><Relationship Id="rId16" Type="http://schemas.openxmlformats.org/officeDocument/2006/relationships/video" Target="../media/media-11-16.mp4"/><Relationship Id="rId17" Type="http://schemas.microsoft.com/office/2007/relationships/media" Target="../media/media-11-16.mp4"/><Relationship Id="rId18" Type="http://schemas.openxmlformats.org/officeDocument/2006/relationships/image" Target="../media/image-11-18.png"/><Relationship Id="rId19" Type="http://schemas.openxmlformats.org/officeDocument/2006/relationships/video" Target="../media/media-11-19.mp4"/><Relationship Id="rId20" Type="http://schemas.microsoft.com/office/2007/relationships/media" Target="../media/media-11-19.mp4"/><Relationship Id="rId21" Type="http://schemas.openxmlformats.org/officeDocument/2006/relationships/image" Target="../media/image-11-21.png"/><Relationship Id="rId22" Type="http://schemas.openxmlformats.org/officeDocument/2006/relationships/video" Target="../media/media-11-22.mp4"/><Relationship Id="rId23" Type="http://schemas.microsoft.com/office/2007/relationships/media" Target="../media/media-11-22.mp4"/><Relationship Id="rId24" Type="http://schemas.openxmlformats.org/officeDocument/2006/relationships/image" Target="../media/image-11-24.png"/><Relationship Id="rId25" Type="http://schemas.openxmlformats.org/officeDocument/2006/relationships/video" Target="../media/media-11-25.mp4"/><Relationship Id="rId26" Type="http://schemas.microsoft.com/office/2007/relationships/media" Target="../media/media-11-25.mp4"/><Relationship Id="rId27" Type="http://schemas.openxmlformats.org/officeDocument/2006/relationships/image" Target="../media/image-11-27.png"/><Relationship Id="rId28" Type="http://schemas.openxmlformats.org/officeDocument/2006/relationships/video" Target="../media/media-11-28.mp4"/><Relationship Id="rId29" Type="http://schemas.microsoft.com/office/2007/relationships/media" Target="../media/media-11-28.mp4"/><Relationship Id="rId30" Type="http://schemas.openxmlformats.org/officeDocument/2006/relationships/image" Target="../media/image-11-30.png"/><Relationship Id="rId31" Type="http://schemas.openxmlformats.org/officeDocument/2006/relationships/video" Target="../media/media-11-31.mp4"/><Relationship Id="rId32" Type="http://schemas.microsoft.com/office/2007/relationships/media" Target="../media/media-11-31.mp4"/><Relationship Id="rId33" Type="http://schemas.openxmlformats.org/officeDocument/2006/relationships/image" Target="../media/image-11-33.png"/><Relationship Id="rId34" Type="http://schemas.openxmlformats.org/officeDocument/2006/relationships/video" Target="../media/media-11-34.mp4"/><Relationship Id="rId35" Type="http://schemas.microsoft.com/office/2007/relationships/media" Target="../media/media-11-34.mp4"/><Relationship Id="rId36" Type="http://schemas.openxmlformats.org/officeDocument/2006/relationships/image" Target="../media/image-11-36.png"/><Relationship Id="rId37" Type="http://schemas.openxmlformats.org/officeDocument/2006/relationships/slideLayout" Target="../slideLayouts/slideLayout1.xml"/><Relationship Id="rId3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2-1.mp4"/><Relationship Id="rId2" Type="http://schemas.microsoft.com/office/2007/relationships/media" Target="../media/media-12-1.mp4"/><Relationship Id="rId3" Type="http://schemas.openxmlformats.org/officeDocument/2006/relationships/image" Target="../media/image-12-3.png"/><Relationship Id="rId4" Type="http://schemas.openxmlformats.org/officeDocument/2006/relationships/video" Target="../media/media-12-4.mp4"/><Relationship Id="rId5" Type="http://schemas.microsoft.com/office/2007/relationships/media" Target="../media/media-12-4.mp4"/><Relationship Id="rId6" Type="http://schemas.openxmlformats.org/officeDocument/2006/relationships/image" Target="../media/image-12-6.png"/><Relationship Id="rId7" Type="http://schemas.openxmlformats.org/officeDocument/2006/relationships/video" Target="../media/media-12-7.mp4"/><Relationship Id="rId8" Type="http://schemas.microsoft.com/office/2007/relationships/media" Target="../media/media-12-7.mp4"/><Relationship Id="rId9" Type="http://schemas.openxmlformats.org/officeDocument/2006/relationships/image" Target="../media/image-12-9.png"/><Relationship Id="rId10" Type="http://schemas.openxmlformats.org/officeDocument/2006/relationships/video" Target="../media/media-12-10.mp4"/><Relationship Id="rId11" Type="http://schemas.microsoft.com/office/2007/relationships/media" Target="../media/media-12-10.mp4"/><Relationship Id="rId12" Type="http://schemas.openxmlformats.org/officeDocument/2006/relationships/image" Target="../media/image-12-12.png"/><Relationship Id="rId13" Type="http://schemas.openxmlformats.org/officeDocument/2006/relationships/video" Target="../media/media-12-13.mp4"/><Relationship Id="rId14" Type="http://schemas.microsoft.com/office/2007/relationships/media" Target="../media/media-12-13.mp4"/><Relationship Id="rId15" Type="http://schemas.openxmlformats.org/officeDocument/2006/relationships/image" Target="../media/image-12-15.png"/><Relationship Id="rId16" Type="http://schemas.openxmlformats.org/officeDocument/2006/relationships/video" Target="../media/media-12-16.mp4"/><Relationship Id="rId17" Type="http://schemas.microsoft.com/office/2007/relationships/media" Target="../media/media-12-16.mp4"/><Relationship Id="rId18" Type="http://schemas.openxmlformats.org/officeDocument/2006/relationships/image" Target="../media/image-12-18.png"/><Relationship Id="rId19" Type="http://schemas.openxmlformats.org/officeDocument/2006/relationships/video" Target="../media/media-12-19.mp4"/><Relationship Id="rId20" Type="http://schemas.microsoft.com/office/2007/relationships/media" Target="../media/media-12-19.mp4"/><Relationship Id="rId21" Type="http://schemas.openxmlformats.org/officeDocument/2006/relationships/image" Target="../media/image-12-21.png"/><Relationship Id="rId22" Type="http://schemas.openxmlformats.org/officeDocument/2006/relationships/video" Target="../media/media-12-22.mp4"/><Relationship Id="rId23" Type="http://schemas.microsoft.com/office/2007/relationships/media" Target="../media/media-12-22.mp4"/><Relationship Id="rId24" Type="http://schemas.openxmlformats.org/officeDocument/2006/relationships/image" Target="../media/image-12-24.png"/><Relationship Id="rId25" Type="http://schemas.openxmlformats.org/officeDocument/2006/relationships/video" Target="../media/media-12-25.mp4"/><Relationship Id="rId26" Type="http://schemas.microsoft.com/office/2007/relationships/media" Target="../media/media-12-25.mp4"/><Relationship Id="rId27" Type="http://schemas.openxmlformats.org/officeDocument/2006/relationships/image" Target="../media/image-12-27.png"/><Relationship Id="rId28" Type="http://schemas.openxmlformats.org/officeDocument/2006/relationships/video" Target="../media/media-12-28.mp4"/><Relationship Id="rId29" Type="http://schemas.microsoft.com/office/2007/relationships/media" Target="../media/media-12-28.mp4"/><Relationship Id="rId30" Type="http://schemas.openxmlformats.org/officeDocument/2006/relationships/image" Target="../media/image-12-30.png"/><Relationship Id="rId31" Type="http://schemas.openxmlformats.org/officeDocument/2006/relationships/video" Target="../media/media-12-31.mp4"/><Relationship Id="rId32" Type="http://schemas.microsoft.com/office/2007/relationships/media" Target="../media/media-12-31.mp4"/><Relationship Id="rId33" Type="http://schemas.openxmlformats.org/officeDocument/2006/relationships/image" Target="../media/image-12-33.png"/><Relationship Id="rId34" Type="http://schemas.openxmlformats.org/officeDocument/2006/relationships/video" Target="../media/media-12-34.mp4"/><Relationship Id="rId35" Type="http://schemas.microsoft.com/office/2007/relationships/media" Target="../media/media-12-34.mp4"/><Relationship Id="rId36" Type="http://schemas.openxmlformats.org/officeDocument/2006/relationships/image" Target="../media/image-12-36.png"/><Relationship Id="rId37" Type="http://schemas.openxmlformats.org/officeDocument/2006/relationships/slideLayout" Target="../slideLayouts/slideLayout1.xml"/><Relationship Id="rId3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media/media-13-1.mp4"/><Relationship Id="rId2" Type="http://schemas.microsoft.com/office/2007/relationships/media" Target="../media/media-13-1.mp4"/><Relationship Id="rId3" Type="http://schemas.openxmlformats.org/officeDocument/2006/relationships/image" Target="../media/image-13-3.png"/><Relationship Id="rId4" Type="http://schemas.openxmlformats.org/officeDocument/2006/relationships/video" Target="../media/media-13-4.mp4"/><Relationship Id="rId5" Type="http://schemas.microsoft.com/office/2007/relationships/media" Target="../media/media-13-4.mp4"/><Relationship Id="rId6" Type="http://schemas.openxmlformats.org/officeDocument/2006/relationships/image" Target="../media/image-13-6.png"/><Relationship Id="rId7" Type="http://schemas.openxmlformats.org/officeDocument/2006/relationships/video" Target="../media/media-13-7.mp4"/><Relationship Id="rId8" Type="http://schemas.microsoft.com/office/2007/relationships/media" Target="../media/media-13-7.mp4"/><Relationship Id="rId9" Type="http://schemas.openxmlformats.org/officeDocument/2006/relationships/image" Target="../media/image-13-9.png"/><Relationship Id="rId10" Type="http://schemas.openxmlformats.org/officeDocument/2006/relationships/video" Target="../media/media-13-10.mp4"/><Relationship Id="rId11" Type="http://schemas.microsoft.com/office/2007/relationships/media" Target="../media/media-13-10.mp4"/><Relationship Id="rId12" Type="http://schemas.openxmlformats.org/officeDocument/2006/relationships/image" Target="../media/image-13-12.png"/><Relationship Id="rId13" Type="http://schemas.openxmlformats.org/officeDocument/2006/relationships/video" Target="../media/media-13-13.mp4"/><Relationship Id="rId14" Type="http://schemas.microsoft.com/office/2007/relationships/media" Target="../media/media-13-13.mp4"/><Relationship Id="rId15" Type="http://schemas.openxmlformats.org/officeDocument/2006/relationships/image" Target="../media/image-13-15.png"/><Relationship Id="rId16" Type="http://schemas.openxmlformats.org/officeDocument/2006/relationships/video" Target="../media/media-13-16.mp4"/><Relationship Id="rId17" Type="http://schemas.microsoft.com/office/2007/relationships/media" Target="../media/media-13-16.mp4"/><Relationship Id="rId18" Type="http://schemas.openxmlformats.org/officeDocument/2006/relationships/image" Target="../media/image-13-18.png"/><Relationship Id="rId19" Type="http://schemas.openxmlformats.org/officeDocument/2006/relationships/video" Target="../media/media-13-19.mp4"/><Relationship Id="rId20" Type="http://schemas.microsoft.com/office/2007/relationships/media" Target="../media/media-13-19.mp4"/><Relationship Id="rId21" Type="http://schemas.openxmlformats.org/officeDocument/2006/relationships/image" Target="../media/image-13-21.png"/><Relationship Id="rId22" Type="http://schemas.openxmlformats.org/officeDocument/2006/relationships/video" Target="../media/media-13-22.mp4"/><Relationship Id="rId23" Type="http://schemas.microsoft.com/office/2007/relationships/media" Target="../media/media-13-22.mp4"/><Relationship Id="rId24" Type="http://schemas.openxmlformats.org/officeDocument/2006/relationships/image" Target="../media/image-13-24.png"/><Relationship Id="rId25" Type="http://schemas.openxmlformats.org/officeDocument/2006/relationships/video" Target="../media/media-13-25.mp4"/><Relationship Id="rId26" Type="http://schemas.microsoft.com/office/2007/relationships/media" Target="../media/media-13-25.mp4"/><Relationship Id="rId27" Type="http://schemas.openxmlformats.org/officeDocument/2006/relationships/image" Target="../media/image-13-27.png"/><Relationship Id="rId28" Type="http://schemas.openxmlformats.org/officeDocument/2006/relationships/video" Target="../media/media-13-28.mp4"/><Relationship Id="rId29" Type="http://schemas.microsoft.com/office/2007/relationships/media" Target="../media/media-13-28.mp4"/><Relationship Id="rId30" Type="http://schemas.openxmlformats.org/officeDocument/2006/relationships/image" Target="../media/image-13-30.png"/><Relationship Id="rId31" Type="http://schemas.openxmlformats.org/officeDocument/2006/relationships/video" Target="../media/media-13-31.mp4"/><Relationship Id="rId32" Type="http://schemas.microsoft.com/office/2007/relationships/media" Target="../media/media-13-31.mp4"/><Relationship Id="rId33" Type="http://schemas.openxmlformats.org/officeDocument/2006/relationships/image" Target="../media/image-13-33.png"/><Relationship Id="rId34" Type="http://schemas.openxmlformats.org/officeDocument/2006/relationships/video" Target="../media/media-13-34.mp4"/><Relationship Id="rId35" Type="http://schemas.microsoft.com/office/2007/relationships/media" Target="../media/media-13-34.mp4"/><Relationship Id="rId36" Type="http://schemas.openxmlformats.org/officeDocument/2006/relationships/image" Target="../media/image-13-36.png"/><Relationship Id="rId37" Type="http://schemas.openxmlformats.org/officeDocument/2006/relationships/slideLayout" Target="../slideLayouts/slideLayout1.xml"/><Relationship Id="rId3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7132320" cy="27432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Bag of Tricks for Training-Free Vision-Language-Action Models</a:t>
            </a:r>
            <a:endParaRPr lang="en-US" sz="10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Motivation</a:t>
            </a:r>
            <a:pPr indent="0" marL="0">
              <a:buNone/>
            </a:pPr>
            <a:r>
              <a:rPr lang="en-US" sz="2600" dirty="0">
                <a:solidFill>
                  <a:srgbClr val="1F2933"/>
                </a:solidFill>
                <a:latin typeface="Arial" pitchFamily="34" charset="0"/>
                <a:ea typeface="Arial" pitchFamily="34" charset="-122"/>
                <a:cs typeface="Arial" pitchFamily="34" charset="-120"/>
              </a:rPr>
              <a:t>  Efficient VLA inference without retraining</a:t>
            </a:r>
            <a:endParaRPr lang="en-US" sz="2600" dirty="0"/>
          </a:p>
        </p:txBody>
      </p:sp>
      <p:pic>
        <p:nvPicPr>
          <p:cNvPr id="4" name="Image 0" descr="/tmp/claude-0/-home-user-BiVLA/4327cefa-ba5d-5e2e-9d87-c73dd3a8ccbb/scratchpad/video_ppt/assets/m_pipeline.png">    </p:cNvPr>
          <p:cNvPicPr>
            <a:picLocks noChangeAspect="1"/>
          </p:cNvPicPr>
          <p:nvPr/>
        </p:nvPicPr>
        <p:blipFill>
          <a:blip r:embed="rId1"/>
          <a:stretch>
            <a:fillRect/>
          </a:stretch>
        </p:blipFill>
        <p:spPr>
          <a:xfrm>
            <a:off x="457200" y="1005840"/>
            <a:ext cx="8229600" cy="429768"/>
          </a:xfrm>
          <a:prstGeom prst="rect">
            <a:avLst/>
          </a:prstGeom>
        </p:spPr>
      </p:pic>
      <p:sp>
        <p:nvSpPr>
          <p:cNvPr id="5" name="Text 2"/>
          <p:cNvSpPr txBox="1"/>
          <p:nvPr/>
        </p:nvSpPr>
        <p:spPr>
          <a:xfrm>
            <a:off x="457200" y="1554480"/>
            <a:ext cx="8229600" cy="365760"/>
          </a:xfrm>
          <a:prstGeom prst="rect">
            <a:avLst/>
          </a:prstGeom>
          <a:noFill/>
          <a:ln/>
        </p:spPr>
        <p:txBody>
          <a:bodyPr wrap="square" lIns="0" tIns="0" rIns="0" bIns="0" rtlCol="0" anchor="t"/>
          <a:lstStyle/>
          <a:p>
            <a:pPr algn="l" indent="0" marL="0">
              <a:buNone/>
            </a:pPr>
            <a:r>
              <a:rPr lang="en-US" sz="1100" dirty="0">
                <a:solidFill>
                  <a:srgbClr val="5F6B7A"/>
                </a:solidFill>
                <a:latin typeface="Arial" pitchFamily="34" charset="0"/>
                <a:ea typeface="Arial" pitchFamily="34" charset="-122"/>
                <a:cs typeface="Arial" pitchFamily="34" charset="-120"/>
              </a:rPr>
              <a:t>The control loop of a frozen VLA policy (Fig. 2 of the paper). Green, orange, purple, and blue boxes mark where the five tricks enter; Redundancy Control is action repeat.</a:t>
            </a:r>
            <a:endParaRPr lang="en-US" sz="1100" dirty="0"/>
          </a:p>
        </p:txBody>
      </p:sp>
      <p:sp>
        <p:nvSpPr>
          <p:cNvPr id="6" name="Text 3"/>
          <p:cNvSpPr txBox="1"/>
          <p:nvPr/>
        </p:nvSpPr>
        <p:spPr>
          <a:xfrm>
            <a:off x="457200" y="2240280"/>
            <a:ext cx="8229600" cy="457200"/>
          </a:xfrm>
          <a:prstGeom prst="rect">
            <a:avLst/>
          </a:prstGeom>
          <a:noFill/>
          <a:ln/>
        </p:spPr>
        <p:txBody>
          <a:bodyPr wrap="square" lIns="0" tIns="0" rIns="0" bIns="0" rtlCol="0" anchor="ctr"/>
          <a:lstStyle/>
          <a:p>
            <a:pPr indent="0" marL="0">
              <a:buNone/>
            </a:pPr>
            <a:r>
              <a:rPr lang="en-US" sz="1400" b="1" dirty="0">
                <a:solidFill>
                  <a:srgbClr val="C00000"/>
                </a:solidFill>
                <a:latin typeface="Arial" pitchFamily="34" charset="0"/>
                <a:ea typeface="Arial" pitchFamily="34" charset="-122"/>
                <a:cs typeface="Arial" pitchFamily="34" charset="-120"/>
              </a:rPr>
              <a:t>[1] </a:t>
            </a:r>
            <a:pPr indent="0" marL="0">
              <a:buNone/>
            </a:pPr>
            <a:r>
              <a:rPr lang="en-US" sz="1400" b="1" dirty="0">
                <a:solidFill>
                  <a:srgbClr val="C00000"/>
                </a:solidFill>
                <a:latin typeface="Arial" pitchFamily="34" charset="0"/>
                <a:ea typeface="Arial" pitchFamily="34" charset="-122"/>
                <a:cs typeface="Arial" pitchFamily="34" charset="-120"/>
              </a:rPr>
              <a:t>VLA inference is slow. </a:t>
            </a:r>
            <a:pPr indent="0" marL="0">
              <a:buNone/>
            </a:pPr>
            <a:r>
              <a:rPr lang="en-US" sz="1400" dirty="0">
                <a:solidFill>
                  <a:srgbClr val="1F2933"/>
                </a:solidFill>
                <a:latin typeface="Arial" pitchFamily="34" charset="0"/>
                <a:ea typeface="Arial" pitchFamily="34" charset="-122"/>
                <a:cs typeface="Arial" pitchFamily="34" charset="-120"/>
              </a:rPr>
              <a:t>Tens to hundreds of milliseconds per step (60 to 450 ms in our runs), which limits how often the policy can observe, decide, and correct.</a:t>
            </a:r>
            <a:endParaRPr lang="en-US" sz="1400" dirty="0"/>
          </a:p>
        </p:txBody>
      </p:sp>
      <p:sp>
        <p:nvSpPr>
          <p:cNvPr id="7" name="Text 4"/>
          <p:cNvSpPr txBox="1"/>
          <p:nvPr/>
        </p:nvSpPr>
        <p:spPr>
          <a:xfrm>
            <a:off x="457200" y="2834640"/>
            <a:ext cx="8229600" cy="548640"/>
          </a:xfrm>
          <a:prstGeom prst="rect">
            <a:avLst/>
          </a:prstGeom>
          <a:noFill/>
          <a:ln/>
        </p:spPr>
        <p:txBody>
          <a:bodyPr wrap="square" lIns="0" tIns="0" rIns="0" bIns="0" rtlCol="0" anchor="ctr"/>
          <a:lstStyle/>
          <a:p>
            <a:pPr indent="0" marL="0">
              <a:buNone/>
            </a:pPr>
            <a:r>
              <a:rPr lang="en-US" sz="1400" b="1" dirty="0">
                <a:solidFill>
                  <a:srgbClr val="C00000"/>
                </a:solidFill>
                <a:latin typeface="Arial" pitchFamily="34" charset="0"/>
                <a:ea typeface="Arial" pitchFamily="34" charset="-122"/>
                <a:cs typeface="Arial" pitchFamily="34" charset="-120"/>
              </a:rPr>
              <a:t>[2] </a:t>
            </a:r>
            <a:pPr indent="0" marL="0">
              <a:buNone/>
            </a:pPr>
            <a:r>
              <a:rPr lang="en-US" sz="1400" b="1" dirty="0">
                <a:solidFill>
                  <a:srgbClr val="C00000"/>
                </a:solidFill>
                <a:latin typeface="Arial" pitchFamily="34" charset="0"/>
                <a:ea typeface="Arial" pitchFamily="34" charset="-122"/>
                <a:cs typeface="Arial" pitchFamily="34" charset="-120"/>
              </a:rPr>
              <a:t>Gains are reported in isolation. </a:t>
            </a:r>
            <a:pPr indent="0" marL="0">
              <a:buNone/>
            </a:pPr>
            <a:r>
              <a:rPr lang="en-US" sz="1400" dirty="0">
                <a:solidFill>
                  <a:srgbClr val="1F2933"/>
                </a:solidFill>
                <a:latin typeface="Arial" pitchFamily="34" charset="0"/>
                <a:ea typeface="Arial" pitchFamily="34" charset="-122"/>
                <a:cs typeface="Arial" pitchFamily="34" charset="-120"/>
              </a:rPr>
              <a:t>Training-free tricks are typically evaluated for a specific trick, backbone, benchmark, and implementation, so transfer across models is unknown.</a:t>
            </a:r>
            <a:endParaRPr lang="en-US" sz="1400" dirty="0"/>
          </a:p>
        </p:txBody>
      </p:sp>
      <p:sp>
        <p:nvSpPr>
          <p:cNvPr id="8" name="Shape 5"/>
          <p:cNvSpPr/>
          <p:nvPr/>
        </p:nvSpPr>
        <p:spPr>
          <a:xfrm>
            <a:off x="457200" y="3794760"/>
            <a:ext cx="8229600" cy="868680"/>
          </a:xfrm>
          <a:prstGeom prst="roundRect">
            <a:avLst>
              <a:gd name="adj" fmla="val 10526"/>
            </a:avLst>
          </a:prstGeom>
          <a:solidFill>
            <a:srgbClr val="FFF0F7"/>
          </a:solidFill>
          <a:ln w="19050">
            <a:solidFill>
              <a:srgbClr val="E0369A"/>
            </a:solidFill>
            <a:prstDash val="solid"/>
          </a:ln>
        </p:spPr>
      </p:sp>
      <p:sp>
        <p:nvSpPr>
          <p:cNvPr id="9" name="Text 6"/>
          <p:cNvSpPr txBox="1"/>
          <p:nvPr/>
        </p:nvSpPr>
        <p:spPr>
          <a:xfrm>
            <a:off x="640080" y="3794760"/>
            <a:ext cx="7863840" cy="868680"/>
          </a:xfrm>
          <a:prstGeom prst="rect">
            <a:avLst/>
          </a:prstGeom>
          <a:noFill/>
          <a:ln/>
        </p:spPr>
        <p:txBody>
          <a:bodyPr wrap="square" lIns="0" tIns="0" rIns="0" bIns="0" rtlCol="0" anchor="ctr"/>
          <a:lstStyle/>
          <a:p>
            <a:pPr algn="ctr" indent="0" marL="0">
              <a:buNone/>
            </a:pPr>
            <a:r>
              <a:rPr lang="en-US" sz="1600" dirty="0">
                <a:solidFill>
                  <a:srgbClr val="1F2933"/>
                </a:solidFill>
                <a:latin typeface="Arial" pitchFamily="34" charset="0"/>
                <a:ea typeface="Arial" pitchFamily="34" charset="-122"/>
                <a:cs typeface="Arial" pitchFamily="34" charset="-120"/>
              </a:rPr>
              <a:t>Do the gains transfer across VLA models and environments, </a:t>
            </a:r>
            <a:pPr algn="ctr" indent="0" marL="0">
              <a:buNone/>
            </a:pPr>
            <a:r>
              <a:rPr lang="en-US" sz="1600" b="1" dirty="0">
                <a:solidFill>
                  <a:srgbClr val="E0369A"/>
                </a:solidFill>
                <a:latin typeface="Arial" pitchFamily="34" charset="0"/>
                <a:ea typeface="Arial" pitchFamily="34" charset="-122"/>
                <a:cs typeface="Arial" pitchFamily="34" charset="-120"/>
              </a:rPr>
              <a:t>or are they configuration-dependent?</a:t>
            </a:r>
            <a:endParaRPr lang="en-US" sz="1600" dirty="0"/>
          </a:p>
        </p:txBody>
      </p:sp>
    </p:spTree>
  </p:cSld>
  <p:clrMapOvr>
    <a:masterClrMapping/>
  </p:clrMapOvr>
  <p:transition advTm="1300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1  Visual foveation</a:t>
            </a:r>
            <a:endParaRPr lang="en-US" sz="2600" dirty="0"/>
          </a:p>
        </p:txBody>
      </p:sp>
      <p:sp>
        <p:nvSpPr>
          <p:cNvPr id="3" name="Shape 1"/>
          <p:cNvSpPr/>
          <p:nvPr/>
        </p:nvSpPr>
        <p:spPr>
          <a:xfrm>
            <a:off x="6309360" y="384048"/>
            <a:ext cx="2377440" cy="365760"/>
          </a:xfrm>
          <a:prstGeom prst="roundRect">
            <a:avLst>
              <a:gd name="adj" fmla="val 25000"/>
            </a:avLst>
          </a:prstGeom>
          <a:solidFill>
            <a:srgbClr val="E1EAF7"/>
          </a:solidFill>
          <a:ln w="12700">
            <a:solidFill>
              <a:srgbClr val="E1EAF7"/>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2F6DB5"/>
                </a:solidFill>
                <a:latin typeface="Arial" pitchFamily="34" charset="0"/>
                <a:ea typeface="Arial" pitchFamily="34" charset="-122"/>
                <a:cs typeface="Arial" pitchFamily="34" charset="-120"/>
              </a:rPr>
              <a:t>What to see</a:t>
            </a:r>
            <a:endParaRPr lang="en-US" sz="1200" dirty="0"/>
          </a:p>
        </p:txBody>
      </p:sp>
      <p:pic>
        <p:nvPicPr>
          <p:cNvPr id="5" name="Image 0" descr="/tmp/claude-0/-home-user-BiVLA/4327cefa-ba5d-5e2e-9d87-c73dd3a8ccbb/scratchpad/video_ppt/assets/m_fov.png">    </p:cNvPr>
          <p:cNvPicPr>
            <a:picLocks noChangeAspect="1"/>
          </p:cNvPicPr>
          <p:nvPr/>
        </p:nvPicPr>
        <p:blipFill>
          <a:blip r:embed="rId1"/>
          <a:stretch>
            <a:fillRect/>
          </a:stretch>
        </p:blipFill>
        <p:spPr>
          <a:xfrm>
            <a:off x="457200" y="960120"/>
            <a:ext cx="3931920" cy="2487168"/>
          </a:xfrm>
          <a:prstGeom prst="rect">
            <a:avLst/>
          </a:prstGeom>
        </p:spPr>
      </p:pic>
      <p:sp>
        <p:nvSpPr>
          <p:cNvPr id="6" name="Text 3"/>
          <p:cNvSpPr txBox="1"/>
          <p:nvPr/>
        </p:nvSpPr>
        <p:spPr>
          <a:xfrm>
            <a:off x="457200" y="3611880"/>
            <a:ext cx="4023360" cy="11887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Sharp central disc, progressively blurred periphery</a:t>
            </a:r>
            <a:endParaRPr lang="en-US" sz="1150" dirty="0"/>
          </a:p>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Keep ratio 20% or 50%; token count unchanged</a:t>
            </a:r>
            <a:endParaRPr lang="en-US" sz="1150" dirty="0"/>
          </a:p>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Tests whether high-frequency detail is needed only near the objects and the gripper</a:t>
            </a:r>
            <a:endParaRPr lang="en-US" sz="1150" dirty="0"/>
          </a:p>
        </p:txBody>
      </p:sp>
      <p:sp>
        <p:nvSpPr>
          <p:cNvPr id="7" name="Text 4"/>
          <p:cNvSpPr txBox="1"/>
          <p:nvPr/>
        </p:nvSpPr>
        <p:spPr>
          <a:xfrm>
            <a:off x="4754880" y="822960"/>
            <a:ext cx="1901952" cy="182880"/>
          </a:xfrm>
          <a:prstGeom prst="rect">
            <a:avLst/>
          </a:prstGeom>
          <a:noFill/>
          <a:ln/>
        </p:spPr>
        <p:txBody>
          <a:bodyPr wrap="square" lIns="0" tIns="0" rIns="0" bIns="0" rtlCol="0" anchor="b"/>
          <a:lstStyle/>
          <a:p>
            <a:pPr indent="0" marL="0">
              <a:buNone/>
            </a:pPr>
            <a:r>
              <a:rPr lang="en-US" sz="950" b="1" dirty="0">
                <a:solidFill>
                  <a:srgbClr val="1F2933"/>
                </a:solidFill>
                <a:latin typeface="Arial" pitchFamily="34" charset="0"/>
                <a:ea typeface="Arial" pitchFamily="34" charset="-122"/>
                <a:cs typeface="Arial" pitchFamily="34" charset="-120"/>
              </a:rPr>
              <a:t>Original</a:t>
            </a:r>
            <a:endParaRPr lang="en-US" sz="95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4754880" y="1024128"/>
            <a:ext cx="1901952" cy="1426464"/>
          </a:xfrm>
          <a:prstGeom prst="rect">
            <a:avLst/>
          </a:prstGeom>
        </p:spPr>
      </p:pic>
      <p:sp>
        <p:nvSpPr>
          <p:cNvPr id="9" name="Shape 5"/>
          <p:cNvSpPr/>
          <p:nvPr/>
        </p:nvSpPr>
        <p:spPr>
          <a:xfrm>
            <a:off x="4754880" y="1024128"/>
            <a:ext cx="1901952" cy="1426464"/>
          </a:xfrm>
          <a:prstGeom prst="rect">
            <a:avLst/>
          </a:prstGeom>
          <a:ln w="19050">
            <a:solidFill>
              <a:srgbClr val="B03A2E"/>
            </a:solidFill>
            <a:prstDash val="solid"/>
          </a:ln>
        </p:spPr>
      </p:sp>
      <p:sp>
        <p:nvSpPr>
          <p:cNvPr id="10" name="Text 6"/>
          <p:cNvSpPr txBox="1"/>
          <p:nvPr/>
        </p:nvSpPr>
        <p:spPr>
          <a:xfrm>
            <a:off x="6784848" y="822960"/>
            <a:ext cx="1901952" cy="182880"/>
          </a:xfrm>
          <a:prstGeom prst="rect">
            <a:avLst/>
          </a:prstGeom>
          <a:noFill/>
          <a:ln/>
        </p:spPr>
        <p:txBody>
          <a:bodyPr wrap="square" lIns="0" tIns="0" rIns="0" bIns="0" rtlCol="0" anchor="b"/>
          <a:lstStyle/>
          <a:p>
            <a:pPr indent="0" marL="0">
              <a:buNone/>
            </a:pPr>
            <a:r>
              <a:rPr lang="en-US" sz="950" b="1" dirty="0">
                <a:solidFill>
                  <a:srgbClr val="1F2933"/>
                </a:solidFill>
                <a:latin typeface="Arial" pitchFamily="34" charset="0"/>
                <a:ea typeface="Arial" pitchFamily="34" charset="-122"/>
                <a:cs typeface="Arial" pitchFamily="34" charset="-120"/>
              </a:rPr>
              <a:t>Foveation 50%</a:t>
            </a:r>
            <a:endParaRPr lang="en-US" sz="950" dirty="0"/>
          </a:p>
        </p:txBody>
      </p:sp>
      <p:pic>
        <p:nvPicPr>
          <p:cNvPr id="7" name="Media 1">
            <a:hlinkClick r:id="" action="ppaction://media"/>
          </p:cNvPr>
          <p:cNvPicPr>
            <a:picLocks noChangeAspect="1"/>
          </p:cNvPicPr>
          <p:nvPr>
            <a:videoFile r:link="rId5"/>
            <p:extLst>
              <p:ext uri="{DAA4B4D4-6D71-4841-9C94-3DE7FCFB9230}">
                <p14:media xmlns:p14="http://schemas.microsoft.com/office/powerpoint/2010/main" r:embed="rId6"/>
              </p:ext>
            </p:extLst>
          </p:nvPr>
        </p:nvPicPr>
        <p:blipFill>
          <a:blip r:embed="rId7"/>
          <a:stretch>
            <a:fillRect/>
          </a:stretch>
        </p:blipFill>
        <p:spPr>
          <a:xfrm>
            <a:off x="6784848" y="1024128"/>
            <a:ext cx="1901952" cy="1426464"/>
          </a:xfrm>
          <a:prstGeom prst="rect">
            <a:avLst/>
          </a:prstGeom>
        </p:spPr>
      </p:pic>
      <p:sp>
        <p:nvSpPr>
          <p:cNvPr id="12" name="Shape 7"/>
          <p:cNvSpPr/>
          <p:nvPr/>
        </p:nvSpPr>
        <p:spPr>
          <a:xfrm>
            <a:off x="6784848" y="1024128"/>
            <a:ext cx="1901952" cy="1426464"/>
          </a:xfrm>
          <a:prstGeom prst="rect">
            <a:avLst/>
          </a:prstGeom>
          <a:ln w="19050">
            <a:solidFill>
              <a:srgbClr val="2E8B57"/>
            </a:solidFill>
            <a:prstDash val="solid"/>
          </a:ln>
        </p:spPr>
      </p:sp>
      <p:sp>
        <p:nvSpPr>
          <p:cNvPr id="13" name="Text 8"/>
          <p:cNvSpPr txBox="1"/>
          <p:nvPr/>
        </p:nvSpPr>
        <p:spPr>
          <a:xfrm>
            <a:off x="4754880" y="2523744"/>
            <a:ext cx="3931920" cy="41148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CogACT, WidowX, "Carrot on the plate", same episode, 2× speed. Green = success, red = failure.</a:t>
            </a:r>
            <a:endParaRPr lang="en-US" sz="1000" dirty="0"/>
          </a:p>
        </p:txBody>
      </p:sp>
    </p:spTree>
  </p:cSld>
  <p:clrMapOvr>
    <a:masterClrMapping/>
  </p:clrMapOvr>
  <p:transition advTm="11000">
    <p:fade/>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101" fill="hold">
                            <p:stCondLst>
                              <p:cond delay="0"/>
                            </p:stCondLst>
                            <p:childTnLst>
                              <p:par>
                                <p:cTn id="3" presetID="1" presetClass="mediacall" presetSubtype="0" fill="hold" nodeType="withEffect">
                                  <p:stCondLst>
                                    <p:cond delay="0"/>
                                  </p:stCondLst>
                                  <p:childTnLst>
                                    <p:cmd type="call" cmd="playFrom(0.0)">
                                      <p:cBhvr>
                                        <p:cTn id="4" dur="indefinite" fill="hold"/>
                                        <p:tgtEl>
                                          <p:spTgt spid="4"/>
                                        </p:tgtEl>
                                      </p:cBhvr>
                                    </p:cmd>
                                  </p:childTnLst>
                                </p:cTn>
                              </p:par>
                              <p:par>
                                <p:cTn id="5" presetID="1" presetClass="mediacall" presetSubtype="0" fill="hold" nodeType="withEffect">
                                  <p:stCondLst>
                                    <p:cond delay="0"/>
                                  </p:stCondLst>
                                  <p:childTnLst>
                                    <p:cmd type="call" cmd="playFrom(0.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video>
              <p:cMediaNode vol="80000">
                <p:cTn id="8" fill="hold" display="0">
                  <p:stCondLst>
                    <p:cond delay="indefinite"/>
                  </p:stCondLst>
                </p:cTn>
                <p:tgtEl>
                  <p:spTgt spid="7"/>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2  Action repeat</a:t>
            </a:r>
            <a:endParaRPr lang="en-US" sz="2600" dirty="0"/>
          </a:p>
        </p:txBody>
      </p:sp>
      <p:sp>
        <p:nvSpPr>
          <p:cNvPr id="3" name="Shape 1"/>
          <p:cNvSpPr/>
          <p:nvPr/>
        </p:nvSpPr>
        <p:spPr>
          <a:xfrm>
            <a:off x="6309360" y="384048"/>
            <a:ext cx="2377440" cy="365760"/>
          </a:xfrm>
          <a:prstGeom prst="roundRect">
            <a:avLst>
              <a:gd name="adj" fmla="val 25000"/>
            </a:avLst>
          </a:prstGeom>
          <a:solidFill>
            <a:srgbClr val="F9E6D8"/>
          </a:solidFill>
          <a:ln w="12700">
            <a:solidFill>
              <a:srgbClr val="F9E6D8"/>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C8641E"/>
                </a:solidFill>
                <a:latin typeface="Arial" pitchFamily="34" charset="0"/>
                <a:ea typeface="Arial" pitchFamily="34" charset="-122"/>
                <a:cs typeface="Arial" pitchFamily="34" charset="-120"/>
              </a:rPr>
              <a:t>When to act</a:t>
            </a:r>
            <a:endParaRPr lang="en-US" sz="1200" dirty="0"/>
          </a:p>
        </p:txBody>
      </p:sp>
      <p:pic>
        <p:nvPicPr>
          <p:cNvPr id="5" name="Image 0" descr="/tmp/claude-0/-home-user-BiVLA/4327cefa-ba5d-5e2e-9d87-c73dd3a8ccbb/scratchpad/video_ppt/assets/m_repeat.png">    </p:cNvPr>
          <p:cNvPicPr>
            <a:picLocks noChangeAspect="1"/>
          </p:cNvPicPr>
          <p:nvPr/>
        </p:nvPicPr>
        <p:blipFill>
          <a:blip r:embed="rId1"/>
          <a:stretch>
            <a:fillRect/>
          </a:stretch>
        </p:blipFill>
        <p:spPr>
          <a:xfrm>
            <a:off x="457200" y="960120"/>
            <a:ext cx="3931920" cy="2724912"/>
          </a:xfrm>
          <a:prstGeom prst="rect">
            <a:avLst/>
          </a:prstGeom>
        </p:spPr>
      </p:pic>
      <p:sp>
        <p:nvSpPr>
          <p:cNvPr id="6" name="Text 3"/>
          <p:cNvSpPr txBox="1"/>
          <p:nvPr/>
        </p:nvSpPr>
        <p:spPr>
          <a:xfrm>
            <a:off x="457200" y="3794760"/>
            <a:ext cx="4023360" cy="10058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Hold each predicted action for k = 2 or 4 steps, about one call per k steps</a:t>
            </a:r>
            <a:endParaRPr lang="en-US" sz="1150" dirty="0"/>
          </a:p>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Cuts policy calls by about k, but lengthens the open-loop interval</a:t>
            </a:r>
            <a:endParaRPr lang="en-US" sz="1150" dirty="0"/>
          </a:p>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Fixed reduction, no state check: a speed-oriented baseline</a:t>
            </a:r>
            <a:endParaRPr lang="en-US" sz="1150" dirty="0"/>
          </a:p>
        </p:txBody>
      </p:sp>
      <p:sp>
        <p:nvSpPr>
          <p:cNvPr id="7" name="Text 4"/>
          <p:cNvSpPr txBox="1"/>
          <p:nvPr/>
        </p:nvSpPr>
        <p:spPr>
          <a:xfrm>
            <a:off x="4754880" y="822960"/>
            <a:ext cx="1901952" cy="182880"/>
          </a:xfrm>
          <a:prstGeom prst="rect">
            <a:avLst/>
          </a:prstGeom>
          <a:noFill/>
          <a:ln/>
        </p:spPr>
        <p:txBody>
          <a:bodyPr wrap="square" lIns="0" tIns="0" rIns="0" bIns="0" rtlCol="0" anchor="b"/>
          <a:lstStyle/>
          <a:p>
            <a:pPr indent="0" marL="0">
              <a:buNone/>
            </a:pPr>
            <a:r>
              <a:rPr lang="en-US" sz="950" b="1" dirty="0">
                <a:solidFill>
                  <a:srgbClr val="1F2933"/>
                </a:solidFill>
                <a:latin typeface="Arial" pitchFamily="34" charset="0"/>
                <a:ea typeface="Arial" pitchFamily="34" charset="-122"/>
                <a:cs typeface="Arial" pitchFamily="34" charset="-120"/>
              </a:rPr>
              <a:t>Original</a:t>
            </a:r>
            <a:endParaRPr lang="en-US" sz="95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4754880" y="1024128"/>
            <a:ext cx="1901952" cy="1426464"/>
          </a:xfrm>
          <a:prstGeom prst="rect">
            <a:avLst/>
          </a:prstGeom>
        </p:spPr>
      </p:pic>
      <p:sp>
        <p:nvSpPr>
          <p:cNvPr id="9" name="Shape 5"/>
          <p:cNvSpPr/>
          <p:nvPr/>
        </p:nvSpPr>
        <p:spPr>
          <a:xfrm>
            <a:off x="4754880" y="1024128"/>
            <a:ext cx="1901952" cy="1426464"/>
          </a:xfrm>
          <a:prstGeom prst="rect">
            <a:avLst/>
          </a:prstGeom>
          <a:ln w="19050">
            <a:solidFill>
              <a:srgbClr val="2E8B57"/>
            </a:solidFill>
            <a:prstDash val="solid"/>
          </a:ln>
        </p:spPr>
      </p:sp>
      <p:sp>
        <p:nvSpPr>
          <p:cNvPr id="10" name="Text 6"/>
          <p:cNvSpPr txBox="1"/>
          <p:nvPr/>
        </p:nvSpPr>
        <p:spPr>
          <a:xfrm>
            <a:off x="6784848" y="822960"/>
            <a:ext cx="1901952" cy="182880"/>
          </a:xfrm>
          <a:prstGeom prst="rect">
            <a:avLst/>
          </a:prstGeom>
          <a:noFill/>
          <a:ln/>
        </p:spPr>
        <p:txBody>
          <a:bodyPr wrap="square" lIns="0" tIns="0" rIns="0" bIns="0" rtlCol="0" anchor="b"/>
          <a:lstStyle/>
          <a:p>
            <a:pPr indent="0" marL="0">
              <a:buNone/>
            </a:pPr>
            <a:r>
              <a:rPr lang="en-US" sz="950" b="1" dirty="0">
                <a:solidFill>
                  <a:srgbClr val="1F2933"/>
                </a:solidFill>
                <a:latin typeface="Arial" pitchFamily="34" charset="0"/>
                <a:ea typeface="Arial" pitchFamily="34" charset="-122"/>
                <a:cs typeface="Arial" pitchFamily="34" charset="-120"/>
              </a:rPr>
              <a:t>Action repeat 2</a:t>
            </a:r>
            <a:endParaRPr lang="en-US" sz="950" dirty="0"/>
          </a:p>
        </p:txBody>
      </p:sp>
      <p:pic>
        <p:nvPicPr>
          <p:cNvPr id="7" name="Media 1">
            <a:hlinkClick r:id="" action="ppaction://media"/>
          </p:cNvPr>
          <p:cNvPicPr>
            <a:picLocks noChangeAspect="1"/>
          </p:cNvPicPr>
          <p:nvPr>
            <a:videoFile r:link="rId5"/>
            <p:extLst>
              <p:ext uri="{DAA4B4D4-6D71-4841-9C94-3DE7FCFB9230}">
                <p14:media xmlns:p14="http://schemas.microsoft.com/office/powerpoint/2010/main" r:embed="rId6"/>
              </p:ext>
            </p:extLst>
          </p:nvPr>
        </p:nvPicPr>
        <p:blipFill>
          <a:blip r:embed="rId7"/>
          <a:stretch>
            <a:fillRect/>
          </a:stretch>
        </p:blipFill>
        <p:spPr>
          <a:xfrm>
            <a:off x="6784848" y="1024128"/>
            <a:ext cx="1901952" cy="1426464"/>
          </a:xfrm>
          <a:prstGeom prst="rect">
            <a:avLst/>
          </a:prstGeom>
        </p:spPr>
      </p:pic>
      <p:sp>
        <p:nvSpPr>
          <p:cNvPr id="12" name="Shape 7"/>
          <p:cNvSpPr/>
          <p:nvPr/>
        </p:nvSpPr>
        <p:spPr>
          <a:xfrm>
            <a:off x="6784848" y="1024128"/>
            <a:ext cx="1901952" cy="1426464"/>
          </a:xfrm>
          <a:prstGeom prst="rect">
            <a:avLst/>
          </a:prstGeom>
          <a:ln w="19050">
            <a:solidFill>
              <a:srgbClr val="B03A2E"/>
            </a:solidFill>
            <a:prstDash val="solid"/>
          </a:ln>
        </p:spPr>
      </p:sp>
      <p:sp>
        <p:nvSpPr>
          <p:cNvPr id="13" name="Text 8"/>
          <p:cNvSpPr txBox="1"/>
          <p:nvPr/>
        </p:nvSpPr>
        <p:spPr>
          <a:xfrm>
            <a:off x="4754880" y="2523744"/>
            <a:ext cx="3931920" cy="41148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CogACT, WidowX, "Spoon on the towel", same episode, 2× speed. Green = success, red = failure.</a:t>
            </a:r>
            <a:endParaRPr lang="en-US" sz="1000" dirty="0"/>
          </a:p>
        </p:txBody>
      </p:sp>
    </p:spTree>
  </p:cSld>
  <p:clrMapOvr>
    <a:masterClrMapping/>
  </p:clrMapOvr>
  <p:transition advTm="11000">
    <p:fade/>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101" fill="hold">
                            <p:stCondLst>
                              <p:cond delay="0"/>
                            </p:stCondLst>
                            <p:childTnLst>
                              <p:par>
                                <p:cTn id="3" presetID="1" presetClass="mediacall" presetSubtype="0" fill="hold" nodeType="withEffect">
                                  <p:stCondLst>
                                    <p:cond delay="0"/>
                                  </p:stCondLst>
                                  <p:childTnLst>
                                    <p:cmd type="call" cmd="playFrom(0.0)">
                                      <p:cBhvr>
                                        <p:cTn id="4" dur="indefinite" fill="hold"/>
                                        <p:tgtEl>
                                          <p:spTgt spid="4"/>
                                        </p:tgtEl>
                                      </p:cBhvr>
                                    </p:cmd>
                                  </p:childTnLst>
                                </p:cTn>
                              </p:par>
                              <p:par>
                                <p:cTn id="5" presetID="1" presetClass="mediacall" presetSubtype="0" fill="hold" nodeType="withEffect">
                                  <p:stCondLst>
                                    <p:cond delay="0"/>
                                  </p:stCondLst>
                                  <p:childTnLst>
                                    <p:cmd type="call" cmd="playFrom(0.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video>
              <p:cMediaNode vol="80000">
                <p:cTn id="8" fill="hold" display="0">
                  <p:stCondLst>
                    <p:cond delay="indefinite"/>
                  </p:stCondLst>
                </p:cTn>
                <p:tgtEl>
                  <p:spTgt spid="7"/>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3  Depth pruning</a:t>
            </a:r>
            <a:endParaRPr lang="en-US" sz="2600" dirty="0"/>
          </a:p>
        </p:txBody>
      </p:sp>
      <p:sp>
        <p:nvSpPr>
          <p:cNvPr id="3" name="Shape 1"/>
          <p:cNvSpPr/>
          <p:nvPr/>
        </p:nvSpPr>
        <p:spPr>
          <a:xfrm>
            <a:off x="6309360" y="384048"/>
            <a:ext cx="2377440" cy="365760"/>
          </a:xfrm>
          <a:prstGeom prst="roundRect">
            <a:avLst>
              <a:gd name="adj" fmla="val 25000"/>
            </a:avLst>
          </a:prstGeom>
          <a:solidFill>
            <a:srgbClr val="DDEFEC"/>
          </a:solidFill>
          <a:ln w="12700">
            <a:solidFill>
              <a:srgbClr val="DDEFEC"/>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1B7F79"/>
                </a:solidFill>
                <a:latin typeface="Arial" pitchFamily="34" charset="0"/>
                <a:ea typeface="Arial" pitchFamily="34" charset="-122"/>
                <a:cs typeface="Arial" pitchFamily="34" charset="-120"/>
              </a:rPr>
              <a:t>How much to compute</a:t>
            </a:r>
            <a:endParaRPr lang="en-US" sz="1200" dirty="0"/>
          </a:p>
        </p:txBody>
      </p:sp>
      <p:pic>
        <p:nvPicPr>
          <p:cNvPr id="5" name="Image 0" descr="/tmp/claude-0/-home-user-BiVLA/4327cefa-ba5d-5e2e-9d87-c73dd3a8ccbb/scratchpad/video_ppt/assets/m_prune.png">    </p:cNvPr>
          <p:cNvPicPr>
            <a:picLocks noChangeAspect="1"/>
          </p:cNvPicPr>
          <p:nvPr/>
        </p:nvPicPr>
        <p:blipFill>
          <a:blip r:embed="rId1"/>
          <a:stretch>
            <a:fillRect/>
          </a:stretch>
        </p:blipFill>
        <p:spPr>
          <a:xfrm>
            <a:off x="457200" y="960120"/>
            <a:ext cx="2514600" cy="2587752"/>
          </a:xfrm>
          <a:prstGeom prst="rect">
            <a:avLst/>
          </a:prstGeom>
        </p:spPr>
      </p:pic>
      <p:sp>
        <p:nvSpPr>
          <p:cNvPr id="6" name="Text 3"/>
          <p:cNvSpPr txBox="1"/>
          <p:nvPr/>
        </p:nvSpPr>
        <p:spPr>
          <a:xfrm>
            <a:off x="3108960" y="1005840"/>
            <a:ext cx="1371600" cy="35661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Score each decoder block by Block Influence</a:t>
            </a:r>
            <a:endParaRPr lang="en-US" sz="1100" dirty="0"/>
          </a:p>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Remove 1, 2, or 4 low-influence blocks; none adjacent, early blocks and the final block kept</a:t>
            </a:r>
            <a:endParaRPr lang="en-US" sz="1100" dirty="0"/>
          </a:p>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Fixed once from calibration data, not adapted at test time</a:t>
            </a:r>
            <a:endParaRPr lang="en-US" sz="1100" dirty="0"/>
          </a:p>
        </p:txBody>
      </p:sp>
      <p:sp>
        <p:nvSpPr>
          <p:cNvPr id="7" name="Text 4"/>
          <p:cNvSpPr txBox="1"/>
          <p:nvPr/>
        </p:nvSpPr>
        <p:spPr>
          <a:xfrm>
            <a:off x="4754880" y="822960"/>
            <a:ext cx="1901952" cy="182880"/>
          </a:xfrm>
          <a:prstGeom prst="rect">
            <a:avLst/>
          </a:prstGeom>
          <a:noFill/>
          <a:ln/>
        </p:spPr>
        <p:txBody>
          <a:bodyPr wrap="square" lIns="0" tIns="0" rIns="0" bIns="0" rtlCol="0" anchor="b"/>
          <a:lstStyle/>
          <a:p>
            <a:pPr indent="0" marL="0">
              <a:buNone/>
            </a:pPr>
            <a:r>
              <a:rPr lang="en-US" sz="950" b="1" dirty="0">
                <a:solidFill>
                  <a:srgbClr val="1F2933"/>
                </a:solidFill>
                <a:latin typeface="Arial" pitchFamily="34" charset="0"/>
                <a:ea typeface="Arial" pitchFamily="34" charset="-122"/>
                <a:cs typeface="Arial" pitchFamily="34" charset="-120"/>
              </a:rPr>
              <a:t>Original</a:t>
            </a:r>
            <a:endParaRPr lang="en-US" sz="95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4754880" y="1024128"/>
            <a:ext cx="1901952" cy="1426464"/>
          </a:xfrm>
          <a:prstGeom prst="rect">
            <a:avLst/>
          </a:prstGeom>
        </p:spPr>
      </p:pic>
      <p:sp>
        <p:nvSpPr>
          <p:cNvPr id="9" name="Shape 5"/>
          <p:cNvSpPr/>
          <p:nvPr/>
        </p:nvSpPr>
        <p:spPr>
          <a:xfrm>
            <a:off x="4754880" y="1024128"/>
            <a:ext cx="1901952" cy="1426464"/>
          </a:xfrm>
          <a:prstGeom prst="rect">
            <a:avLst/>
          </a:prstGeom>
          <a:ln w="19050">
            <a:solidFill>
              <a:srgbClr val="B03A2E"/>
            </a:solidFill>
            <a:prstDash val="solid"/>
          </a:ln>
        </p:spPr>
      </p:sp>
      <p:sp>
        <p:nvSpPr>
          <p:cNvPr id="10" name="Text 6"/>
          <p:cNvSpPr txBox="1"/>
          <p:nvPr/>
        </p:nvSpPr>
        <p:spPr>
          <a:xfrm>
            <a:off x="6784848" y="822960"/>
            <a:ext cx="1901952" cy="182880"/>
          </a:xfrm>
          <a:prstGeom prst="rect">
            <a:avLst/>
          </a:prstGeom>
          <a:noFill/>
          <a:ln/>
        </p:spPr>
        <p:txBody>
          <a:bodyPr wrap="square" lIns="0" tIns="0" rIns="0" bIns="0" rtlCol="0" anchor="b"/>
          <a:lstStyle/>
          <a:p>
            <a:pPr indent="0" marL="0">
              <a:buNone/>
            </a:pPr>
            <a:r>
              <a:rPr lang="en-US" sz="950" b="1" dirty="0">
                <a:solidFill>
                  <a:srgbClr val="1F2933"/>
                </a:solidFill>
                <a:latin typeface="Arial" pitchFamily="34" charset="0"/>
                <a:ea typeface="Arial" pitchFamily="34" charset="-122"/>
                <a:cs typeface="Arial" pitchFamily="34" charset="-120"/>
              </a:rPr>
              <a:t>Depth pruning 1</a:t>
            </a:r>
            <a:endParaRPr lang="en-US" sz="950" dirty="0"/>
          </a:p>
        </p:txBody>
      </p:sp>
      <p:pic>
        <p:nvPicPr>
          <p:cNvPr id="7" name="Media 1">
            <a:hlinkClick r:id="" action="ppaction://media"/>
          </p:cNvPr>
          <p:cNvPicPr>
            <a:picLocks noChangeAspect="1"/>
          </p:cNvPicPr>
          <p:nvPr>
            <a:videoFile r:link="rId5"/>
            <p:extLst>
              <p:ext uri="{DAA4B4D4-6D71-4841-9C94-3DE7FCFB9230}">
                <p14:media xmlns:p14="http://schemas.microsoft.com/office/powerpoint/2010/main" r:embed="rId6"/>
              </p:ext>
            </p:extLst>
          </p:nvPr>
        </p:nvPicPr>
        <p:blipFill>
          <a:blip r:embed="rId7"/>
          <a:stretch>
            <a:fillRect/>
          </a:stretch>
        </p:blipFill>
        <p:spPr>
          <a:xfrm>
            <a:off x="6784848" y="1024128"/>
            <a:ext cx="1901952" cy="1426464"/>
          </a:xfrm>
          <a:prstGeom prst="rect">
            <a:avLst/>
          </a:prstGeom>
        </p:spPr>
      </p:pic>
      <p:sp>
        <p:nvSpPr>
          <p:cNvPr id="12" name="Shape 7"/>
          <p:cNvSpPr/>
          <p:nvPr/>
        </p:nvSpPr>
        <p:spPr>
          <a:xfrm>
            <a:off x="6784848" y="1024128"/>
            <a:ext cx="1901952" cy="1426464"/>
          </a:xfrm>
          <a:prstGeom prst="rect">
            <a:avLst/>
          </a:prstGeom>
          <a:ln w="19050">
            <a:solidFill>
              <a:srgbClr val="2E8B57"/>
            </a:solidFill>
            <a:prstDash val="solid"/>
          </a:ln>
        </p:spPr>
      </p:sp>
      <p:sp>
        <p:nvSpPr>
          <p:cNvPr id="13" name="Text 8"/>
          <p:cNvSpPr txBox="1"/>
          <p:nvPr/>
        </p:nvSpPr>
        <p:spPr>
          <a:xfrm>
            <a:off x="4754880" y="2523744"/>
            <a:ext cx="3931920" cy="41148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CogACT, WidowX, "Carrot on the plate", same episode, 2× speed. Green = success, red = failure.</a:t>
            </a:r>
            <a:endParaRPr lang="en-US" sz="1000" dirty="0"/>
          </a:p>
        </p:txBody>
      </p:sp>
    </p:spTree>
  </p:cSld>
  <p:clrMapOvr>
    <a:masterClrMapping/>
  </p:clrMapOvr>
  <p:transition advTm="12000">
    <p:fade/>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101" fill="hold">
                            <p:stCondLst>
                              <p:cond delay="0"/>
                            </p:stCondLst>
                            <p:childTnLst>
                              <p:par>
                                <p:cTn id="3" presetID="1" presetClass="mediacall" presetSubtype="0" fill="hold" nodeType="withEffect">
                                  <p:stCondLst>
                                    <p:cond delay="0"/>
                                  </p:stCondLst>
                                  <p:childTnLst>
                                    <p:cmd type="call" cmd="playFrom(0.0)">
                                      <p:cBhvr>
                                        <p:cTn id="4" dur="indefinite" fill="hold"/>
                                        <p:tgtEl>
                                          <p:spTgt spid="4"/>
                                        </p:tgtEl>
                                      </p:cBhvr>
                                    </p:cmd>
                                  </p:childTnLst>
                                </p:cTn>
                              </p:par>
                              <p:par>
                                <p:cTn id="5" presetID="1" presetClass="mediacall" presetSubtype="0" fill="hold" nodeType="withEffect">
                                  <p:stCondLst>
                                    <p:cond delay="0"/>
                                  </p:stCondLst>
                                  <p:childTnLst>
                                    <p:cmd type="call" cmd="playFrom(0.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video>
              <p:cMediaNode vol="80000">
                <p:cTn id="8" fill="hold" display="0">
                  <p:stCondLst>
                    <p:cond delay="indefinite"/>
                  </p:stCondLst>
                </p:cTn>
                <p:tgtEl>
                  <p:spTgt spid="7"/>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4  Guarded action reuse</a:t>
            </a:r>
            <a:endParaRPr lang="en-US" sz="2600" dirty="0"/>
          </a:p>
        </p:txBody>
      </p:sp>
      <p:sp>
        <p:nvSpPr>
          <p:cNvPr id="3" name="Shape 1"/>
          <p:cNvSpPr/>
          <p:nvPr/>
        </p:nvSpPr>
        <p:spPr>
          <a:xfrm>
            <a:off x="6309360" y="384048"/>
            <a:ext cx="2377440" cy="365760"/>
          </a:xfrm>
          <a:prstGeom prst="roundRect">
            <a:avLst>
              <a:gd name="adj" fmla="val 25000"/>
            </a:avLst>
          </a:prstGeom>
          <a:solidFill>
            <a:srgbClr val="F9E6D8"/>
          </a:solidFill>
          <a:ln w="12700">
            <a:solidFill>
              <a:srgbClr val="F9E6D8"/>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C8641E"/>
                </a:solidFill>
                <a:latin typeface="Arial" pitchFamily="34" charset="0"/>
                <a:ea typeface="Arial" pitchFamily="34" charset="-122"/>
                <a:cs typeface="Arial" pitchFamily="34" charset="-120"/>
              </a:rPr>
              <a:t>When to act</a:t>
            </a:r>
            <a:endParaRPr lang="en-US" sz="1200" dirty="0"/>
          </a:p>
        </p:txBody>
      </p:sp>
      <p:pic>
        <p:nvPicPr>
          <p:cNvPr id="5" name="Image 0" descr="/tmp/claude-0/-home-user-BiVLA/4327cefa-ba5d-5e2e-9d87-c73dd3a8ccbb/scratchpad/video_ppt/assets/m_guarded.png">    </p:cNvPr>
          <p:cNvPicPr>
            <a:picLocks noChangeAspect="1"/>
          </p:cNvPicPr>
          <p:nvPr/>
        </p:nvPicPr>
        <p:blipFill>
          <a:blip r:embed="rId1"/>
          <a:stretch>
            <a:fillRect/>
          </a:stretch>
        </p:blipFill>
        <p:spPr>
          <a:xfrm>
            <a:off x="457200" y="960120"/>
            <a:ext cx="3931920" cy="2532888"/>
          </a:xfrm>
          <a:prstGeom prst="rect">
            <a:avLst/>
          </a:prstGeom>
        </p:spPr>
      </p:pic>
      <p:sp>
        <p:nvSpPr>
          <p:cNvPr id="6" name="Text 3"/>
          <p:cNvSpPr txBox="1"/>
          <p:nvPr/>
        </p:nvSpPr>
        <p:spPr>
          <a:xfrm>
            <a:off x="457200" y="3611880"/>
            <a:ext cx="4023360" cy="118872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1F2933"/>
                </a:solidFill>
                <a:latin typeface="Arial" pitchFamily="34" charset="0"/>
                <a:ea typeface="Arial" pitchFamily="34" charset="-122"/>
                <a:cs typeface="Arial" pitchFamily="34" charset="-120"/>
              </a:rPr>
              <a:t>Reuse the previous action only when all gates pass: small global and local image change, recent actions agree, translation not near zero, gripper unchanged, reuse count below a cap</a:t>
            </a:r>
            <a:endParaRPr lang="en-US" sz="1100" dirty="0"/>
          </a:p>
          <a:p>
            <a:pPr marL="177800" indent="-177800">
              <a:spcAft>
                <a:spcPts val="300"/>
              </a:spcAft>
              <a:buSzPct val="100000"/>
              <a:buChar char="•"/>
            </a:pPr>
            <a:r>
              <a:rPr lang="en-US" sz="1100" dirty="0">
                <a:solidFill>
                  <a:srgbClr val="1F2933"/>
                </a:solidFill>
                <a:latin typeface="Arial" pitchFamily="34" charset="0"/>
                <a:ea typeface="Arial" pitchFamily="34" charset="-122"/>
                <a:cs typeface="Arial" pitchFamily="34" charset="-120"/>
              </a:rPr>
              <a:t>Presets: strict, moderate, aggressive</a:t>
            </a:r>
            <a:endParaRPr lang="en-US" sz="1100" dirty="0"/>
          </a:p>
        </p:txBody>
      </p:sp>
      <p:sp>
        <p:nvSpPr>
          <p:cNvPr id="7" name="Text 4"/>
          <p:cNvSpPr txBox="1"/>
          <p:nvPr/>
        </p:nvSpPr>
        <p:spPr>
          <a:xfrm>
            <a:off x="4754880" y="822960"/>
            <a:ext cx="1901952" cy="182880"/>
          </a:xfrm>
          <a:prstGeom prst="rect">
            <a:avLst/>
          </a:prstGeom>
          <a:noFill/>
          <a:ln/>
        </p:spPr>
        <p:txBody>
          <a:bodyPr wrap="square" lIns="0" tIns="0" rIns="0" bIns="0" rtlCol="0" anchor="b"/>
          <a:lstStyle/>
          <a:p>
            <a:pPr indent="0" marL="0">
              <a:buNone/>
            </a:pPr>
            <a:r>
              <a:rPr lang="en-US" sz="950" b="1" dirty="0">
                <a:solidFill>
                  <a:srgbClr val="1F2933"/>
                </a:solidFill>
                <a:latin typeface="Arial" pitchFamily="34" charset="0"/>
                <a:ea typeface="Arial" pitchFamily="34" charset="-122"/>
                <a:cs typeface="Arial" pitchFamily="34" charset="-120"/>
              </a:rPr>
              <a:t>Original</a:t>
            </a:r>
            <a:endParaRPr lang="en-US" sz="95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4754880" y="1024128"/>
            <a:ext cx="1901952" cy="1426464"/>
          </a:xfrm>
          <a:prstGeom prst="rect">
            <a:avLst/>
          </a:prstGeom>
        </p:spPr>
      </p:pic>
      <p:sp>
        <p:nvSpPr>
          <p:cNvPr id="9" name="Shape 5"/>
          <p:cNvSpPr/>
          <p:nvPr/>
        </p:nvSpPr>
        <p:spPr>
          <a:xfrm>
            <a:off x="4754880" y="1024128"/>
            <a:ext cx="1901952" cy="1426464"/>
          </a:xfrm>
          <a:prstGeom prst="rect">
            <a:avLst/>
          </a:prstGeom>
          <a:ln w="19050">
            <a:solidFill>
              <a:srgbClr val="2E8B57"/>
            </a:solidFill>
            <a:prstDash val="solid"/>
          </a:ln>
        </p:spPr>
      </p:sp>
      <p:sp>
        <p:nvSpPr>
          <p:cNvPr id="10" name="Text 6"/>
          <p:cNvSpPr txBox="1"/>
          <p:nvPr/>
        </p:nvSpPr>
        <p:spPr>
          <a:xfrm>
            <a:off x="6784848" y="822960"/>
            <a:ext cx="1901952" cy="182880"/>
          </a:xfrm>
          <a:prstGeom prst="rect">
            <a:avLst/>
          </a:prstGeom>
          <a:noFill/>
          <a:ln/>
        </p:spPr>
        <p:txBody>
          <a:bodyPr wrap="square" lIns="0" tIns="0" rIns="0" bIns="0" rtlCol="0" anchor="b"/>
          <a:lstStyle/>
          <a:p>
            <a:pPr indent="0" marL="0">
              <a:buNone/>
            </a:pPr>
            <a:r>
              <a:rPr lang="en-US" sz="950" b="1" dirty="0">
                <a:solidFill>
                  <a:srgbClr val="1F2933"/>
                </a:solidFill>
                <a:latin typeface="Arial" pitchFamily="34" charset="0"/>
                <a:ea typeface="Arial" pitchFamily="34" charset="-122"/>
                <a:cs typeface="Arial" pitchFamily="34" charset="-120"/>
              </a:rPr>
              <a:t>Reuse strict</a:t>
            </a:r>
            <a:endParaRPr lang="en-US" sz="950" dirty="0"/>
          </a:p>
        </p:txBody>
      </p:sp>
      <p:pic>
        <p:nvPicPr>
          <p:cNvPr id="7" name="Media 1">
            <a:hlinkClick r:id="" action="ppaction://media"/>
          </p:cNvPr>
          <p:cNvPicPr>
            <a:picLocks noChangeAspect="1"/>
          </p:cNvPicPr>
          <p:nvPr>
            <a:videoFile r:link="rId5"/>
            <p:extLst>
              <p:ext uri="{DAA4B4D4-6D71-4841-9C94-3DE7FCFB9230}">
                <p14:media xmlns:p14="http://schemas.microsoft.com/office/powerpoint/2010/main" r:embed="rId6"/>
              </p:ext>
            </p:extLst>
          </p:nvPr>
        </p:nvPicPr>
        <p:blipFill>
          <a:blip r:embed="rId7"/>
          <a:stretch>
            <a:fillRect/>
          </a:stretch>
        </p:blipFill>
        <p:spPr>
          <a:xfrm>
            <a:off x="6784848" y="1024128"/>
            <a:ext cx="1901952" cy="1426464"/>
          </a:xfrm>
          <a:prstGeom prst="rect">
            <a:avLst/>
          </a:prstGeom>
        </p:spPr>
      </p:pic>
      <p:sp>
        <p:nvSpPr>
          <p:cNvPr id="12" name="Shape 7"/>
          <p:cNvSpPr/>
          <p:nvPr/>
        </p:nvSpPr>
        <p:spPr>
          <a:xfrm>
            <a:off x="6784848" y="1024128"/>
            <a:ext cx="1901952" cy="1426464"/>
          </a:xfrm>
          <a:prstGeom prst="rect">
            <a:avLst/>
          </a:prstGeom>
          <a:ln w="19050">
            <a:solidFill>
              <a:srgbClr val="2E8B57"/>
            </a:solidFill>
            <a:prstDash val="solid"/>
          </a:ln>
        </p:spPr>
      </p:sp>
      <p:sp>
        <p:nvSpPr>
          <p:cNvPr id="13" name="Text 8"/>
          <p:cNvSpPr txBox="1"/>
          <p:nvPr/>
        </p:nvSpPr>
        <p:spPr>
          <a:xfrm>
            <a:off x="4754880" y="2523744"/>
            <a:ext cx="3931920" cy="41148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CogACT, WidowX, "Eggplant in the basket", same episode, 2× speed. Green = success, red = failure.</a:t>
            </a:r>
            <a:endParaRPr lang="en-US" sz="1000" dirty="0"/>
          </a:p>
        </p:txBody>
      </p:sp>
    </p:spTree>
  </p:cSld>
  <p:clrMapOvr>
    <a:masterClrMapping/>
  </p:clrMapOvr>
  <p:transition advTm="11000">
    <p:fade/>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101" fill="hold">
                            <p:stCondLst>
                              <p:cond delay="0"/>
                            </p:stCondLst>
                            <p:childTnLst>
                              <p:par>
                                <p:cTn id="3" presetID="1" presetClass="mediacall" presetSubtype="0" fill="hold" nodeType="withEffect">
                                  <p:stCondLst>
                                    <p:cond delay="0"/>
                                  </p:stCondLst>
                                  <p:childTnLst>
                                    <p:cmd type="call" cmd="playFrom(0.0)">
                                      <p:cBhvr>
                                        <p:cTn id="4" dur="indefinite" fill="hold"/>
                                        <p:tgtEl>
                                          <p:spTgt spid="4"/>
                                        </p:tgtEl>
                                      </p:cBhvr>
                                    </p:cmd>
                                  </p:childTnLst>
                                </p:cTn>
                              </p:par>
                              <p:par>
                                <p:cTn id="5" presetID="1" presetClass="mediacall" presetSubtype="0" fill="hold" nodeType="withEffect">
                                  <p:stCondLst>
                                    <p:cond delay="0"/>
                                  </p:stCondLst>
                                  <p:childTnLst>
                                    <p:cmd type="call" cmd="playFrom(0.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video>
              <p:cMediaNode vol="80000">
                <p:cTn id="8" fill="hold" display="0">
                  <p:stCondLst>
                    <p:cond delay="indefinite"/>
                  </p:stCondLst>
                </p:cTn>
                <p:tgtEl>
                  <p:spTgt spid="7"/>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5  Temporal fusion</a:t>
            </a:r>
            <a:endParaRPr lang="en-US" sz="2600" dirty="0"/>
          </a:p>
        </p:txBody>
      </p:sp>
      <p:sp>
        <p:nvSpPr>
          <p:cNvPr id="3" name="Shape 1"/>
          <p:cNvSpPr/>
          <p:nvPr/>
        </p:nvSpPr>
        <p:spPr>
          <a:xfrm>
            <a:off x="6309360" y="384048"/>
            <a:ext cx="2377440" cy="365760"/>
          </a:xfrm>
          <a:prstGeom prst="roundRect">
            <a:avLst>
              <a:gd name="adj" fmla="val 25000"/>
            </a:avLst>
          </a:prstGeom>
          <a:solidFill>
            <a:srgbClr val="DDEFEC"/>
          </a:solidFill>
          <a:ln w="12700">
            <a:solidFill>
              <a:srgbClr val="DDEFEC"/>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1B7F79"/>
                </a:solidFill>
                <a:latin typeface="Arial" pitchFamily="34" charset="0"/>
                <a:ea typeface="Arial" pitchFamily="34" charset="-122"/>
                <a:cs typeface="Arial" pitchFamily="34" charset="-120"/>
              </a:rPr>
              <a:t>How much to compute</a:t>
            </a:r>
            <a:endParaRPr lang="en-US" sz="1200" dirty="0"/>
          </a:p>
        </p:txBody>
      </p:sp>
      <p:pic>
        <p:nvPicPr>
          <p:cNvPr id="5" name="Image 0" descr="/tmp/claude-0/-home-user-BiVLA/4327cefa-ba5d-5e2e-9d87-c73dd3a8ccbb/scratchpad/video_ppt/assets/m_fusion.png">    </p:cNvPr>
          <p:cNvPicPr>
            <a:picLocks noChangeAspect="1"/>
          </p:cNvPicPr>
          <p:nvPr/>
        </p:nvPicPr>
        <p:blipFill>
          <a:blip r:embed="rId1"/>
          <a:stretch>
            <a:fillRect/>
          </a:stretch>
        </p:blipFill>
        <p:spPr>
          <a:xfrm>
            <a:off x="457200" y="960120"/>
            <a:ext cx="2331720" cy="1901952"/>
          </a:xfrm>
          <a:prstGeom prst="rect">
            <a:avLst/>
          </a:prstGeom>
        </p:spPr>
      </p:pic>
      <p:sp>
        <p:nvSpPr>
          <p:cNvPr id="6" name="Text 3"/>
          <p:cNvSpPr txBox="1"/>
          <p:nvPr/>
        </p:nvSpPr>
        <p:spPr>
          <a:xfrm>
            <a:off x="2926080" y="960120"/>
            <a:ext cx="1554480" cy="329184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Reuse visual tokens of stable patches from the previous call</a:t>
            </a:r>
            <a:endParaRPr lang="en-US" sz="1100" dirty="0"/>
          </a:p>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Recompute patches with motion, local structure, language attention, or in the interaction region</a:t>
            </a:r>
            <a:endParaRPr lang="en-US" sz="1100" dirty="0"/>
          </a:p>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Presets: motion-entropy, task-aware, conservative-adaptive</a:t>
            </a:r>
            <a:endParaRPr lang="en-US" sz="1100" dirty="0"/>
          </a:p>
        </p:txBody>
      </p:sp>
      <p:pic>
        <p:nvPicPr>
          <p:cNvPr id="7" name="Image 1" descr="/tmp/claude-0/-home-user-BiVLA/4327cefa-ba5d-5e2e-9d87-c73dd3a8ccbb/scratchpad/video_ppt/assets/m_cache.png">    </p:cNvPr>
          <p:cNvPicPr>
            <a:picLocks noChangeAspect="1"/>
          </p:cNvPicPr>
          <p:nvPr/>
        </p:nvPicPr>
        <p:blipFill>
          <a:blip r:embed="rId2"/>
          <a:stretch>
            <a:fillRect/>
          </a:stretch>
        </p:blipFill>
        <p:spPr>
          <a:xfrm>
            <a:off x="457200" y="2944368"/>
            <a:ext cx="2331720" cy="1426464"/>
          </a:xfrm>
          <a:prstGeom prst="rect">
            <a:avLst/>
          </a:prstGeom>
        </p:spPr>
      </p:pic>
      <p:sp>
        <p:nvSpPr>
          <p:cNvPr id="8" name="Text 4"/>
          <p:cNvSpPr txBox="1"/>
          <p:nvPr/>
        </p:nvSpPr>
        <p:spPr>
          <a:xfrm>
            <a:off x="457200" y="4480560"/>
            <a:ext cx="2560320" cy="320040"/>
          </a:xfrm>
          <a:prstGeom prst="rect">
            <a:avLst/>
          </a:prstGeom>
          <a:noFill/>
          <a:ln/>
        </p:spPr>
        <p:txBody>
          <a:bodyPr wrap="square" lIns="0" tIns="0" rIns="0" bIns="0" rtlCol="0" anchor="t"/>
          <a:lstStyle/>
          <a:p>
            <a:pPr algn="l" indent="0" marL="0">
              <a:buNone/>
            </a:pPr>
            <a:r>
              <a:rPr lang="en-US" sz="950" dirty="0">
                <a:solidFill>
                  <a:srgbClr val="5F6B7A"/>
                </a:solidFill>
                <a:latin typeface="Arial" pitchFamily="34" charset="0"/>
                <a:ea typeface="Arial" pitchFamily="34" charset="-122"/>
                <a:cs typeface="Arial" pitchFamily="34" charset="-120"/>
              </a:rPr>
              <a:t>Top: fusion mask. Bottom: VLA-Cache criterion.</a:t>
            </a:r>
            <a:endParaRPr lang="en-US" sz="950" dirty="0"/>
          </a:p>
        </p:txBody>
      </p:sp>
      <p:sp>
        <p:nvSpPr>
          <p:cNvPr id="9" name="Text 5"/>
          <p:cNvSpPr txBox="1"/>
          <p:nvPr/>
        </p:nvSpPr>
        <p:spPr>
          <a:xfrm>
            <a:off x="4754880" y="822960"/>
            <a:ext cx="1901952" cy="182880"/>
          </a:xfrm>
          <a:prstGeom prst="rect">
            <a:avLst/>
          </a:prstGeom>
          <a:noFill/>
          <a:ln/>
        </p:spPr>
        <p:txBody>
          <a:bodyPr wrap="square" lIns="0" tIns="0" rIns="0" bIns="0" rtlCol="0" anchor="b"/>
          <a:lstStyle/>
          <a:p>
            <a:pPr indent="0" marL="0">
              <a:buNone/>
            </a:pPr>
            <a:r>
              <a:rPr lang="en-US" sz="950" b="1" dirty="0">
                <a:solidFill>
                  <a:srgbClr val="1F2933"/>
                </a:solidFill>
                <a:latin typeface="Arial" pitchFamily="34" charset="0"/>
                <a:ea typeface="Arial" pitchFamily="34" charset="-122"/>
                <a:cs typeface="Arial" pitchFamily="34" charset="-120"/>
              </a:rPr>
              <a:t>Original</a:t>
            </a:r>
            <a:endParaRPr lang="en-US" sz="950" dirty="0"/>
          </a:p>
        </p:txBody>
      </p:sp>
      <p:pic>
        <p:nvPicPr>
          <p:cNvPr id="5"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4754880" y="1024128"/>
            <a:ext cx="1901952" cy="1426464"/>
          </a:xfrm>
          <a:prstGeom prst="rect">
            <a:avLst/>
          </a:prstGeom>
        </p:spPr>
      </p:pic>
      <p:sp>
        <p:nvSpPr>
          <p:cNvPr id="11" name="Shape 6"/>
          <p:cNvSpPr/>
          <p:nvPr/>
        </p:nvSpPr>
        <p:spPr>
          <a:xfrm>
            <a:off x="4754880" y="1024128"/>
            <a:ext cx="1901952" cy="1426464"/>
          </a:xfrm>
          <a:prstGeom prst="rect">
            <a:avLst/>
          </a:prstGeom>
          <a:ln w="19050">
            <a:solidFill>
              <a:srgbClr val="B03A2E"/>
            </a:solidFill>
            <a:prstDash val="solid"/>
          </a:ln>
        </p:spPr>
      </p:sp>
      <p:sp>
        <p:nvSpPr>
          <p:cNvPr id="12" name="Text 7"/>
          <p:cNvSpPr txBox="1"/>
          <p:nvPr/>
        </p:nvSpPr>
        <p:spPr>
          <a:xfrm>
            <a:off x="6784848" y="822960"/>
            <a:ext cx="1901952" cy="182880"/>
          </a:xfrm>
          <a:prstGeom prst="rect">
            <a:avLst/>
          </a:prstGeom>
          <a:noFill/>
          <a:ln/>
        </p:spPr>
        <p:txBody>
          <a:bodyPr wrap="square" lIns="0" tIns="0" rIns="0" bIns="0" rtlCol="0" anchor="b"/>
          <a:lstStyle/>
          <a:p>
            <a:pPr indent="0" marL="0">
              <a:buNone/>
            </a:pPr>
            <a:r>
              <a:rPr lang="en-US" sz="950" b="1" dirty="0">
                <a:solidFill>
                  <a:srgbClr val="1F2933"/>
                </a:solidFill>
                <a:latin typeface="Arial" pitchFamily="34" charset="0"/>
                <a:ea typeface="Arial" pitchFamily="34" charset="-122"/>
                <a:cs typeface="Arial" pitchFamily="34" charset="-120"/>
              </a:rPr>
              <a:t>Fusion task-aware</a:t>
            </a:r>
            <a:endParaRPr lang="en-US" sz="950" dirty="0"/>
          </a:p>
        </p:txBody>
      </p:sp>
      <p:pic>
        <p:nvPicPr>
          <p:cNvPr id="8" name="Media 1">
            <a:hlinkClick r:id="" action="ppaction://media"/>
          </p:cNvPr>
          <p:cNvPicPr>
            <a:picLocks noChangeAspect="1"/>
          </p:cNvPicPr>
          <p:nvPr>
            <a:videoFile r:link="rId6"/>
            <p:extLst>
              <p:ext uri="{DAA4B4D4-6D71-4841-9C94-3DE7FCFB9230}">
                <p14:media xmlns:p14="http://schemas.microsoft.com/office/powerpoint/2010/main" r:embed="rId7"/>
              </p:ext>
            </p:extLst>
          </p:nvPr>
        </p:nvPicPr>
        <p:blipFill>
          <a:blip r:embed="rId8"/>
          <a:stretch>
            <a:fillRect/>
          </a:stretch>
        </p:blipFill>
        <p:spPr>
          <a:xfrm>
            <a:off x="6784848" y="1024128"/>
            <a:ext cx="1901952" cy="1426464"/>
          </a:xfrm>
          <a:prstGeom prst="rect">
            <a:avLst/>
          </a:prstGeom>
        </p:spPr>
      </p:pic>
      <p:sp>
        <p:nvSpPr>
          <p:cNvPr id="14" name="Shape 8"/>
          <p:cNvSpPr/>
          <p:nvPr/>
        </p:nvSpPr>
        <p:spPr>
          <a:xfrm>
            <a:off x="6784848" y="1024128"/>
            <a:ext cx="1901952" cy="1426464"/>
          </a:xfrm>
          <a:prstGeom prst="rect">
            <a:avLst/>
          </a:prstGeom>
          <a:ln w="19050">
            <a:solidFill>
              <a:srgbClr val="2E8B57"/>
            </a:solidFill>
            <a:prstDash val="solid"/>
          </a:ln>
        </p:spPr>
      </p:sp>
      <p:sp>
        <p:nvSpPr>
          <p:cNvPr id="15" name="Text 9"/>
          <p:cNvSpPr txBox="1"/>
          <p:nvPr/>
        </p:nvSpPr>
        <p:spPr>
          <a:xfrm>
            <a:off x="4754880" y="2523744"/>
            <a:ext cx="3931920" cy="41148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CogACT, WidowX, "Spoon on the towel", same episode, 2× speed. Green = success, red = failure.</a:t>
            </a:r>
            <a:endParaRPr lang="en-US" sz="1000" dirty="0"/>
          </a:p>
        </p:txBody>
      </p:sp>
    </p:spTree>
  </p:cSld>
  <p:clrMapOvr>
    <a:masterClrMapping/>
  </p:clrMapOvr>
  <p:transition advTm="12000">
    <p:fade/>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101" fill="hold">
                            <p:stCondLst>
                              <p:cond delay="0"/>
                            </p:stCondLst>
                            <p:childTnLst>
                              <p:par>
                                <p:cTn id="3" presetID="1" presetClass="mediacall" presetSubtype="0" fill="hold" nodeType="withEffect">
                                  <p:stCondLst>
                                    <p:cond delay="0"/>
                                  </p:stCondLst>
                                  <p:childTnLst>
                                    <p:cmd type="call" cmd="playFrom(0.0)">
                                      <p:cBhvr>
                                        <p:cTn id="4" dur="indefinite" fill="hold"/>
                                        <p:tgtEl>
                                          <p:spTgt spid="5"/>
                                        </p:tgtEl>
                                      </p:cBhvr>
                                    </p:cmd>
                                  </p:childTnLst>
                                </p:cTn>
                              </p:par>
                              <p:par>
                                <p:cTn id="5" presetID="1" presetClass="mediacall" presetSubtype="0" fill="hold" nodeType="withEffect">
                                  <p:stCondLst>
                                    <p:cond delay="0"/>
                                  </p:stCondLst>
                                  <p:childTnLst>
                                    <p:cmd type="call" cmd="playFrom(0.0)">
                                      <p:cBhvr>
                                        <p:cTn id="6" dur="indefinite"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video>
              <p:cMediaNode vol="80000">
                <p:cTn id="8" fill="hold" display="0">
                  <p:stCondLst>
                    <p:cond delay="indefinite"/>
                  </p:stCondLst>
                </p:cTn>
                <p:tgtEl>
                  <p:spTgt spid="8"/>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Results: matched evaluation protocol</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4572000" cy="914400"/>
        </p:xfrm>
        <a:graphic>
          <a:graphicData uri="http://schemas.openxmlformats.org/drawingml/2006/table">
            <a:tbl>
              <a:tblPr/>
              <a:tblGrid>
                <a:gridCol w="1828800"/>
                <a:gridCol w="914400"/>
                <a:gridCol w="914400"/>
                <a:gridCol w="914400"/>
              </a:tblGrid>
              <a:tr h="329184">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Backbone</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WidowX</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Fractal</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LIBERO</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CogACT (7.6B)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OpenVLA (7B)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SpatialVLA (4B)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CronusVLA (0.5B)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UniVLA (8.5B)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MiniVLA (1B)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SmolVLA (0.45B)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794760"/>
            <a:ext cx="4572000" cy="59436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SimplerEnv WidowX: 4 tasks × 50 episodes.  Google Robot/Fractal: 5 tasks × 50.  LIBERO: Long, Goal, Object, Spatial, each suite a separate pair (3 × 4 = 12), giving 22 pairs in total.</a:t>
            </a:r>
            <a:endParaRPr lang="en-US" sz="1050" dirty="0"/>
          </a:p>
        </p:txBody>
      </p:sp>
      <p:sp>
        <p:nvSpPr>
          <p:cNvPr id="5" name="Text 2"/>
          <p:cNvSpPr txBox="1"/>
          <p:nvPr/>
        </p:nvSpPr>
        <p:spPr>
          <a:xfrm>
            <a:off x="5212080" y="1005840"/>
            <a:ext cx="1143000" cy="685800"/>
          </a:xfrm>
          <a:prstGeom prst="rect">
            <a:avLst/>
          </a:prstGeom>
          <a:noFill/>
          <a:ln/>
        </p:spPr>
        <p:txBody>
          <a:bodyPr wrap="square" lIns="0" tIns="0" rIns="0" bIns="0" rtlCol="0" anchor="ctr"/>
          <a:lstStyle/>
          <a:p>
            <a:pPr algn="ctr" indent="0" marL="0">
              <a:buNone/>
            </a:pPr>
            <a:r>
              <a:rPr lang="en-US" sz="3000" b="1" dirty="0">
                <a:solidFill>
                  <a:srgbClr val="1B7F79"/>
                </a:solidFill>
                <a:latin typeface="Arial" pitchFamily="34" charset="0"/>
                <a:ea typeface="Arial" pitchFamily="34" charset="-122"/>
                <a:cs typeface="Arial" pitchFamily="34" charset="-120"/>
              </a:rPr>
              <a:t>22</a:t>
            </a:r>
            <a:endParaRPr lang="en-US" sz="3000" dirty="0"/>
          </a:p>
        </p:txBody>
      </p:sp>
      <p:sp>
        <p:nvSpPr>
          <p:cNvPr id="6" name="Text 3"/>
          <p:cNvSpPr txBox="1"/>
          <p:nvPr/>
        </p:nvSpPr>
        <p:spPr>
          <a:xfrm>
            <a:off x="5212080" y="1691640"/>
            <a:ext cx="1143000" cy="457200"/>
          </a:xfrm>
          <a:prstGeom prst="rect">
            <a:avLst/>
          </a:prstGeom>
          <a:noFill/>
          <a:ln/>
        </p:spPr>
        <p:txBody>
          <a:bodyPr wrap="square" lIns="0" tIns="0" rIns="0" bIns="0" rtlCol="0" anchor="t"/>
          <a:lstStyle/>
          <a:p>
            <a:pPr algn="ctr" indent="0" marL="0">
              <a:buNone/>
            </a:pPr>
            <a:r>
              <a:rPr lang="en-US" sz="1050" dirty="0">
                <a:solidFill>
                  <a:srgbClr val="5F6B7A"/>
                </a:solidFill>
                <a:latin typeface="Arial" pitchFamily="34" charset="0"/>
                <a:ea typeface="Arial" pitchFamily="34" charset="-122"/>
                <a:cs typeface="Arial" pitchFamily="34" charset="-120"/>
              </a:rPr>
              <a:t>backbone × environment pairs</a:t>
            </a:r>
            <a:endParaRPr lang="en-US" sz="1050" dirty="0"/>
          </a:p>
        </p:txBody>
      </p:sp>
      <p:sp>
        <p:nvSpPr>
          <p:cNvPr id="7" name="Text 4"/>
          <p:cNvSpPr txBox="1"/>
          <p:nvPr/>
        </p:nvSpPr>
        <p:spPr>
          <a:xfrm>
            <a:off x="6400800" y="1005840"/>
            <a:ext cx="1143000" cy="685800"/>
          </a:xfrm>
          <a:prstGeom prst="rect">
            <a:avLst/>
          </a:prstGeom>
          <a:noFill/>
          <a:ln/>
        </p:spPr>
        <p:txBody>
          <a:bodyPr wrap="square" lIns="0" tIns="0" rIns="0" bIns="0" rtlCol="0" anchor="ctr"/>
          <a:lstStyle/>
          <a:p>
            <a:pPr algn="ctr" indent="0" marL="0">
              <a:buNone/>
            </a:pPr>
            <a:r>
              <a:rPr lang="en-US" sz="3000" b="1" dirty="0">
                <a:solidFill>
                  <a:srgbClr val="1B7F79"/>
                </a:solidFill>
                <a:latin typeface="Arial" pitchFamily="34" charset="0"/>
                <a:ea typeface="Arial" pitchFamily="34" charset="-122"/>
                <a:cs typeface="Arial" pitchFamily="34" charset="-120"/>
              </a:rPr>
              <a:t>13 + 1</a:t>
            </a:r>
            <a:endParaRPr lang="en-US" sz="3000" dirty="0"/>
          </a:p>
        </p:txBody>
      </p:sp>
      <p:sp>
        <p:nvSpPr>
          <p:cNvPr id="8" name="Text 5"/>
          <p:cNvSpPr txBox="1"/>
          <p:nvPr/>
        </p:nvSpPr>
        <p:spPr>
          <a:xfrm>
            <a:off x="6400800" y="1691640"/>
            <a:ext cx="1143000" cy="457200"/>
          </a:xfrm>
          <a:prstGeom prst="rect">
            <a:avLst/>
          </a:prstGeom>
          <a:noFill/>
          <a:ln/>
        </p:spPr>
        <p:txBody>
          <a:bodyPr wrap="square" lIns="0" tIns="0" rIns="0" bIns="0" rtlCol="0" anchor="t"/>
          <a:lstStyle/>
          <a:p>
            <a:pPr algn="ctr" indent="0" marL="0">
              <a:buNone/>
            </a:pPr>
            <a:r>
              <a:rPr lang="en-US" sz="1050" dirty="0">
                <a:solidFill>
                  <a:srgbClr val="5F6B7A"/>
                </a:solidFill>
                <a:latin typeface="Arial" pitchFamily="34" charset="0"/>
                <a:ea typeface="Arial" pitchFamily="34" charset="-122"/>
                <a:cs typeface="Arial" pitchFamily="34" charset="-120"/>
              </a:rPr>
              <a:t>trick settings + original, per pair</a:t>
            </a:r>
            <a:endParaRPr lang="en-US" sz="1050" dirty="0"/>
          </a:p>
        </p:txBody>
      </p:sp>
      <p:sp>
        <p:nvSpPr>
          <p:cNvPr id="9" name="Text 6"/>
          <p:cNvSpPr txBox="1"/>
          <p:nvPr/>
        </p:nvSpPr>
        <p:spPr>
          <a:xfrm>
            <a:off x="7589520" y="1005840"/>
            <a:ext cx="1143000" cy="685800"/>
          </a:xfrm>
          <a:prstGeom prst="rect">
            <a:avLst/>
          </a:prstGeom>
          <a:noFill/>
          <a:ln/>
        </p:spPr>
        <p:txBody>
          <a:bodyPr wrap="square" lIns="0" tIns="0" rIns="0" bIns="0" rtlCol="0" anchor="ctr"/>
          <a:lstStyle/>
          <a:p>
            <a:pPr algn="ctr" indent="0" marL="0">
              <a:buNone/>
            </a:pPr>
            <a:r>
              <a:rPr lang="en-US" sz="3000" b="1" dirty="0">
                <a:solidFill>
                  <a:srgbClr val="1B7F79"/>
                </a:solidFill>
                <a:latin typeface="Arial" pitchFamily="34" charset="0"/>
                <a:ea typeface="Arial" pitchFamily="34" charset="-122"/>
                <a:cs typeface="Arial" pitchFamily="34" charset="-120"/>
              </a:rPr>
              <a:t>286</a:t>
            </a:r>
            <a:endParaRPr lang="en-US" sz="3000" dirty="0"/>
          </a:p>
        </p:txBody>
      </p:sp>
      <p:sp>
        <p:nvSpPr>
          <p:cNvPr id="10" name="Text 7"/>
          <p:cNvSpPr txBox="1"/>
          <p:nvPr/>
        </p:nvSpPr>
        <p:spPr>
          <a:xfrm>
            <a:off x="7589520" y="1691640"/>
            <a:ext cx="1143000" cy="457200"/>
          </a:xfrm>
          <a:prstGeom prst="rect">
            <a:avLst/>
          </a:prstGeom>
          <a:noFill/>
          <a:ln/>
        </p:spPr>
        <p:txBody>
          <a:bodyPr wrap="square" lIns="0" tIns="0" rIns="0" bIns="0" rtlCol="0" anchor="t"/>
          <a:lstStyle/>
          <a:p>
            <a:pPr algn="ctr" indent="0" marL="0">
              <a:buNone/>
            </a:pPr>
            <a:r>
              <a:rPr lang="en-US" sz="1050" dirty="0">
                <a:solidFill>
                  <a:srgbClr val="5F6B7A"/>
                </a:solidFill>
                <a:latin typeface="Arial" pitchFamily="34" charset="0"/>
                <a:ea typeface="Arial" pitchFamily="34" charset="-122"/>
                <a:cs typeface="Arial" pitchFamily="34" charset="-120"/>
              </a:rPr>
              <a:t>trick settings (13 × 22), all paired with the original</a:t>
            </a:r>
            <a:endParaRPr lang="en-US" sz="1050" dirty="0"/>
          </a:p>
        </p:txBody>
      </p:sp>
      <p:sp>
        <p:nvSpPr>
          <p:cNvPr id="11" name="Text 8"/>
          <p:cNvSpPr txBox="1"/>
          <p:nvPr/>
        </p:nvSpPr>
        <p:spPr>
          <a:xfrm>
            <a:off x="5212080" y="2651760"/>
            <a:ext cx="3474720" cy="201168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Official checkpoints, no retraining</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Same task instances and initial states as the original</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Latency = wall-clock per environment step</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Exact two-sided McNemar test on paired episodes</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4 × RTX 5090; tables report the best setting per trick</a:t>
            </a:r>
            <a:endParaRPr lang="en-US" sz="1200" dirty="0"/>
          </a:p>
        </p:txBody>
      </p:sp>
    </p:spTree>
  </p:cSld>
  <p:clrMapOvr>
    <a:masterClrMapping/>
  </p:clrMapOvr>
  <p:transition advTm="1200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100" b="1" dirty="0">
                <a:solidFill>
                  <a:srgbClr val="1F2933"/>
                </a:solidFill>
                <a:latin typeface="Arial" pitchFamily="34" charset="0"/>
                <a:ea typeface="Arial" pitchFamily="34" charset="-122"/>
                <a:cs typeface="Arial" pitchFamily="34" charset="-120"/>
              </a:rPr>
              <a:t>CogACT on SimplerEnv WidowX: "Carrot on the plate"</a:t>
            </a:r>
            <a:endParaRPr lang="en-US" sz="2100" dirty="0"/>
          </a:p>
        </p:txBody>
      </p:sp>
      <p:sp>
        <p:nvSpPr>
          <p:cNvPr id="3" name="Text 1"/>
          <p:cNvSpPr txBox="1"/>
          <p:nvPr/>
        </p:nvSpPr>
        <p:spPr>
          <a:xfrm>
            <a:off x="457200" y="822960"/>
            <a:ext cx="8229600" cy="256032"/>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All 14 configurations on the same episode (same initial state), played at 2× speed. Green = success, red = failure (badge in each clip).</a:t>
            </a:r>
            <a:endParaRPr lang="en-US" sz="1000" dirty="0"/>
          </a:p>
        </p:txBody>
      </p:sp>
      <p:sp>
        <p:nvSpPr>
          <p:cNvPr id="4" name="Text 2"/>
          <p:cNvSpPr txBox="1"/>
          <p:nvPr/>
        </p:nvSpPr>
        <p:spPr>
          <a:xfrm>
            <a:off x="457200" y="1097280"/>
            <a:ext cx="1426464" cy="173736"/>
          </a:xfrm>
          <a:prstGeom prst="rect">
            <a:avLst/>
          </a:prstGeom>
          <a:noFill/>
          <a:ln/>
        </p:spPr>
        <p:txBody>
          <a:bodyPr wrap="square" lIns="0" tIns="0" rIns="0" bIns="0" rtlCol="0" anchor="b"/>
          <a:lstStyle/>
          <a:p>
            <a:pPr indent="0" marL="0">
              <a:buNone/>
            </a:pPr>
            <a:r>
              <a:rPr lang="en-US" sz="900" b="1" dirty="0">
                <a:solidFill>
                  <a:srgbClr val="222222"/>
                </a:solidFill>
                <a:latin typeface="Arial" pitchFamily="34" charset="0"/>
                <a:ea typeface="Arial" pitchFamily="34" charset="-122"/>
                <a:cs typeface="Arial" pitchFamily="34" charset="-120"/>
              </a:rPr>
              <a:t>Original</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271016"/>
            <a:ext cx="1426464" cy="1069848"/>
          </a:xfrm>
          <a:prstGeom prst="rect">
            <a:avLst/>
          </a:prstGeom>
        </p:spPr>
      </p:pic>
      <p:sp>
        <p:nvSpPr>
          <p:cNvPr id="6" name="Shape 3"/>
          <p:cNvSpPr/>
          <p:nvPr/>
        </p:nvSpPr>
        <p:spPr>
          <a:xfrm>
            <a:off x="457200" y="1271016"/>
            <a:ext cx="1426464" cy="1069848"/>
          </a:xfrm>
          <a:prstGeom prst="rect">
            <a:avLst/>
          </a:prstGeom>
          <a:ln w="19050">
            <a:solidFill>
              <a:srgbClr val="2E8B57"/>
            </a:solidFill>
            <a:prstDash val="solid"/>
          </a:ln>
        </p:spPr>
      </p:sp>
      <p:sp>
        <p:nvSpPr>
          <p:cNvPr id="7" name="Text 4"/>
          <p:cNvSpPr txBox="1"/>
          <p:nvPr/>
        </p:nvSpPr>
        <p:spPr>
          <a:xfrm>
            <a:off x="2157984" y="1097280"/>
            <a:ext cx="1426464" cy="173736"/>
          </a:xfrm>
          <a:prstGeom prst="rect">
            <a:avLst/>
          </a:prstGeom>
          <a:noFill/>
          <a:ln/>
        </p:spPr>
        <p:txBody>
          <a:bodyPr wrap="square" lIns="0" tIns="0" rIns="0" bIns="0" rtlCol="0" anchor="b"/>
          <a:lstStyle/>
          <a:p>
            <a:pPr indent="0" marL="0">
              <a:buNone/>
            </a:pPr>
            <a:r>
              <a:rPr lang="en-US" sz="900" b="1" dirty="0">
                <a:solidFill>
                  <a:srgbClr val="0072B2"/>
                </a:solidFill>
                <a:latin typeface="Arial" pitchFamily="34" charset="0"/>
                <a:ea typeface="Arial" pitchFamily="34" charset="-122"/>
                <a:cs typeface="Arial" pitchFamily="34" charset="-120"/>
              </a:rPr>
              <a:t>Foveation 20%</a:t>
            </a:r>
            <a:endParaRPr lang="en-US" sz="900" dirty="0"/>
          </a:p>
        </p:txBody>
      </p:sp>
      <p:pic>
        <p:nvPicPr>
          <p:cNvPr id="6" name="Media 1">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2157984" y="1271016"/>
            <a:ext cx="1426464" cy="1069848"/>
          </a:xfrm>
          <a:prstGeom prst="rect">
            <a:avLst/>
          </a:prstGeom>
        </p:spPr>
      </p:pic>
      <p:sp>
        <p:nvSpPr>
          <p:cNvPr id="9" name="Shape 5"/>
          <p:cNvSpPr/>
          <p:nvPr/>
        </p:nvSpPr>
        <p:spPr>
          <a:xfrm>
            <a:off x="2157984" y="1271016"/>
            <a:ext cx="1426464" cy="1069848"/>
          </a:xfrm>
          <a:prstGeom prst="rect">
            <a:avLst/>
          </a:prstGeom>
          <a:ln w="19050">
            <a:solidFill>
              <a:srgbClr val="B03A2E"/>
            </a:solidFill>
            <a:prstDash val="solid"/>
          </a:ln>
        </p:spPr>
      </p:sp>
      <p:sp>
        <p:nvSpPr>
          <p:cNvPr id="10" name="Text 6"/>
          <p:cNvSpPr txBox="1"/>
          <p:nvPr/>
        </p:nvSpPr>
        <p:spPr>
          <a:xfrm>
            <a:off x="3858768" y="1097280"/>
            <a:ext cx="1426464" cy="173736"/>
          </a:xfrm>
          <a:prstGeom prst="rect">
            <a:avLst/>
          </a:prstGeom>
          <a:noFill/>
          <a:ln/>
        </p:spPr>
        <p:txBody>
          <a:bodyPr wrap="square" lIns="0" tIns="0" rIns="0" bIns="0" rtlCol="0" anchor="b"/>
          <a:lstStyle/>
          <a:p>
            <a:pPr indent="0" marL="0">
              <a:buNone/>
            </a:pPr>
            <a:r>
              <a:rPr lang="en-US" sz="900" b="1" dirty="0">
                <a:solidFill>
                  <a:srgbClr val="0072B2"/>
                </a:solidFill>
                <a:latin typeface="Arial" pitchFamily="34" charset="0"/>
                <a:ea typeface="Arial" pitchFamily="34" charset="-122"/>
                <a:cs typeface="Arial" pitchFamily="34" charset="-120"/>
              </a:rPr>
              <a:t>Foveation 50%</a:t>
            </a:r>
            <a:endParaRPr lang="en-US" sz="900" dirty="0"/>
          </a:p>
        </p:txBody>
      </p:sp>
      <p:pic>
        <p:nvPicPr>
          <p:cNvPr id="9" name="Media 2">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3858768" y="1271016"/>
            <a:ext cx="1426464" cy="1069848"/>
          </a:xfrm>
          <a:prstGeom prst="rect">
            <a:avLst/>
          </a:prstGeom>
        </p:spPr>
      </p:pic>
      <p:sp>
        <p:nvSpPr>
          <p:cNvPr id="12" name="Shape 7"/>
          <p:cNvSpPr/>
          <p:nvPr/>
        </p:nvSpPr>
        <p:spPr>
          <a:xfrm>
            <a:off x="3858768" y="1271016"/>
            <a:ext cx="1426464" cy="1069848"/>
          </a:xfrm>
          <a:prstGeom prst="rect">
            <a:avLst/>
          </a:prstGeom>
          <a:ln w="19050">
            <a:solidFill>
              <a:srgbClr val="B03A2E"/>
            </a:solidFill>
            <a:prstDash val="solid"/>
          </a:ln>
        </p:spPr>
      </p:sp>
      <p:sp>
        <p:nvSpPr>
          <p:cNvPr id="13" name="Text 8"/>
          <p:cNvSpPr txBox="1"/>
          <p:nvPr/>
        </p:nvSpPr>
        <p:spPr>
          <a:xfrm>
            <a:off x="5559552" y="1097280"/>
            <a:ext cx="1426464" cy="173736"/>
          </a:xfrm>
          <a:prstGeom prst="rect">
            <a:avLst/>
          </a:prstGeom>
          <a:noFill/>
          <a:ln/>
        </p:spPr>
        <p:txBody>
          <a:bodyPr wrap="square" lIns="0" tIns="0" rIns="0" bIns="0" rtlCol="0" anchor="b"/>
          <a:lstStyle/>
          <a:p>
            <a:pPr indent="0" marL="0">
              <a:buNone/>
            </a:pPr>
            <a:r>
              <a:rPr lang="en-US" sz="900" b="1" dirty="0">
                <a:solidFill>
                  <a:srgbClr val="D55E00"/>
                </a:solidFill>
                <a:latin typeface="Arial" pitchFamily="34" charset="0"/>
                <a:ea typeface="Arial" pitchFamily="34" charset="-122"/>
                <a:cs typeface="Arial" pitchFamily="34" charset="-120"/>
              </a:rPr>
              <a:t>Action repeat 2</a:t>
            </a:r>
            <a:endParaRPr lang="en-US" sz="900" dirty="0"/>
          </a:p>
        </p:txBody>
      </p:sp>
      <p:pic>
        <p:nvPicPr>
          <p:cNvPr id="12" name="Media 3">
            <a:hlinkClick r:id="" action="ppaction://media"/>
          </p:cNvPr>
          <p:cNvPicPr>
            <a:picLocks noChangeAspect="1"/>
          </p:cNvPicPr>
          <p:nvPr>
            <a:videoFile r:link="rId10"/>
            <p:extLst>
              <p:ext uri="{DAA4B4D4-6D71-4841-9C94-3DE7FCFB9230}">
                <p14:media xmlns:p14="http://schemas.microsoft.com/office/powerpoint/2010/main" r:embed="rId11"/>
              </p:ext>
            </p:extLst>
          </p:nvPr>
        </p:nvPicPr>
        <p:blipFill>
          <a:blip r:embed="rId12"/>
          <a:stretch>
            <a:fillRect/>
          </a:stretch>
        </p:blipFill>
        <p:spPr>
          <a:xfrm>
            <a:off x="5559552" y="1271016"/>
            <a:ext cx="1426464" cy="1069848"/>
          </a:xfrm>
          <a:prstGeom prst="rect">
            <a:avLst/>
          </a:prstGeom>
        </p:spPr>
      </p:pic>
      <p:sp>
        <p:nvSpPr>
          <p:cNvPr id="15" name="Shape 9"/>
          <p:cNvSpPr/>
          <p:nvPr/>
        </p:nvSpPr>
        <p:spPr>
          <a:xfrm>
            <a:off x="5559552" y="1271016"/>
            <a:ext cx="1426464" cy="1069848"/>
          </a:xfrm>
          <a:prstGeom prst="rect">
            <a:avLst/>
          </a:prstGeom>
          <a:ln w="19050">
            <a:solidFill>
              <a:srgbClr val="B03A2E"/>
            </a:solidFill>
            <a:prstDash val="solid"/>
          </a:ln>
        </p:spPr>
      </p:sp>
      <p:sp>
        <p:nvSpPr>
          <p:cNvPr id="16" name="Text 10"/>
          <p:cNvSpPr txBox="1"/>
          <p:nvPr/>
        </p:nvSpPr>
        <p:spPr>
          <a:xfrm>
            <a:off x="7260336" y="1097280"/>
            <a:ext cx="1426464" cy="173736"/>
          </a:xfrm>
          <a:prstGeom prst="rect">
            <a:avLst/>
          </a:prstGeom>
          <a:noFill/>
          <a:ln/>
        </p:spPr>
        <p:txBody>
          <a:bodyPr wrap="square" lIns="0" tIns="0" rIns="0" bIns="0" rtlCol="0" anchor="b"/>
          <a:lstStyle/>
          <a:p>
            <a:pPr indent="0" marL="0">
              <a:buNone/>
            </a:pPr>
            <a:r>
              <a:rPr lang="en-US" sz="900" b="1" dirty="0">
                <a:solidFill>
                  <a:srgbClr val="D55E00"/>
                </a:solidFill>
                <a:latin typeface="Arial" pitchFamily="34" charset="0"/>
                <a:ea typeface="Arial" pitchFamily="34" charset="-122"/>
                <a:cs typeface="Arial" pitchFamily="34" charset="-120"/>
              </a:rPr>
              <a:t>Action repeat 4</a:t>
            </a:r>
            <a:endParaRPr lang="en-US" sz="900" dirty="0"/>
          </a:p>
        </p:txBody>
      </p:sp>
      <p:pic>
        <p:nvPicPr>
          <p:cNvPr id="15" name="Media 4">
            <a:hlinkClick r:id="" action="ppaction://media"/>
          </p:cNvPr>
          <p:cNvPicPr>
            <a:picLocks noChangeAspect="1"/>
          </p:cNvPicPr>
          <p:nvPr>
            <a:videoFile r:link="rId13"/>
            <p:extLst>
              <p:ext uri="{DAA4B4D4-6D71-4841-9C94-3DE7FCFB9230}">
                <p14:media xmlns:p14="http://schemas.microsoft.com/office/powerpoint/2010/main" r:embed="rId14"/>
              </p:ext>
            </p:extLst>
          </p:nvPr>
        </p:nvPicPr>
        <p:blipFill>
          <a:blip r:embed="rId15"/>
          <a:stretch>
            <a:fillRect/>
          </a:stretch>
        </p:blipFill>
        <p:spPr>
          <a:xfrm>
            <a:off x="7260336" y="1271016"/>
            <a:ext cx="1426464" cy="1069848"/>
          </a:xfrm>
          <a:prstGeom prst="rect">
            <a:avLst/>
          </a:prstGeom>
        </p:spPr>
      </p:pic>
      <p:sp>
        <p:nvSpPr>
          <p:cNvPr id="18" name="Shape 11"/>
          <p:cNvSpPr/>
          <p:nvPr/>
        </p:nvSpPr>
        <p:spPr>
          <a:xfrm>
            <a:off x="7260336" y="1271016"/>
            <a:ext cx="1426464" cy="1069848"/>
          </a:xfrm>
          <a:prstGeom prst="rect">
            <a:avLst/>
          </a:prstGeom>
          <a:ln w="19050">
            <a:solidFill>
              <a:srgbClr val="B03A2E"/>
            </a:solidFill>
            <a:prstDash val="solid"/>
          </a:ln>
        </p:spPr>
      </p:sp>
      <p:sp>
        <p:nvSpPr>
          <p:cNvPr id="19" name="Text 12"/>
          <p:cNvSpPr txBox="1"/>
          <p:nvPr/>
        </p:nvSpPr>
        <p:spPr>
          <a:xfrm>
            <a:off x="457200" y="2359152"/>
            <a:ext cx="1426464" cy="173736"/>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1</a:t>
            </a:r>
            <a:endParaRPr lang="en-US" sz="900" dirty="0"/>
          </a:p>
        </p:txBody>
      </p:sp>
      <p:pic>
        <p:nvPicPr>
          <p:cNvPr id="18" name="Media 5">
            <a:hlinkClick r:id="" action="ppaction://media"/>
          </p:cNvPr>
          <p:cNvPicPr>
            <a:picLocks noChangeAspect="1"/>
          </p:cNvPicPr>
          <p:nvPr>
            <a:videoFile r:link="rId16"/>
            <p:extLst>
              <p:ext uri="{DAA4B4D4-6D71-4841-9C94-3DE7FCFB9230}">
                <p14:media xmlns:p14="http://schemas.microsoft.com/office/powerpoint/2010/main" r:embed="rId17"/>
              </p:ext>
            </p:extLst>
          </p:nvPr>
        </p:nvPicPr>
        <p:blipFill>
          <a:blip r:embed="rId18"/>
          <a:stretch>
            <a:fillRect/>
          </a:stretch>
        </p:blipFill>
        <p:spPr>
          <a:xfrm>
            <a:off x="457200" y="2532888"/>
            <a:ext cx="1426464" cy="1069848"/>
          </a:xfrm>
          <a:prstGeom prst="rect">
            <a:avLst/>
          </a:prstGeom>
        </p:spPr>
      </p:pic>
      <p:sp>
        <p:nvSpPr>
          <p:cNvPr id="21" name="Shape 13"/>
          <p:cNvSpPr/>
          <p:nvPr/>
        </p:nvSpPr>
        <p:spPr>
          <a:xfrm>
            <a:off x="457200" y="2532888"/>
            <a:ext cx="1426464" cy="1069848"/>
          </a:xfrm>
          <a:prstGeom prst="rect">
            <a:avLst/>
          </a:prstGeom>
          <a:ln w="19050">
            <a:solidFill>
              <a:srgbClr val="2E8B57"/>
            </a:solidFill>
            <a:prstDash val="solid"/>
          </a:ln>
        </p:spPr>
      </p:sp>
      <p:sp>
        <p:nvSpPr>
          <p:cNvPr id="22" name="Text 14"/>
          <p:cNvSpPr txBox="1"/>
          <p:nvPr/>
        </p:nvSpPr>
        <p:spPr>
          <a:xfrm>
            <a:off x="2157984" y="2359152"/>
            <a:ext cx="1426464" cy="173736"/>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2</a:t>
            </a:r>
            <a:endParaRPr lang="en-US" sz="900" dirty="0"/>
          </a:p>
        </p:txBody>
      </p:sp>
      <p:pic>
        <p:nvPicPr>
          <p:cNvPr id="21" name="Media 6">
            <a:hlinkClick r:id="" action="ppaction://media"/>
          </p:cNvPr>
          <p:cNvPicPr>
            <a:picLocks noChangeAspect="1"/>
          </p:cNvPicPr>
          <p:nvPr>
            <a:videoFile r:link="rId19"/>
            <p:extLst>
              <p:ext uri="{DAA4B4D4-6D71-4841-9C94-3DE7FCFB9230}">
                <p14:media xmlns:p14="http://schemas.microsoft.com/office/powerpoint/2010/main" r:embed="rId20"/>
              </p:ext>
            </p:extLst>
          </p:nvPr>
        </p:nvPicPr>
        <p:blipFill>
          <a:blip r:embed="rId21"/>
          <a:stretch>
            <a:fillRect/>
          </a:stretch>
        </p:blipFill>
        <p:spPr>
          <a:xfrm>
            <a:off x="2157984" y="2532888"/>
            <a:ext cx="1426464" cy="1069848"/>
          </a:xfrm>
          <a:prstGeom prst="rect">
            <a:avLst/>
          </a:prstGeom>
        </p:spPr>
      </p:pic>
      <p:sp>
        <p:nvSpPr>
          <p:cNvPr id="24" name="Shape 15"/>
          <p:cNvSpPr/>
          <p:nvPr/>
        </p:nvSpPr>
        <p:spPr>
          <a:xfrm>
            <a:off x="2157984" y="2532888"/>
            <a:ext cx="1426464" cy="1069848"/>
          </a:xfrm>
          <a:prstGeom prst="rect">
            <a:avLst/>
          </a:prstGeom>
          <a:ln w="19050">
            <a:solidFill>
              <a:srgbClr val="B03A2E"/>
            </a:solidFill>
            <a:prstDash val="solid"/>
          </a:ln>
        </p:spPr>
      </p:sp>
      <p:sp>
        <p:nvSpPr>
          <p:cNvPr id="25" name="Text 16"/>
          <p:cNvSpPr txBox="1"/>
          <p:nvPr/>
        </p:nvSpPr>
        <p:spPr>
          <a:xfrm>
            <a:off x="3858768" y="2359152"/>
            <a:ext cx="1426464" cy="173736"/>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4</a:t>
            </a:r>
            <a:endParaRPr lang="en-US" sz="900" dirty="0"/>
          </a:p>
        </p:txBody>
      </p:sp>
      <p:pic>
        <p:nvPicPr>
          <p:cNvPr id="24" name="Media 7">
            <a:hlinkClick r:id="" action="ppaction://media"/>
          </p:cNvPr>
          <p:cNvPicPr>
            <a:picLocks noChangeAspect="1"/>
          </p:cNvPicPr>
          <p:nvPr>
            <a:videoFile r:link="rId22"/>
            <p:extLst>
              <p:ext uri="{DAA4B4D4-6D71-4841-9C94-3DE7FCFB9230}">
                <p14:media xmlns:p14="http://schemas.microsoft.com/office/powerpoint/2010/main" r:embed="rId23"/>
              </p:ext>
            </p:extLst>
          </p:nvPr>
        </p:nvPicPr>
        <p:blipFill>
          <a:blip r:embed="rId24"/>
          <a:stretch>
            <a:fillRect/>
          </a:stretch>
        </p:blipFill>
        <p:spPr>
          <a:xfrm>
            <a:off x="3858768" y="2532888"/>
            <a:ext cx="1426464" cy="1069848"/>
          </a:xfrm>
          <a:prstGeom prst="rect">
            <a:avLst/>
          </a:prstGeom>
        </p:spPr>
      </p:pic>
      <p:sp>
        <p:nvSpPr>
          <p:cNvPr id="27" name="Shape 17"/>
          <p:cNvSpPr/>
          <p:nvPr/>
        </p:nvSpPr>
        <p:spPr>
          <a:xfrm>
            <a:off x="3858768" y="2532888"/>
            <a:ext cx="1426464" cy="1069848"/>
          </a:xfrm>
          <a:prstGeom prst="rect">
            <a:avLst/>
          </a:prstGeom>
          <a:ln w="19050">
            <a:solidFill>
              <a:srgbClr val="2E8B57"/>
            </a:solidFill>
            <a:prstDash val="solid"/>
          </a:ln>
        </p:spPr>
      </p:sp>
      <p:sp>
        <p:nvSpPr>
          <p:cNvPr id="28" name="Text 18"/>
          <p:cNvSpPr txBox="1"/>
          <p:nvPr/>
        </p:nvSpPr>
        <p:spPr>
          <a:xfrm>
            <a:off x="5559552" y="2359152"/>
            <a:ext cx="1426464" cy="173736"/>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strict</a:t>
            </a:r>
            <a:endParaRPr lang="en-US" sz="900" dirty="0"/>
          </a:p>
        </p:txBody>
      </p:sp>
      <p:pic>
        <p:nvPicPr>
          <p:cNvPr id="27" name="Media 8">
            <a:hlinkClick r:id="" action="ppaction://media"/>
          </p:cNvPr>
          <p:cNvPicPr>
            <a:picLocks noChangeAspect="1"/>
          </p:cNvPicPr>
          <p:nvPr>
            <a:videoFile r:link="rId25"/>
            <p:extLst>
              <p:ext uri="{DAA4B4D4-6D71-4841-9C94-3DE7FCFB9230}">
                <p14:media xmlns:p14="http://schemas.microsoft.com/office/powerpoint/2010/main" r:embed="rId26"/>
              </p:ext>
            </p:extLst>
          </p:nvPr>
        </p:nvPicPr>
        <p:blipFill>
          <a:blip r:embed="rId27"/>
          <a:stretch>
            <a:fillRect/>
          </a:stretch>
        </p:blipFill>
        <p:spPr>
          <a:xfrm>
            <a:off x="5559552" y="2532888"/>
            <a:ext cx="1426464" cy="1069848"/>
          </a:xfrm>
          <a:prstGeom prst="rect">
            <a:avLst/>
          </a:prstGeom>
        </p:spPr>
      </p:pic>
      <p:sp>
        <p:nvSpPr>
          <p:cNvPr id="30" name="Shape 19"/>
          <p:cNvSpPr/>
          <p:nvPr/>
        </p:nvSpPr>
        <p:spPr>
          <a:xfrm>
            <a:off x="5559552" y="2532888"/>
            <a:ext cx="1426464" cy="1069848"/>
          </a:xfrm>
          <a:prstGeom prst="rect">
            <a:avLst/>
          </a:prstGeom>
          <a:ln w="19050">
            <a:solidFill>
              <a:srgbClr val="2E8B57"/>
            </a:solidFill>
            <a:prstDash val="solid"/>
          </a:ln>
        </p:spPr>
      </p:sp>
      <p:sp>
        <p:nvSpPr>
          <p:cNvPr id="31" name="Text 20"/>
          <p:cNvSpPr txBox="1"/>
          <p:nvPr/>
        </p:nvSpPr>
        <p:spPr>
          <a:xfrm>
            <a:off x="7260336" y="2359152"/>
            <a:ext cx="1426464" cy="173736"/>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moderate</a:t>
            </a:r>
            <a:endParaRPr lang="en-US" sz="900" dirty="0"/>
          </a:p>
        </p:txBody>
      </p:sp>
      <p:pic>
        <p:nvPicPr>
          <p:cNvPr id="30" name="Media 9">
            <a:hlinkClick r:id="" action="ppaction://media"/>
          </p:cNvPr>
          <p:cNvPicPr>
            <a:picLocks noChangeAspect="1"/>
          </p:cNvPicPr>
          <p:nvPr>
            <a:videoFile r:link="rId28"/>
            <p:extLst>
              <p:ext uri="{DAA4B4D4-6D71-4841-9C94-3DE7FCFB9230}">
                <p14:media xmlns:p14="http://schemas.microsoft.com/office/powerpoint/2010/main" r:embed="rId29"/>
              </p:ext>
            </p:extLst>
          </p:nvPr>
        </p:nvPicPr>
        <p:blipFill>
          <a:blip r:embed="rId30"/>
          <a:stretch>
            <a:fillRect/>
          </a:stretch>
        </p:blipFill>
        <p:spPr>
          <a:xfrm>
            <a:off x="7260336" y="2532888"/>
            <a:ext cx="1426464" cy="1069848"/>
          </a:xfrm>
          <a:prstGeom prst="rect">
            <a:avLst/>
          </a:prstGeom>
        </p:spPr>
      </p:pic>
      <p:sp>
        <p:nvSpPr>
          <p:cNvPr id="33" name="Shape 21"/>
          <p:cNvSpPr/>
          <p:nvPr/>
        </p:nvSpPr>
        <p:spPr>
          <a:xfrm>
            <a:off x="7260336" y="2532888"/>
            <a:ext cx="1426464" cy="1069848"/>
          </a:xfrm>
          <a:prstGeom prst="rect">
            <a:avLst/>
          </a:prstGeom>
          <a:ln w="19050">
            <a:solidFill>
              <a:srgbClr val="B03A2E"/>
            </a:solidFill>
            <a:prstDash val="solid"/>
          </a:ln>
        </p:spPr>
      </p:sp>
      <p:sp>
        <p:nvSpPr>
          <p:cNvPr id="34" name="Text 22"/>
          <p:cNvSpPr txBox="1"/>
          <p:nvPr/>
        </p:nvSpPr>
        <p:spPr>
          <a:xfrm>
            <a:off x="457200" y="3621024"/>
            <a:ext cx="1426464" cy="173736"/>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aggressive</a:t>
            </a:r>
            <a:endParaRPr lang="en-US" sz="900" dirty="0"/>
          </a:p>
        </p:txBody>
      </p:sp>
      <p:pic>
        <p:nvPicPr>
          <p:cNvPr id="33" name="Media 10">
            <a:hlinkClick r:id="" action="ppaction://media"/>
          </p:cNvPr>
          <p:cNvPicPr>
            <a:picLocks noChangeAspect="1"/>
          </p:cNvPicPr>
          <p:nvPr>
            <a:videoFile r:link="rId31"/>
            <p:extLst>
              <p:ext uri="{DAA4B4D4-6D71-4841-9C94-3DE7FCFB9230}">
                <p14:media xmlns:p14="http://schemas.microsoft.com/office/powerpoint/2010/main" r:embed="rId32"/>
              </p:ext>
            </p:extLst>
          </p:nvPr>
        </p:nvPicPr>
        <p:blipFill>
          <a:blip r:embed="rId33"/>
          <a:stretch>
            <a:fillRect/>
          </a:stretch>
        </p:blipFill>
        <p:spPr>
          <a:xfrm>
            <a:off x="457200" y="3794760"/>
            <a:ext cx="1426464" cy="1069848"/>
          </a:xfrm>
          <a:prstGeom prst="rect">
            <a:avLst/>
          </a:prstGeom>
        </p:spPr>
      </p:pic>
      <p:sp>
        <p:nvSpPr>
          <p:cNvPr id="36" name="Shape 23"/>
          <p:cNvSpPr/>
          <p:nvPr/>
        </p:nvSpPr>
        <p:spPr>
          <a:xfrm>
            <a:off x="457200" y="3794760"/>
            <a:ext cx="1426464" cy="1069848"/>
          </a:xfrm>
          <a:prstGeom prst="rect">
            <a:avLst/>
          </a:prstGeom>
          <a:ln w="19050">
            <a:solidFill>
              <a:srgbClr val="B03A2E"/>
            </a:solidFill>
            <a:prstDash val="solid"/>
          </a:ln>
        </p:spPr>
      </p:sp>
      <p:sp>
        <p:nvSpPr>
          <p:cNvPr id="37" name="Text 24"/>
          <p:cNvSpPr txBox="1"/>
          <p:nvPr/>
        </p:nvSpPr>
        <p:spPr>
          <a:xfrm>
            <a:off x="2157984" y="3621024"/>
            <a:ext cx="1426464" cy="173736"/>
          </a:xfrm>
          <a:prstGeom prst="rect">
            <a:avLst/>
          </a:prstGeom>
          <a:noFill/>
          <a:ln/>
        </p:spPr>
        <p:txBody>
          <a:bodyPr wrap="square" lIns="0" tIns="0" rIns="0" bIns="0" rtlCol="0" anchor="b"/>
          <a:lstStyle/>
          <a:p>
            <a:pPr indent="0" marL="0">
              <a:buNone/>
            </a:pPr>
            <a:r>
              <a:rPr lang="en-US" sz="900" b="1" dirty="0">
                <a:solidFill>
                  <a:srgbClr val="8C650F"/>
                </a:solidFill>
                <a:latin typeface="Arial" pitchFamily="34" charset="0"/>
                <a:ea typeface="Arial" pitchFamily="34" charset="-122"/>
                <a:cs typeface="Arial" pitchFamily="34" charset="-120"/>
              </a:rPr>
              <a:t>Fusion motion/entropy</a:t>
            </a:r>
            <a:endParaRPr lang="en-US" sz="900" dirty="0"/>
          </a:p>
        </p:txBody>
      </p:sp>
      <p:pic>
        <p:nvPicPr>
          <p:cNvPr id="36" name="Media 11">
            <a:hlinkClick r:id="" action="ppaction://media"/>
          </p:cNvPr>
          <p:cNvPicPr>
            <a:picLocks noChangeAspect="1"/>
          </p:cNvPicPr>
          <p:nvPr>
            <a:videoFile r:link="rId34"/>
            <p:extLst>
              <p:ext uri="{DAA4B4D4-6D71-4841-9C94-3DE7FCFB9230}">
                <p14:media xmlns:p14="http://schemas.microsoft.com/office/powerpoint/2010/main" r:embed="rId35"/>
              </p:ext>
            </p:extLst>
          </p:nvPr>
        </p:nvPicPr>
        <p:blipFill>
          <a:blip r:embed="rId36"/>
          <a:stretch>
            <a:fillRect/>
          </a:stretch>
        </p:blipFill>
        <p:spPr>
          <a:xfrm>
            <a:off x="2157984" y="3794760"/>
            <a:ext cx="1426464" cy="1069848"/>
          </a:xfrm>
          <a:prstGeom prst="rect">
            <a:avLst/>
          </a:prstGeom>
        </p:spPr>
      </p:pic>
      <p:sp>
        <p:nvSpPr>
          <p:cNvPr id="39" name="Shape 25"/>
          <p:cNvSpPr/>
          <p:nvPr/>
        </p:nvSpPr>
        <p:spPr>
          <a:xfrm>
            <a:off x="2157984" y="3794760"/>
            <a:ext cx="1426464" cy="1069848"/>
          </a:xfrm>
          <a:prstGeom prst="rect">
            <a:avLst/>
          </a:prstGeom>
          <a:ln w="19050">
            <a:solidFill>
              <a:srgbClr val="2E8B57"/>
            </a:solidFill>
            <a:prstDash val="solid"/>
          </a:ln>
        </p:spPr>
      </p:sp>
      <p:sp>
        <p:nvSpPr>
          <p:cNvPr id="40" name="Text 26"/>
          <p:cNvSpPr txBox="1"/>
          <p:nvPr/>
        </p:nvSpPr>
        <p:spPr>
          <a:xfrm>
            <a:off x="3858768" y="3621024"/>
            <a:ext cx="1426464" cy="173736"/>
          </a:xfrm>
          <a:prstGeom prst="rect">
            <a:avLst/>
          </a:prstGeom>
          <a:noFill/>
          <a:ln/>
        </p:spPr>
        <p:txBody>
          <a:bodyPr wrap="square" lIns="0" tIns="0" rIns="0" bIns="0" rtlCol="0" anchor="b"/>
          <a:lstStyle/>
          <a:p>
            <a:pPr indent="0" marL="0">
              <a:buNone/>
            </a:pPr>
            <a:r>
              <a:rPr lang="en-US" sz="900" b="1" dirty="0">
                <a:solidFill>
                  <a:srgbClr val="8C650F"/>
                </a:solidFill>
                <a:latin typeface="Arial" pitchFamily="34" charset="0"/>
                <a:ea typeface="Arial" pitchFamily="34" charset="-122"/>
                <a:cs typeface="Arial" pitchFamily="34" charset="-120"/>
              </a:rPr>
              <a:t>Fusion task-aware</a:t>
            </a:r>
            <a:endParaRPr lang="en-US" sz="900" dirty="0"/>
          </a:p>
        </p:txBody>
      </p:sp>
      <p:pic>
        <p:nvPicPr>
          <p:cNvPr id="39" name="Media 12">
            <a:hlinkClick r:id="" action="ppaction://media"/>
          </p:cNvPr>
          <p:cNvPicPr>
            <a:picLocks noChangeAspect="1"/>
          </p:cNvPicPr>
          <p:nvPr>
            <a:videoFile r:link="rId37"/>
            <p:extLst>
              <p:ext uri="{DAA4B4D4-6D71-4841-9C94-3DE7FCFB9230}">
                <p14:media xmlns:p14="http://schemas.microsoft.com/office/powerpoint/2010/main" r:embed="rId38"/>
              </p:ext>
            </p:extLst>
          </p:nvPr>
        </p:nvPicPr>
        <p:blipFill>
          <a:blip r:embed="rId39"/>
          <a:stretch>
            <a:fillRect/>
          </a:stretch>
        </p:blipFill>
        <p:spPr>
          <a:xfrm>
            <a:off x="3858768" y="3794760"/>
            <a:ext cx="1426464" cy="1069848"/>
          </a:xfrm>
          <a:prstGeom prst="rect">
            <a:avLst/>
          </a:prstGeom>
        </p:spPr>
      </p:pic>
      <p:sp>
        <p:nvSpPr>
          <p:cNvPr id="42" name="Shape 27"/>
          <p:cNvSpPr/>
          <p:nvPr/>
        </p:nvSpPr>
        <p:spPr>
          <a:xfrm>
            <a:off x="3858768" y="3794760"/>
            <a:ext cx="1426464" cy="1069848"/>
          </a:xfrm>
          <a:prstGeom prst="rect">
            <a:avLst/>
          </a:prstGeom>
          <a:ln w="19050">
            <a:solidFill>
              <a:srgbClr val="2E8B57"/>
            </a:solidFill>
            <a:prstDash val="solid"/>
          </a:ln>
        </p:spPr>
      </p:sp>
      <p:sp>
        <p:nvSpPr>
          <p:cNvPr id="43" name="Text 28"/>
          <p:cNvSpPr txBox="1"/>
          <p:nvPr/>
        </p:nvSpPr>
        <p:spPr>
          <a:xfrm>
            <a:off x="5559552" y="3621024"/>
            <a:ext cx="1426464" cy="173736"/>
          </a:xfrm>
          <a:prstGeom prst="rect">
            <a:avLst/>
          </a:prstGeom>
          <a:noFill/>
          <a:ln/>
        </p:spPr>
        <p:txBody>
          <a:bodyPr wrap="square" lIns="0" tIns="0" rIns="0" bIns="0" rtlCol="0" anchor="b"/>
          <a:lstStyle/>
          <a:p>
            <a:pPr indent="0" marL="0">
              <a:buNone/>
            </a:pPr>
            <a:r>
              <a:rPr lang="en-US" sz="900" b="1" dirty="0">
                <a:solidFill>
                  <a:srgbClr val="8C650F"/>
                </a:solidFill>
                <a:latin typeface="Arial" pitchFamily="34" charset="0"/>
                <a:ea typeface="Arial" pitchFamily="34" charset="-122"/>
                <a:cs typeface="Arial" pitchFamily="34" charset="-120"/>
              </a:rPr>
              <a:t>Fusion conservative</a:t>
            </a:r>
            <a:endParaRPr lang="en-US" sz="900" dirty="0"/>
          </a:p>
        </p:txBody>
      </p:sp>
      <p:pic>
        <p:nvPicPr>
          <p:cNvPr id="42" name="Media 13">
            <a:hlinkClick r:id="" action="ppaction://media"/>
          </p:cNvPr>
          <p:cNvPicPr>
            <a:picLocks noChangeAspect="1"/>
          </p:cNvPicPr>
          <p:nvPr>
            <a:videoFile r:link="rId40"/>
            <p:extLst>
              <p:ext uri="{DAA4B4D4-6D71-4841-9C94-3DE7FCFB9230}">
                <p14:media xmlns:p14="http://schemas.microsoft.com/office/powerpoint/2010/main" r:embed="rId41"/>
              </p:ext>
            </p:extLst>
          </p:nvPr>
        </p:nvPicPr>
        <p:blipFill>
          <a:blip r:embed="rId42"/>
          <a:stretch>
            <a:fillRect/>
          </a:stretch>
        </p:blipFill>
        <p:spPr>
          <a:xfrm>
            <a:off x="5559552" y="3794760"/>
            <a:ext cx="1426464" cy="1069848"/>
          </a:xfrm>
          <a:prstGeom prst="rect">
            <a:avLst/>
          </a:prstGeom>
        </p:spPr>
      </p:pic>
      <p:sp>
        <p:nvSpPr>
          <p:cNvPr id="45" name="Shape 29"/>
          <p:cNvSpPr/>
          <p:nvPr/>
        </p:nvSpPr>
        <p:spPr>
          <a:xfrm>
            <a:off x="5559552" y="3794760"/>
            <a:ext cx="1426464" cy="1069848"/>
          </a:xfrm>
          <a:prstGeom prst="rect">
            <a:avLst/>
          </a:prstGeom>
          <a:ln w="19050">
            <a:solidFill>
              <a:srgbClr val="B03A2E"/>
            </a:solidFill>
            <a:prstDash val="solid"/>
          </a:ln>
        </p:spPr>
      </p:sp>
    </p:spTree>
  </p:cSld>
  <p:clrMapOvr>
    <a:masterClrMapping/>
  </p:clrMapOvr>
  <p:transition advTm="6000">
    <p:fade/>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101" fill="hold">
                            <p:stCondLst>
                              <p:cond delay="0"/>
                            </p:stCondLst>
                            <p:childTnLst>
                              <p:par>
                                <p:cTn id="3" presetID="1" presetClass="mediacall" presetSubtype="0" fill="hold" nodeType="withEffect">
                                  <p:stCondLst>
                                    <p:cond delay="0"/>
                                  </p:stCondLst>
                                  <p:childTnLst>
                                    <p:cmd type="call" cmd="playFrom(0.0)">
                                      <p:cBhvr>
                                        <p:cTn id="4" dur="indefinite" fill="hold"/>
                                        <p:tgtEl>
                                          <p:spTgt spid="3"/>
                                        </p:tgtEl>
                                      </p:cBhvr>
                                    </p:cmd>
                                  </p:childTnLst>
                                </p:cTn>
                              </p:par>
                              <p:par>
                                <p:cTn id="5" presetID="1" presetClass="mediacall" presetSubtype="0" fill="hold" nodeType="withEffect">
                                  <p:stCondLst>
                                    <p:cond delay="0"/>
                                  </p:stCondLst>
                                  <p:childTnLst>
                                    <p:cmd type="call" cmd="playFrom(0.0)">
                                      <p:cBhvr>
                                        <p:cTn id="6" dur="indefinite" fill="hold"/>
                                        <p:tgtEl>
                                          <p:spTgt spid="6"/>
                                        </p:tgtEl>
                                      </p:cBhvr>
                                    </p:cmd>
                                  </p:childTnLst>
                                </p:cTn>
                              </p:par>
                              <p:par>
                                <p:cTn id="7" presetID="1" presetClass="mediacall" presetSubtype="0" fill="hold" nodeType="withEffect">
                                  <p:stCondLst>
                                    <p:cond delay="0"/>
                                  </p:stCondLst>
                                  <p:childTnLst>
                                    <p:cmd type="call" cmd="playFrom(0.0)">
                                      <p:cBhvr>
                                        <p:cTn id="8" dur="indefinite" fill="hold"/>
                                        <p:tgtEl>
                                          <p:spTgt spid="9"/>
                                        </p:tgtEl>
                                      </p:cBhvr>
                                    </p:cmd>
                                  </p:childTnLst>
                                </p:cTn>
                              </p:par>
                              <p:par>
                                <p:cTn id="9" presetID="1" presetClass="mediacall" presetSubtype="0" fill="hold" nodeType="withEffect">
                                  <p:stCondLst>
                                    <p:cond delay="0"/>
                                  </p:stCondLst>
                                  <p:childTnLst>
                                    <p:cmd type="call" cmd="playFrom(0.0)">
                                      <p:cBhvr>
                                        <p:cTn id="10" dur="indefinite" fill="hold"/>
                                        <p:tgtEl>
                                          <p:spTgt spid="12"/>
                                        </p:tgtEl>
                                      </p:cBhvr>
                                    </p:cmd>
                                  </p:childTnLst>
                                </p:cTn>
                              </p:par>
                              <p:par>
                                <p:cTn id="11" presetID="1" presetClass="mediacall" presetSubtype="0" fill="hold" nodeType="withEffect">
                                  <p:stCondLst>
                                    <p:cond delay="0"/>
                                  </p:stCondLst>
                                  <p:childTnLst>
                                    <p:cmd type="call" cmd="playFrom(0.0)">
                                      <p:cBhvr>
                                        <p:cTn id="12" dur="indefinite" fill="hold"/>
                                        <p:tgtEl>
                                          <p:spTgt spid="15"/>
                                        </p:tgtEl>
                                      </p:cBhvr>
                                    </p:cmd>
                                  </p:childTnLst>
                                </p:cTn>
                              </p:par>
                              <p:par>
                                <p:cTn id="13" presetID="1" presetClass="mediacall" presetSubtype="0" fill="hold" nodeType="withEffect">
                                  <p:stCondLst>
                                    <p:cond delay="0"/>
                                  </p:stCondLst>
                                  <p:childTnLst>
                                    <p:cmd type="call" cmd="playFrom(0.0)">
                                      <p:cBhvr>
                                        <p:cTn id="14" dur="indefinite" fill="hold"/>
                                        <p:tgtEl>
                                          <p:spTgt spid="18"/>
                                        </p:tgtEl>
                                      </p:cBhvr>
                                    </p:cmd>
                                  </p:childTnLst>
                                </p:cTn>
                              </p:par>
                              <p:par>
                                <p:cTn id="15" presetID="1" presetClass="mediacall" presetSubtype="0" fill="hold" nodeType="withEffect">
                                  <p:stCondLst>
                                    <p:cond delay="0"/>
                                  </p:stCondLst>
                                  <p:childTnLst>
                                    <p:cmd type="call" cmd="playFrom(0.0)">
                                      <p:cBhvr>
                                        <p:cTn id="16" dur="indefinite" fill="hold"/>
                                        <p:tgtEl>
                                          <p:spTgt spid="21"/>
                                        </p:tgtEl>
                                      </p:cBhvr>
                                    </p:cmd>
                                  </p:childTnLst>
                                </p:cTn>
                              </p:par>
                              <p:par>
                                <p:cTn id="17" presetID="1" presetClass="mediacall" presetSubtype="0" fill="hold" nodeType="withEffect">
                                  <p:stCondLst>
                                    <p:cond delay="0"/>
                                  </p:stCondLst>
                                  <p:childTnLst>
                                    <p:cmd type="call" cmd="playFrom(0.0)">
                                      <p:cBhvr>
                                        <p:cTn id="18" dur="indefinite" fill="hold"/>
                                        <p:tgtEl>
                                          <p:spTgt spid="24"/>
                                        </p:tgtEl>
                                      </p:cBhvr>
                                    </p:cmd>
                                  </p:childTnLst>
                                </p:cTn>
                              </p:par>
                              <p:par>
                                <p:cTn id="19" presetID="1" presetClass="mediacall" presetSubtype="0" fill="hold" nodeType="withEffect">
                                  <p:stCondLst>
                                    <p:cond delay="0"/>
                                  </p:stCondLst>
                                  <p:childTnLst>
                                    <p:cmd type="call" cmd="playFrom(0.0)">
                                      <p:cBhvr>
                                        <p:cTn id="20" dur="indefinite" fill="hold"/>
                                        <p:tgtEl>
                                          <p:spTgt spid="27"/>
                                        </p:tgtEl>
                                      </p:cBhvr>
                                    </p:cmd>
                                  </p:childTnLst>
                                </p:cTn>
                              </p:par>
                              <p:par>
                                <p:cTn id="21" presetID="1" presetClass="mediacall" presetSubtype="0" fill="hold" nodeType="withEffect">
                                  <p:stCondLst>
                                    <p:cond delay="0"/>
                                  </p:stCondLst>
                                  <p:childTnLst>
                                    <p:cmd type="call" cmd="playFrom(0.0)">
                                      <p:cBhvr>
                                        <p:cTn id="22" dur="indefinite" fill="hold"/>
                                        <p:tgtEl>
                                          <p:spTgt spid="30"/>
                                        </p:tgtEl>
                                      </p:cBhvr>
                                    </p:cmd>
                                  </p:childTnLst>
                                </p:cTn>
                              </p:par>
                              <p:par>
                                <p:cTn id="23" presetID="1" presetClass="mediacall" presetSubtype="0" fill="hold" nodeType="withEffect">
                                  <p:stCondLst>
                                    <p:cond delay="0"/>
                                  </p:stCondLst>
                                  <p:childTnLst>
                                    <p:cmd type="call" cmd="playFrom(0.0)">
                                      <p:cBhvr>
                                        <p:cTn id="24" dur="indefinite" fill="hold"/>
                                        <p:tgtEl>
                                          <p:spTgt spid="33"/>
                                        </p:tgtEl>
                                      </p:cBhvr>
                                    </p:cmd>
                                  </p:childTnLst>
                                </p:cTn>
                              </p:par>
                              <p:par>
                                <p:cTn id="25" presetID="1" presetClass="mediacall" presetSubtype="0" fill="hold" nodeType="withEffect">
                                  <p:stCondLst>
                                    <p:cond delay="0"/>
                                  </p:stCondLst>
                                  <p:childTnLst>
                                    <p:cmd type="call" cmd="playFrom(0.0)">
                                      <p:cBhvr>
                                        <p:cTn id="26" dur="indefinite" fill="hold"/>
                                        <p:tgtEl>
                                          <p:spTgt spid="36"/>
                                        </p:tgtEl>
                                      </p:cBhvr>
                                    </p:cmd>
                                  </p:childTnLst>
                                </p:cTn>
                              </p:par>
                              <p:par>
                                <p:cTn id="27" presetID="1" presetClass="mediacall" presetSubtype="0" fill="hold" nodeType="withEffect">
                                  <p:stCondLst>
                                    <p:cond delay="0"/>
                                  </p:stCondLst>
                                  <p:childTnLst>
                                    <p:cmd type="call" cmd="playFrom(0.0)">
                                      <p:cBhvr>
                                        <p:cTn id="28" dur="indefinite" fill="hold"/>
                                        <p:tgtEl>
                                          <p:spTgt spid="39"/>
                                        </p:tgtEl>
                                      </p:cBhvr>
                                    </p:cmd>
                                  </p:childTnLst>
                                </p:cTn>
                              </p:par>
                              <p:par>
                                <p:cTn id="29" presetID="1" presetClass="mediacall" presetSubtype="0" fill="hold" nodeType="withEffect">
                                  <p:stCondLst>
                                    <p:cond delay="0"/>
                                  </p:stCondLst>
                                  <p:childTnLst>
                                    <p:cmd type="call" cmd="playFrom(0.0)">
                                      <p:cBhvr>
                                        <p:cTn id="30" dur="indefinite" fill="hold"/>
                                        <p:tgtEl>
                                          <p:spTgt spid="4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31" fill="hold" display="0">
                  <p:stCondLst>
                    <p:cond delay="indefinite"/>
                  </p:stCondLst>
                </p:cTn>
                <p:tgtEl>
                  <p:spTgt spid="3"/>
                </p:tgtEl>
              </p:cMediaNode>
            </p:video>
            <p:video>
              <p:cMediaNode vol="80000">
                <p:cTn id="32" fill="hold" display="0">
                  <p:stCondLst>
                    <p:cond delay="indefinite"/>
                  </p:stCondLst>
                </p:cTn>
                <p:tgtEl>
                  <p:spTgt spid="6"/>
                </p:tgtEl>
              </p:cMediaNode>
            </p:video>
            <p:video>
              <p:cMediaNode vol="80000">
                <p:cTn id="33" fill="hold" display="0">
                  <p:stCondLst>
                    <p:cond delay="indefinite"/>
                  </p:stCondLst>
                </p:cTn>
                <p:tgtEl>
                  <p:spTgt spid="9"/>
                </p:tgtEl>
              </p:cMediaNode>
            </p:video>
            <p:video>
              <p:cMediaNode vol="80000">
                <p:cTn id="34" fill="hold" display="0">
                  <p:stCondLst>
                    <p:cond delay="indefinite"/>
                  </p:stCondLst>
                </p:cTn>
                <p:tgtEl>
                  <p:spTgt spid="12"/>
                </p:tgtEl>
              </p:cMediaNode>
            </p:video>
            <p:video>
              <p:cMediaNode vol="80000">
                <p:cTn id="35" fill="hold" display="0">
                  <p:stCondLst>
                    <p:cond delay="indefinite"/>
                  </p:stCondLst>
                </p:cTn>
                <p:tgtEl>
                  <p:spTgt spid="15"/>
                </p:tgtEl>
              </p:cMediaNode>
            </p:video>
            <p:video>
              <p:cMediaNode vol="80000">
                <p:cTn id="36" fill="hold" display="0">
                  <p:stCondLst>
                    <p:cond delay="indefinite"/>
                  </p:stCondLst>
                </p:cTn>
                <p:tgtEl>
                  <p:spTgt spid="18"/>
                </p:tgtEl>
              </p:cMediaNode>
            </p:video>
            <p:video>
              <p:cMediaNode vol="80000">
                <p:cTn id="37" fill="hold" display="0">
                  <p:stCondLst>
                    <p:cond delay="indefinite"/>
                  </p:stCondLst>
                </p:cTn>
                <p:tgtEl>
                  <p:spTgt spid="21"/>
                </p:tgtEl>
              </p:cMediaNode>
            </p:video>
            <p:video>
              <p:cMediaNode vol="80000">
                <p:cTn id="38" fill="hold" display="0">
                  <p:stCondLst>
                    <p:cond delay="indefinite"/>
                  </p:stCondLst>
                </p:cTn>
                <p:tgtEl>
                  <p:spTgt spid="24"/>
                </p:tgtEl>
              </p:cMediaNode>
            </p:video>
            <p:video>
              <p:cMediaNode vol="80000">
                <p:cTn id="39" fill="hold" display="0">
                  <p:stCondLst>
                    <p:cond delay="indefinite"/>
                  </p:stCondLst>
                </p:cTn>
                <p:tgtEl>
                  <p:spTgt spid="27"/>
                </p:tgtEl>
              </p:cMediaNode>
            </p:video>
            <p:video>
              <p:cMediaNode vol="80000">
                <p:cTn id="40" fill="hold" display="0">
                  <p:stCondLst>
                    <p:cond delay="indefinite"/>
                  </p:stCondLst>
                </p:cTn>
                <p:tgtEl>
                  <p:spTgt spid="30"/>
                </p:tgtEl>
              </p:cMediaNode>
            </p:video>
            <p:video>
              <p:cMediaNode vol="80000">
                <p:cTn id="41" fill="hold" display="0">
                  <p:stCondLst>
                    <p:cond delay="indefinite"/>
                  </p:stCondLst>
                </p:cTn>
                <p:tgtEl>
                  <p:spTgt spid="33"/>
                </p:tgtEl>
              </p:cMediaNode>
            </p:video>
            <p:video>
              <p:cMediaNode vol="80000">
                <p:cTn id="42" fill="hold" display="0">
                  <p:stCondLst>
                    <p:cond delay="indefinite"/>
                  </p:stCondLst>
                </p:cTn>
                <p:tgtEl>
                  <p:spTgt spid="36"/>
                </p:tgtEl>
              </p:cMediaNode>
            </p:video>
            <p:video>
              <p:cMediaNode vol="80000">
                <p:cTn id="43" fill="hold" display="0">
                  <p:stCondLst>
                    <p:cond delay="indefinite"/>
                  </p:stCondLst>
                </p:cTn>
                <p:tgtEl>
                  <p:spTgt spid="39"/>
                </p:tgtEl>
              </p:cMediaNode>
            </p:video>
            <p:video>
              <p:cMediaNode vol="80000">
                <p:cTn id="44" fill="hold" display="0">
                  <p:stCondLst>
                    <p:cond delay="indefinite"/>
                  </p:stCondLst>
                </p:cTn>
                <p:tgtEl>
                  <p:spTgt spid="42"/>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100" b="1" dirty="0">
                <a:solidFill>
                  <a:srgbClr val="1F2933"/>
                </a:solidFill>
                <a:latin typeface="Arial" pitchFamily="34" charset="0"/>
                <a:ea typeface="Arial" pitchFamily="34" charset="-122"/>
                <a:cs typeface="Arial" pitchFamily="34" charset="-120"/>
              </a:rPr>
              <a:t>CogACT on SimplerEnv WidowX: "Eggplant in the basket"</a:t>
            </a:r>
            <a:endParaRPr lang="en-US" sz="2100" dirty="0"/>
          </a:p>
        </p:txBody>
      </p:sp>
      <p:sp>
        <p:nvSpPr>
          <p:cNvPr id="3" name="Text 1"/>
          <p:cNvSpPr txBox="1"/>
          <p:nvPr/>
        </p:nvSpPr>
        <p:spPr>
          <a:xfrm>
            <a:off x="457200" y="822960"/>
            <a:ext cx="8229600" cy="256032"/>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All 14 configurations on the same episode (same initial state), played at 3× speed. Green = success, red = failure (badge in each clip).</a:t>
            </a:r>
            <a:endParaRPr lang="en-US" sz="1000" dirty="0"/>
          </a:p>
        </p:txBody>
      </p:sp>
      <p:sp>
        <p:nvSpPr>
          <p:cNvPr id="4" name="Text 2"/>
          <p:cNvSpPr txBox="1"/>
          <p:nvPr/>
        </p:nvSpPr>
        <p:spPr>
          <a:xfrm>
            <a:off x="457200" y="1097280"/>
            <a:ext cx="1426464" cy="173736"/>
          </a:xfrm>
          <a:prstGeom prst="rect">
            <a:avLst/>
          </a:prstGeom>
          <a:noFill/>
          <a:ln/>
        </p:spPr>
        <p:txBody>
          <a:bodyPr wrap="square" lIns="0" tIns="0" rIns="0" bIns="0" rtlCol="0" anchor="b"/>
          <a:lstStyle/>
          <a:p>
            <a:pPr indent="0" marL="0">
              <a:buNone/>
            </a:pPr>
            <a:r>
              <a:rPr lang="en-US" sz="900" b="1" dirty="0">
                <a:solidFill>
                  <a:srgbClr val="222222"/>
                </a:solidFill>
                <a:latin typeface="Arial" pitchFamily="34" charset="0"/>
                <a:ea typeface="Arial" pitchFamily="34" charset="-122"/>
                <a:cs typeface="Arial" pitchFamily="34" charset="-120"/>
              </a:rPr>
              <a:t>Original</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271016"/>
            <a:ext cx="1426464" cy="1069848"/>
          </a:xfrm>
          <a:prstGeom prst="rect">
            <a:avLst/>
          </a:prstGeom>
        </p:spPr>
      </p:pic>
      <p:sp>
        <p:nvSpPr>
          <p:cNvPr id="6" name="Shape 3"/>
          <p:cNvSpPr/>
          <p:nvPr/>
        </p:nvSpPr>
        <p:spPr>
          <a:xfrm>
            <a:off x="457200" y="1271016"/>
            <a:ext cx="1426464" cy="1069848"/>
          </a:xfrm>
          <a:prstGeom prst="rect">
            <a:avLst/>
          </a:prstGeom>
          <a:ln w="19050">
            <a:solidFill>
              <a:srgbClr val="2E8B57"/>
            </a:solidFill>
            <a:prstDash val="solid"/>
          </a:ln>
        </p:spPr>
      </p:sp>
      <p:sp>
        <p:nvSpPr>
          <p:cNvPr id="7" name="Text 4"/>
          <p:cNvSpPr txBox="1"/>
          <p:nvPr/>
        </p:nvSpPr>
        <p:spPr>
          <a:xfrm>
            <a:off x="2157984" y="1097280"/>
            <a:ext cx="1426464" cy="173736"/>
          </a:xfrm>
          <a:prstGeom prst="rect">
            <a:avLst/>
          </a:prstGeom>
          <a:noFill/>
          <a:ln/>
        </p:spPr>
        <p:txBody>
          <a:bodyPr wrap="square" lIns="0" tIns="0" rIns="0" bIns="0" rtlCol="0" anchor="b"/>
          <a:lstStyle/>
          <a:p>
            <a:pPr indent="0" marL="0">
              <a:buNone/>
            </a:pPr>
            <a:r>
              <a:rPr lang="en-US" sz="900" b="1" dirty="0">
                <a:solidFill>
                  <a:srgbClr val="0072B2"/>
                </a:solidFill>
                <a:latin typeface="Arial" pitchFamily="34" charset="0"/>
                <a:ea typeface="Arial" pitchFamily="34" charset="-122"/>
                <a:cs typeface="Arial" pitchFamily="34" charset="-120"/>
              </a:rPr>
              <a:t>Foveation 20%</a:t>
            </a:r>
            <a:endParaRPr lang="en-US" sz="900" dirty="0"/>
          </a:p>
        </p:txBody>
      </p:sp>
      <p:pic>
        <p:nvPicPr>
          <p:cNvPr id="6" name="Media 1">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2157984" y="1271016"/>
            <a:ext cx="1426464" cy="1069848"/>
          </a:xfrm>
          <a:prstGeom prst="rect">
            <a:avLst/>
          </a:prstGeom>
        </p:spPr>
      </p:pic>
      <p:sp>
        <p:nvSpPr>
          <p:cNvPr id="9" name="Shape 5"/>
          <p:cNvSpPr/>
          <p:nvPr/>
        </p:nvSpPr>
        <p:spPr>
          <a:xfrm>
            <a:off x="2157984" y="1271016"/>
            <a:ext cx="1426464" cy="1069848"/>
          </a:xfrm>
          <a:prstGeom prst="rect">
            <a:avLst/>
          </a:prstGeom>
          <a:ln w="19050">
            <a:solidFill>
              <a:srgbClr val="2E8B57"/>
            </a:solidFill>
            <a:prstDash val="solid"/>
          </a:ln>
        </p:spPr>
      </p:sp>
      <p:sp>
        <p:nvSpPr>
          <p:cNvPr id="10" name="Text 6"/>
          <p:cNvSpPr txBox="1"/>
          <p:nvPr/>
        </p:nvSpPr>
        <p:spPr>
          <a:xfrm>
            <a:off x="3858768" y="1097280"/>
            <a:ext cx="1426464" cy="173736"/>
          </a:xfrm>
          <a:prstGeom prst="rect">
            <a:avLst/>
          </a:prstGeom>
          <a:noFill/>
          <a:ln/>
        </p:spPr>
        <p:txBody>
          <a:bodyPr wrap="square" lIns="0" tIns="0" rIns="0" bIns="0" rtlCol="0" anchor="b"/>
          <a:lstStyle/>
          <a:p>
            <a:pPr indent="0" marL="0">
              <a:buNone/>
            </a:pPr>
            <a:r>
              <a:rPr lang="en-US" sz="900" b="1" dirty="0">
                <a:solidFill>
                  <a:srgbClr val="0072B2"/>
                </a:solidFill>
                <a:latin typeface="Arial" pitchFamily="34" charset="0"/>
                <a:ea typeface="Arial" pitchFamily="34" charset="-122"/>
                <a:cs typeface="Arial" pitchFamily="34" charset="-120"/>
              </a:rPr>
              <a:t>Foveation 50%</a:t>
            </a:r>
            <a:endParaRPr lang="en-US" sz="900" dirty="0"/>
          </a:p>
        </p:txBody>
      </p:sp>
      <p:pic>
        <p:nvPicPr>
          <p:cNvPr id="9" name="Media 2">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3858768" y="1271016"/>
            <a:ext cx="1426464" cy="1069848"/>
          </a:xfrm>
          <a:prstGeom prst="rect">
            <a:avLst/>
          </a:prstGeom>
        </p:spPr>
      </p:pic>
      <p:sp>
        <p:nvSpPr>
          <p:cNvPr id="12" name="Shape 7"/>
          <p:cNvSpPr/>
          <p:nvPr/>
        </p:nvSpPr>
        <p:spPr>
          <a:xfrm>
            <a:off x="3858768" y="1271016"/>
            <a:ext cx="1426464" cy="1069848"/>
          </a:xfrm>
          <a:prstGeom prst="rect">
            <a:avLst/>
          </a:prstGeom>
          <a:ln w="19050">
            <a:solidFill>
              <a:srgbClr val="2E8B57"/>
            </a:solidFill>
            <a:prstDash val="solid"/>
          </a:ln>
        </p:spPr>
      </p:sp>
      <p:sp>
        <p:nvSpPr>
          <p:cNvPr id="13" name="Text 8"/>
          <p:cNvSpPr txBox="1"/>
          <p:nvPr/>
        </p:nvSpPr>
        <p:spPr>
          <a:xfrm>
            <a:off x="5559552" y="1097280"/>
            <a:ext cx="1426464" cy="173736"/>
          </a:xfrm>
          <a:prstGeom prst="rect">
            <a:avLst/>
          </a:prstGeom>
          <a:noFill/>
          <a:ln/>
        </p:spPr>
        <p:txBody>
          <a:bodyPr wrap="square" lIns="0" tIns="0" rIns="0" bIns="0" rtlCol="0" anchor="b"/>
          <a:lstStyle/>
          <a:p>
            <a:pPr indent="0" marL="0">
              <a:buNone/>
            </a:pPr>
            <a:r>
              <a:rPr lang="en-US" sz="900" b="1" dirty="0">
                <a:solidFill>
                  <a:srgbClr val="D55E00"/>
                </a:solidFill>
                <a:latin typeface="Arial" pitchFamily="34" charset="0"/>
                <a:ea typeface="Arial" pitchFamily="34" charset="-122"/>
                <a:cs typeface="Arial" pitchFamily="34" charset="-120"/>
              </a:rPr>
              <a:t>Action repeat 2</a:t>
            </a:r>
            <a:endParaRPr lang="en-US" sz="900" dirty="0"/>
          </a:p>
        </p:txBody>
      </p:sp>
      <p:pic>
        <p:nvPicPr>
          <p:cNvPr id="12" name="Media 3">
            <a:hlinkClick r:id="" action="ppaction://media"/>
          </p:cNvPr>
          <p:cNvPicPr>
            <a:picLocks noChangeAspect="1"/>
          </p:cNvPicPr>
          <p:nvPr>
            <a:videoFile r:link="rId10"/>
            <p:extLst>
              <p:ext uri="{DAA4B4D4-6D71-4841-9C94-3DE7FCFB9230}">
                <p14:media xmlns:p14="http://schemas.microsoft.com/office/powerpoint/2010/main" r:embed="rId11"/>
              </p:ext>
            </p:extLst>
          </p:nvPr>
        </p:nvPicPr>
        <p:blipFill>
          <a:blip r:embed="rId12"/>
          <a:stretch>
            <a:fillRect/>
          </a:stretch>
        </p:blipFill>
        <p:spPr>
          <a:xfrm>
            <a:off x="5559552" y="1271016"/>
            <a:ext cx="1426464" cy="1069848"/>
          </a:xfrm>
          <a:prstGeom prst="rect">
            <a:avLst/>
          </a:prstGeom>
        </p:spPr>
      </p:pic>
      <p:sp>
        <p:nvSpPr>
          <p:cNvPr id="15" name="Shape 9"/>
          <p:cNvSpPr/>
          <p:nvPr/>
        </p:nvSpPr>
        <p:spPr>
          <a:xfrm>
            <a:off x="5559552" y="1271016"/>
            <a:ext cx="1426464" cy="1069848"/>
          </a:xfrm>
          <a:prstGeom prst="rect">
            <a:avLst/>
          </a:prstGeom>
          <a:ln w="19050">
            <a:solidFill>
              <a:srgbClr val="B03A2E"/>
            </a:solidFill>
            <a:prstDash val="solid"/>
          </a:ln>
        </p:spPr>
      </p:sp>
      <p:sp>
        <p:nvSpPr>
          <p:cNvPr id="16" name="Text 10"/>
          <p:cNvSpPr txBox="1"/>
          <p:nvPr/>
        </p:nvSpPr>
        <p:spPr>
          <a:xfrm>
            <a:off x="7260336" y="1097280"/>
            <a:ext cx="1426464" cy="173736"/>
          </a:xfrm>
          <a:prstGeom prst="rect">
            <a:avLst/>
          </a:prstGeom>
          <a:noFill/>
          <a:ln/>
        </p:spPr>
        <p:txBody>
          <a:bodyPr wrap="square" lIns="0" tIns="0" rIns="0" bIns="0" rtlCol="0" anchor="b"/>
          <a:lstStyle/>
          <a:p>
            <a:pPr indent="0" marL="0">
              <a:buNone/>
            </a:pPr>
            <a:r>
              <a:rPr lang="en-US" sz="900" b="1" dirty="0">
                <a:solidFill>
                  <a:srgbClr val="D55E00"/>
                </a:solidFill>
                <a:latin typeface="Arial" pitchFamily="34" charset="0"/>
                <a:ea typeface="Arial" pitchFamily="34" charset="-122"/>
                <a:cs typeface="Arial" pitchFamily="34" charset="-120"/>
              </a:rPr>
              <a:t>Action repeat 4</a:t>
            </a:r>
            <a:endParaRPr lang="en-US" sz="900" dirty="0"/>
          </a:p>
        </p:txBody>
      </p:sp>
      <p:pic>
        <p:nvPicPr>
          <p:cNvPr id="15" name="Media 4">
            <a:hlinkClick r:id="" action="ppaction://media"/>
          </p:cNvPr>
          <p:cNvPicPr>
            <a:picLocks noChangeAspect="1"/>
          </p:cNvPicPr>
          <p:nvPr>
            <a:videoFile r:link="rId13"/>
            <p:extLst>
              <p:ext uri="{DAA4B4D4-6D71-4841-9C94-3DE7FCFB9230}">
                <p14:media xmlns:p14="http://schemas.microsoft.com/office/powerpoint/2010/main" r:embed="rId14"/>
              </p:ext>
            </p:extLst>
          </p:nvPr>
        </p:nvPicPr>
        <p:blipFill>
          <a:blip r:embed="rId15"/>
          <a:stretch>
            <a:fillRect/>
          </a:stretch>
        </p:blipFill>
        <p:spPr>
          <a:xfrm>
            <a:off x="7260336" y="1271016"/>
            <a:ext cx="1426464" cy="1069848"/>
          </a:xfrm>
          <a:prstGeom prst="rect">
            <a:avLst/>
          </a:prstGeom>
        </p:spPr>
      </p:pic>
      <p:sp>
        <p:nvSpPr>
          <p:cNvPr id="18" name="Shape 11"/>
          <p:cNvSpPr/>
          <p:nvPr/>
        </p:nvSpPr>
        <p:spPr>
          <a:xfrm>
            <a:off x="7260336" y="1271016"/>
            <a:ext cx="1426464" cy="1069848"/>
          </a:xfrm>
          <a:prstGeom prst="rect">
            <a:avLst/>
          </a:prstGeom>
          <a:ln w="19050">
            <a:solidFill>
              <a:srgbClr val="B03A2E"/>
            </a:solidFill>
            <a:prstDash val="solid"/>
          </a:ln>
        </p:spPr>
      </p:sp>
      <p:sp>
        <p:nvSpPr>
          <p:cNvPr id="19" name="Text 12"/>
          <p:cNvSpPr txBox="1"/>
          <p:nvPr/>
        </p:nvSpPr>
        <p:spPr>
          <a:xfrm>
            <a:off x="457200" y="2359152"/>
            <a:ext cx="1426464" cy="173736"/>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1</a:t>
            </a:r>
            <a:endParaRPr lang="en-US" sz="900" dirty="0"/>
          </a:p>
        </p:txBody>
      </p:sp>
      <p:pic>
        <p:nvPicPr>
          <p:cNvPr id="18" name="Media 5">
            <a:hlinkClick r:id="" action="ppaction://media"/>
          </p:cNvPr>
          <p:cNvPicPr>
            <a:picLocks noChangeAspect="1"/>
          </p:cNvPicPr>
          <p:nvPr>
            <a:videoFile r:link="rId16"/>
            <p:extLst>
              <p:ext uri="{DAA4B4D4-6D71-4841-9C94-3DE7FCFB9230}">
                <p14:media xmlns:p14="http://schemas.microsoft.com/office/powerpoint/2010/main" r:embed="rId17"/>
              </p:ext>
            </p:extLst>
          </p:nvPr>
        </p:nvPicPr>
        <p:blipFill>
          <a:blip r:embed="rId18"/>
          <a:stretch>
            <a:fillRect/>
          </a:stretch>
        </p:blipFill>
        <p:spPr>
          <a:xfrm>
            <a:off x="457200" y="2532888"/>
            <a:ext cx="1426464" cy="1069848"/>
          </a:xfrm>
          <a:prstGeom prst="rect">
            <a:avLst/>
          </a:prstGeom>
        </p:spPr>
      </p:pic>
      <p:sp>
        <p:nvSpPr>
          <p:cNvPr id="21" name="Shape 13"/>
          <p:cNvSpPr/>
          <p:nvPr/>
        </p:nvSpPr>
        <p:spPr>
          <a:xfrm>
            <a:off x="457200" y="2532888"/>
            <a:ext cx="1426464" cy="1069848"/>
          </a:xfrm>
          <a:prstGeom prst="rect">
            <a:avLst/>
          </a:prstGeom>
          <a:ln w="19050">
            <a:solidFill>
              <a:srgbClr val="2E8B57"/>
            </a:solidFill>
            <a:prstDash val="solid"/>
          </a:ln>
        </p:spPr>
      </p:sp>
      <p:sp>
        <p:nvSpPr>
          <p:cNvPr id="22" name="Text 14"/>
          <p:cNvSpPr txBox="1"/>
          <p:nvPr/>
        </p:nvSpPr>
        <p:spPr>
          <a:xfrm>
            <a:off x="2157984" y="2359152"/>
            <a:ext cx="1426464" cy="173736"/>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2</a:t>
            </a:r>
            <a:endParaRPr lang="en-US" sz="900" dirty="0"/>
          </a:p>
        </p:txBody>
      </p:sp>
      <p:pic>
        <p:nvPicPr>
          <p:cNvPr id="21" name="Media 6">
            <a:hlinkClick r:id="" action="ppaction://media"/>
          </p:cNvPr>
          <p:cNvPicPr>
            <a:picLocks noChangeAspect="1"/>
          </p:cNvPicPr>
          <p:nvPr>
            <a:videoFile r:link="rId19"/>
            <p:extLst>
              <p:ext uri="{DAA4B4D4-6D71-4841-9C94-3DE7FCFB9230}">
                <p14:media xmlns:p14="http://schemas.microsoft.com/office/powerpoint/2010/main" r:embed="rId20"/>
              </p:ext>
            </p:extLst>
          </p:nvPr>
        </p:nvPicPr>
        <p:blipFill>
          <a:blip r:embed="rId21"/>
          <a:stretch>
            <a:fillRect/>
          </a:stretch>
        </p:blipFill>
        <p:spPr>
          <a:xfrm>
            <a:off x="2157984" y="2532888"/>
            <a:ext cx="1426464" cy="1069848"/>
          </a:xfrm>
          <a:prstGeom prst="rect">
            <a:avLst/>
          </a:prstGeom>
        </p:spPr>
      </p:pic>
      <p:sp>
        <p:nvSpPr>
          <p:cNvPr id="24" name="Shape 15"/>
          <p:cNvSpPr/>
          <p:nvPr/>
        </p:nvSpPr>
        <p:spPr>
          <a:xfrm>
            <a:off x="2157984" y="2532888"/>
            <a:ext cx="1426464" cy="1069848"/>
          </a:xfrm>
          <a:prstGeom prst="rect">
            <a:avLst/>
          </a:prstGeom>
          <a:ln w="19050">
            <a:solidFill>
              <a:srgbClr val="B03A2E"/>
            </a:solidFill>
            <a:prstDash val="solid"/>
          </a:ln>
        </p:spPr>
      </p:sp>
      <p:sp>
        <p:nvSpPr>
          <p:cNvPr id="25" name="Text 16"/>
          <p:cNvSpPr txBox="1"/>
          <p:nvPr/>
        </p:nvSpPr>
        <p:spPr>
          <a:xfrm>
            <a:off x="3858768" y="2359152"/>
            <a:ext cx="1426464" cy="173736"/>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4</a:t>
            </a:r>
            <a:endParaRPr lang="en-US" sz="900" dirty="0"/>
          </a:p>
        </p:txBody>
      </p:sp>
      <p:pic>
        <p:nvPicPr>
          <p:cNvPr id="24" name="Media 7">
            <a:hlinkClick r:id="" action="ppaction://media"/>
          </p:cNvPr>
          <p:cNvPicPr>
            <a:picLocks noChangeAspect="1"/>
          </p:cNvPicPr>
          <p:nvPr>
            <a:videoFile r:link="rId22"/>
            <p:extLst>
              <p:ext uri="{DAA4B4D4-6D71-4841-9C94-3DE7FCFB9230}">
                <p14:media xmlns:p14="http://schemas.microsoft.com/office/powerpoint/2010/main" r:embed="rId23"/>
              </p:ext>
            </p:extLst>
          </p:nvPr>
        </p:nvPicPr>
        <p:blipFill>
          <a:blip r:embed="rId24"/>
          <a:stretch>
            <a:fillRect/>
          </a:stretch>
        </p:blipFill>
        <p:spPr>
          <a:xfrm>
            <a:off x="3858768" y="2532888"/>
            <a:ext cx="1426464" cy="1069848"/>
          </a:xfrm>
          <a:prstGeom prst="rect">
            <a:avLst/>
          </a:prstGeom>
        </p:spPr>
      </p:pic>
      <p:sp>
        <p:nvSpPr>
          <p:cNvPr id="27" name="Shape 17"/>
          <p:cNvSpPr/>
          <p:nvPr/>
        </p:nvSpPr>
        <p:spPr>
          <a:xfrm>
            <a:off x="3858768" y="2532888"/>
            <a:ext cx="1426464" cy="1069848"/>
          </a:xfrm>
          <a:prstGeom prst="rect">
            <a:avLst/>
          </a:prstGeom>
          <a:ln w="19050">
            <a:solidFill>
              <a:srgbClr val="2E8B57"/>
            </a:solidFill>
            <a:prstDash val="solid"/>
          </a:ln>
        </p:spPr>
      </p:sp>
      <p:sp>
        <p:nvSpPr>
          <p:cNvPr id="28" name="Text 18"/>
          <p:cNvSpPr txBox="1"/>
          <p:nvPr/>
        </p:nvSpPr>
        <p:spPr>
          <a:xfrm>
            <a:off x="5559552" y="2359152"/>
            <a:ext cx="1426464" cy="173736"/>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strict</a:t>
            </a:r>
            <a:endParaRPr lang="en-US" sz="900" dirty="0"/>
          </a:p>
        </p:txBody>
      </p:sp>
      <p:pic>
        <p:nvPicPr>
          <p:cNvPr id="27" name="Media 8">
            <a:hlinkClick r:id="" action="ppaction://media"/>
          </p:cNvPr>
          <p:cNvPicPr>
            <a:picLocks noChangeAspect="1"/>
          </p:cNvPicPr>
          <p:nvPr>
            <a:videoFile r:link="rId25"/>
            <p:extLst>
              <p:ext uri="{DAA4B4D4-6D71-4841-9C94-3DE7FCFB9230}">
                <p14:media xmlns:p14="http://schemas.microsoft.com/office/powerpoint/2010/main" r:embed="rId26"/>
              </p:ext>
            </p:extLst>
          </p:nvPr>
        </p:nvPicPr>
        <p:blipFill>
          <a:blip r:embed="rId27"/>
          <a:stretch>
            <a:fillRect/>
          </a:stretch>
        </p:blipFill>
        <p:spPr>
          <a:xfrm>
            <a:off x="5559552" y="2532888"/>
            <a:ext cx="1426464" cy="1069848"/>
          </a:xfrm>
          <a:prstGeom prst="rect">
            <a:avLst/>
          </a:prstGeom>
        </p:spPr>
      </p:pic>
      <p:sp>
        <p:nvSpPr>
          <p:cNvPr id="30" name="Shape 19"/>
          <p:cNvSpPr/>
          <p:nvPr/>
        </p:nvSpPr>
        <p:spPr>
          <a:xfrm>
            <a:off x="5559552" y="2532888"/>
            <a:ext cx="1426464" cy="1069848"/>
          </a:xfrm>
          <a:prstGeom prst="rect">
            <a:avLst/>
          </a:prstGeom>
          <a:ln w="19050">
            <a:solidFill>
              <a:srgbClr val="2E8B57"/>
            </a:solidFill>
            <a:prstDash val="solid"/>
          </a:ln>
        </p:spPr>
      </p:sp>
      <p:sp>
        <p:nvSpPr>
          <p:cNvPr id="31" name="Text 20"/>
          <p:cNvSpPr txBox="1"/>
          <p:nvPr/>
        </p:nvSpPr>
        <p:spPr>
          <a:xfrm>
            <a:off x="7260336" y="2359152"/>
            <a:ext cx="1426464" cy="173736"/>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moderate</a:t>
            </a:r>
            <a:endParaRPr lang="en-US" sz="900" dirty="0"/>
          </a:p>
        </p:txBody>
      </p:sp>
      <p:pic>
        <p:nvPicPr>
          <p:cNvPr id="30" name="Media 9">
            <a:hlinkClick r:id="" action="ppaction://media"/>
          </p:cNvPr>
          <p:cNvPicPr>
            <a:picLocks noChangeAspect="1"/>
          </p:cNvPicPr>
          <p:nvPr>
            <a:videoFile r:link="rId28"/>
            <p:extLst>
              <p:ext uri="{DAA4B4D4-6D71-4841-9C94-3DE7FCFB9230}">
                <p14:media xmlns:p14="http://schemas.microsoft.com/office/powerpoint/2010/main" r:embed="rId29"/>
              </p:ext>
            </p:extLst>
          </p:nvPr>
        </p:nvPicPr>
        <p:blipFill>
          <a:blip r:embed="rId30"/>
          <a:stretch>
            <a:fillRect/>
          </a:stretch>
        </p:blipFill>
        <p:spPr>
          <a:xfrm>
            <a:off x="7260336" y="2532888"/>
            <a:ext cx="1426464" cy="1069848"/>
          </a:xfrm>
          <a:prstGeom prst="rect">
            <a:avLst/>
          </a:prstGeom>
        </p:spPr>
      </p:pic>
      <p:sp>
        <p:nvSpPr>
          <p:cNvPr id="33" name="Shape 21"/>
          <p:cNvSpPr/>
          <p:nvPr/>
        </p:nvSpPr>
        <p:spPr>
          <a:xfrm>
            <a:off x="7260336" y="2532888"/>
            <a:ext cx="1426464" cy="1069848"/>
          </a:xfrm>
          <a:prstGeom prst="rect">
            <a:avLst/>
          </a:prstGeom>
          <a:ln w="19050">
            <a:solidFill>
              <a:srgbClr val="2E8B57"/>
            </a:solidFill>
            <a:prstDash val="solid"/>
          </a:ln>
        </p:spPr>
      </p:sp>
      <p:sp>
        <p:nvSpPr>
          <p:cNvPr id="34" name="Text 22"/>
          <p:cNvSpPr txBox="1"/>
          <p:nvPr/>
        </p:nvSpPr>
        <p:spPr>
          <a:xfrm>
            <a:off x="457200" y="3621024"/>
            <a:ext cx="1426464" cy="173736"/>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aggressive</a:t>
            </a:r>
            <a:endParaRPr lang="en-US" sz="900" dirty="0"/>
          </a:p>
        </p:txBody>
      </p:sp>
      <p:pic>
        <p:nvPicPr>
          <p:cNvPr id="33" name="Media 10">
            <a:hlinkClick r:id="" action="ppaction://media"/>
          </p:cNvPr>
          <p:cNvPicPr>
            <a:picLocks noChangeAspect="1"/>
          </p:cNvPicPr>
          <p:nvPr>
            <a:videoFile r:link="rId31"/>
            <p:extLst>
              <p:ext uri="{DAA4B4D4-6D71-4841-9C94-3DE7FCFB9230}">
                <p14:media xmlns:p14="http://schemas.microsoft.com/office/powerpoint/2010/main" r:embed="rId32"/>
              </p:ext>
            </p:extLst>
          </p:nvPr>
        </p:nvPicPr>
        <p:blipFill>
          <a:blip r:embed="rId33"/>
          <a:stretch>
            <a:fillRect/>
          </a:stretch>
        </p:blipFill>
        <p:spPr>
          <a:xfrm>
            <a:off x="457200" y="3794760"/>
            <a:ext cx="1426464" cy="1069848"/>
          </a:xfrm>
          <a:prstGeom prst="rect">
            <a:avLst/>
          </a:prstGeom>
        </p:spPr>
      </p:pic>
      <p:sp>
        <p:nvSpPr>
          <p:cNvPr id="36" name="Shape 23"/>
          <p:cNvSpPr/>
          <p:nvPr/>
        </p:nvSpPr>
        <p:spPr>
          <a:xfrm>
            <a:off x="457200" y="3794760"/>
            <a:ext cx="1426464" cy="1069848"/>
          </a:xfrm>
          <a:prstGeom prst="rect">
            <a:avLst/>
          </a:prstGeom>
          <a:ln w="19050">
            <a:solidFill>
              <a:srgbClr val="2E8B57"/>
            </a:solidFill>
            <a:prstDash val="solid"/>
          </a:ln>
        </p:spPr>
      </p:sp>
      <p:sp>
        <p:nvSpPr>
          <p:cNvPr id="37" name="Text 24"/>
          <p:cNvSpPr txBox="1"/>
          <p:nvPr/>
        </p:nvSpPr>
        <p:spPr>
          <a:xfrm>
            <a:off x="2157984" y="3621024"/>
            <a:ext cx="1426464" cy="173736"/>
          </a:xfrm>
          <a:prstGeom prst="rect">
            <a:avLst/>
          </a:prstGeom>
          <a:noFill/>
          <a:ln/>
        </p:spPr>
        <p:txBody>
          <a:bodyPr wrap="square" lIns="0" tIns="0" rIns="0" bIns="0" rtlCol="0" anchor="b"/>
          <a:lstStyle/>
          <a:p>
            <a:pPr indent="0" marL="0">
              <a:buNone/>
            </a:pPr>
            <a:r>
              <a:rPr lang="en-US" sz="900" b="1" dirty="0">
                <a:solidFill>
                  <a:srgbClr val="8C650F"/>
                </a:solidFill>
                <a:latin typeface="Arial" pitchFamily="34" charset="0"/>
                <a:ea typeface="Arial" pitchFamily="34" charset="-122"/>
                <a:cs typeface="Arial" pitchFamily="34" charset="-120"/>
              </a:rPr>
              <a:t>Fusion motion/entropy</a:t>
            </a:r>
            <a:endParaRPr lang="en-US" sz="900" dirty="0"/>
          </a:p>
        </p:txBody>
      </p:sp>
      <p:pic>
        <p:nvPicPr>
          <p:cNvPr id="36" name="Media 11">
            <a:hlinkClick r:id="" action="ppaction://media"/>
          </p:cNvPr>
          <p:cNvPicPr>
            <a:picLocks noChangeAspect="1"/>
          </p:cNvPicPr>
          <p:nvPr>
            <a:videoFile r:link="rId34"/>
            <p:extLst>
              <p:ext uri="{DAA4B4D4-6D71-4841-9C94-3DE7FCFB9230}">
                <p14:media xmlns:p14="http://schemas.microsoft.com/office/powerpoint/2010/main" r:embed="rId35"/>
              </p:ext>
            </p:extLst>
          </p:nvPr>
        </p:nvPicPr>
        <p:blipFill>
          <a:blip r:embed="rId36"/>
          <a:stretch>
            <a:fillRect/>
          </a:stretch>
        </p:blipFill>
        <p:spPr>
          <a:xfrm>
            <a:off x="2157984" y="3794760"/>
            <a:ext cx="1426464" cy="1069848"/>
          </a:xfrm>
          <a:prstGeom prst="rect">
            <a:avLst/>
          </a:prstGeom>
        </p:spPr>
      </p:pic>
      <p:sp>
        <p:nvSpPr>
          <p:cNvPr id="39" name="Shape 25"/>
          <p:cNvSpPr/>
          <p:nvPr/>
        </p:nvSpPr>
        <p:spPr>
          <a:xfrm>
            <a:off x="2157984" y="3794760"/>
            <a:ext cx="1426464" cy="1069848"/>
          </a:xfrm>
          <a:prstGeom prst="rect">
            <a:avLst/>
          </a:prstGeom>
          <a:ln w="19050">
            <a:solidFill>
              <a:srgbClr val="2E8B57"/>
            </a:solidFill>
            <a:prstDash val="solid"/>
          </a:ln>
        </p:spPr>
      </p:sp>
      <p:sp>
        <p:nvSpPr>
          <p:cNvPr id="40" name="Text 26"/>
          <p:cNvSpPr txBox="1"/>
          <p:nvPr/>
        </p:nvSpPr>
        <p:spPr>
          <a:xfrm>
            <a:off x="3858768" y="3621024"/>
            <a:ext cx="1426464" cy="173736"/>
          </a:xfrm>
          <a:prstGeom prst="rect">
            <a:avLst/>
          </a:prstGeom>
          <a:noFill/>
          <a:ln/>
        </p:spPr>
        <p:txBody>
          <a:bodyPr wrap="square" lIns="0" tIns="0" rIns="0" bIns="0" rtlCol="0" anchor="b"/>
          <a:lstStyle/>
          <a:p>
            <a:pPr indent="0" marL="0">
              <a:buNone/>
            </a:pPr>
            <a:r>
              <a:rPr lang="en-US" sz="900" b="1" dirty="0">
                <a:solidFill>
                  <a:srgbClr val="8C650F"/>
                </a:solidFill>
                <a:latin typeface="Arial" pitchFamily="34" charset="0"/>
                <a:ea typeface="Arial" pitchFamily="34" charset="-122"/>
                <a:cs typeface="Arial" pitchFamily="34" charset="-120"/>
              </a:rPr>
              <a:t>Fusion task-aware</a:t>
            </a:r>
            <a:endParaRPr lang="en-US" sz="900" dirty="0"/>
          </a:p>
        </p:txBody>
      </p:sp>
      <p:pic>
        <p:nvPicPr>
          <p:cNvPr id="39" name="Media 12">
            <a:hlinkClick r:id="" action="ppaction://media"/>
          </p:cNvPr>
          <p:cNvPicPr>
            <a:picLocks noChangeAspect="1"/>
          </p:cNvPicPr>
          <p:nvPr>
            <a:videoFile r:link="rId37"/>
            <p:extLst>
              <p:ext uri="{DAA4B4D4-6D71-4841-9C94-3DE7FCFB9230}">
                <p14:media xmlns:p14="http://schemas.microsoft.com/office/powerpoint/2010/main" r:embed="rId38"/>
              </p:ext>
            </p:extLst>
          </p:nvPr>
        </p:nvPicPr>
        <p:blipFill>
          <a:blip r:embed="rId39"/>
          <a:stretch>
            <a:fillRect/>
          </a:stretch>
        </p:blipFill>
        <p:spPr>
          <a:xfrm>
            <a:off x="3858768" y="3794760"/>
            <a:ext cx="1426464" cy="1069848"/>
          </a:xfrm>
          <a:prstGeom prst="rect">
            <a:avLst/>
          </a:prstGeom>
        </p:spPr>
      </p:pic>
      <p:sp>
        <p:nvSpPr>
          <p:cNvPr id="42" name="Shape 27"/>
          <p:cNvSpPr/>
          <p:nvPr/>
        </p:nvSpPr>
        <p:spPr>
          <a:xfrm>
            <a:off x="3858768" y="3794760"/>
            <a:ext cx="1426464" cy="1069848"/>
          </a:xfrm>
          <a:prstGeom prst="rect">
            <a:avLst/>
          </a:prstGeom>
          <a:ln w="19050">
            <a:solidFill>
              <a:srgbClr val="2E8B57"/>
            </a:solidFill>
            <a:prstDash val="solid"/>
          </a:ln>
        </p:spPr>
      </p:sp>
      <p:sp>
        <p:nvSpPr>
          <p:cNvPr id="43" name="Text 28"/>
          <p:cNvSpPr txBox="1"/>
          <p:nvPr/>
        </p:nvSpPr>
        <p:spPr>
          <a:xfrm>
            <a:off x="5559552" y="3621024"/>
            <a:ext cx="1426464" cy="173736"/>
          </a:xfrm>
          <a:prstGeom prst="rect">
            <a:avLst/>
          </a:prstGeom>
          <a:noFill/>
          <a:ln/>
        </p:spPr>
        <p:txBody>
          <a:bodyPr wrap="square" lIns="0" tIns="0" rIns="0" bIns="0" rtlCol="0" anchor="b"/>
          <a:lstStyle/>
          <a:p>
            <a:pPr indent="0" marL="0">
              <a:buNone/>
            </a:pPr>
            <a:r>
              <a:rPr lang="en-US" sz="900" b="1" dirty="0">
                <a:solidFill>
                  <a:srgbClr val="8C650F"/>
                </a:solidFill>
                <a:latin typeface="Arial" pitchFamily="34" charset="0"/>
                <a:ea typeface="Arial" pitchFamily="34" charset="-122"/>
                <a:cs typeface="Arial" pitchFamily="34" charset="-120"/>
              </a:rPr>
              <a:t>Fusion conservative</a:t>
            </a:r>
            <a:endParaRPr lang="en-US" sz="900" dirty="0"/>
          </a:p>
        </p:txBody>
      </p:sp>
      <p:pic>
        <p:nvPicPr>
          <p:cNvPr id="42" name="Media 13">
            <a:hlinkClick r:id="" action="ppaction://media"/>
          </p:cNvPr>
          <p:cNvPicPr>
            <a:picLocks noChangeAspect="1"/>
          </p:cNvPicPr>
          <p:nvPr>
            <a:videoFile r:link="rId40"/>
            <p:extLst>
              <p:ext uri="{DAA4B4D4-6D71-4841-9C94-3DE7FCFB9230}">
                <p14:media xmlns:p14="http://schemas.microsoft.com/office/powerpoint/2010/main" r:embed="rId41"/>
              </p:ext>
            </p:extLst>
          </p:nvPr>
        </p:nvPicPr>
        <p:blipFill>
          <a:blip r:embed="rId42"/>
          <a:stretch>
            <a:fillRect/>
          </a:stretch>
        </p:blipFill>
        <p:spPr>
          <a:xfrm>
            <a:off x="5559552" y="3794760"/>
            <a:ext cx="1426464" cy="1069848"/>
          </a:xfrm>
          <a:prstGeom prst="rect">
            <a:avLst/>
          </a:prstGeom>
        </p:spPr>
      </p:pic>
      <p:sp>
        <p:nvSpPr>
          <p:cNvPr id="45" name="Shape 29"/>
          <p:cNvSpPr/>
          <p:nvPr/>
        </p:nvSpPr>
        <p:spPr>
          <a:xfrm>
            <a:off x="5559552" y="3794760"/>
            <a:ext cx="1426464" cy="1069848"/>
          </a:xfrm>
          <a:prstGeom prst="rect">
            <a:avLst/>
          </a:prstGeom>
          <a:ln w="19050">
            <a:solidFill>
              <a:srgbClr val="2E8B57"/>
            </a:solidFill>
            <a:prstDash val="solid"/>
          </a:ln>
        </p:spPr>
      </p:sp>
    </p:spTree>
  </p:cSld>
  <p:clrMapOvr>
    <a:masterClrMapping/>
  </p:clrMapOvr>
  <p:transition advTm="8000">
    <p:fade/>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101" fill="hold">
                            <p:stCondLst>
                              <p:cond delay="0"/>
                            </p:stCondLst>
                            <p:childTnLst>
                              <p:par>
                                <p:cTn id="3" presetID="1" presetClass="mediacall" presetSubtype="0" fill="hold" nodeType="withEffect">
                                  <p:stCondLst>
                                    <p:cond delay="0"/>
                                  </p:stCondLst>
                                  <p:childTnLst>
                                    <p:cmd type="call" cmd="playFrom(0.0)">
                                      <p:cBhvr>
                                        <p:cTn id="4" dur="indefinite" fill="hold"/>
                                        <p:tgtEl>
                                          <p:spTgt spid="3"/>
                                        </p:tgtEl>
                                      </p:cBhvr>
                                    </p:cmd>
                                  </p:childTnLst>
                                </p:cTn>
                              </p:par>
                              <p:par>
                                <p:cTn id="5" presetID="1" presetClass="mediacall" presetSubtype="0" fill="hold" nodeType="withEffect">
                                  <p:stCondLst>
                                    <p:cond delay="0"/>
                                  </p:stCondLst>
                                  <p:childTnLst>
                                    <p:cmd type="call" cmd="playFrom(0.0)">
                                      <p:cBhvr>
                                        <p:cTn id="6" dur="indefinite" fill="hold"/>
                                        <p:tgtEl>
                                          <p:spTgt spid="6"/>
                                        </p:tgtEl>
                                      </p:cBhvr>
                                    </p:cmd>
                                  </p:childTnLst>
                                </p:cTn>
                              </p:par>
                              <p:par>
                                <p:cTn id="7" presetID="1" presetClass="mediacall" presetSubtype="0" fill="hold" nodeType="withEffect">
                                  <p:stCondLst>
                                    <p:cond delay="0"/>
                                  </p:stCondLst>
                                  <p:childTnLst>
                                    <p:cmd type="call" cmd="playFrom(0.0)">
                                      <p:cBhvr>
                                        <p:cTn id="8" dur="indefinite" fill="hold"/>
                                        <p:tgtEl>
                                          <p:spTgt spid="9"/>
                                        </p:tgtEl>
                                      </p:cBhvr>
                                    </p:cmd>
                                  </p:childTnLst>
                                </p:cTn>
                              </p:par>
                              <p:par>
                                <p:cTn id="9" presetID="1" presetClass="mediacall" presetSubtype="0" fill="hold" nodeType="withEffect">
                                  <p:stCondLst>
                                    <p:cond delay="0"/>
                                  </p:stCondLst>
                                  <p:childTnLst>
                                    <p:cmd type="call" cmd="playFrom(0.0)">
                                      <p:cBhvr>
                                        <p:cTn id="10" dur="indefinite" fill="hold"/>
                                        <p:tgtEl>
                                          <p:spTgt spid="12"/>
                                        </p:tgtEl>
                                      </p:cBhvr>
                                    </p:cmd>
                                  </p:childTnLst>
                                </p:cTn>
                              </p:par>
                              <p:par>
                                <p:cTn id="11" presetID="1" presetClass="mediacall" presetSubtype="0" fill="hold" nodeType="withEffect">
                                  <p:stCondLst>
                                    <p:cond delay="0"/>
                                  </p:stCondLst>
                                  <p:childTnLst>
                                    <p:cmd type="call" cmd="playFrom(0.0)">
                                      <p:cBhvr>
                                        <p:cTn id="12" dur="indefinite" fill="hold"/>
                                        <p:tgtEl>
                                          <p:spTgt spid="15"/>
                                        </p:tgtEl>
                                      </p:cBhvr>
                                    </p:cmd>
                                  </p:childTnLst>
                                </p:cTn>
                              </p:par>
                              <p:par>
                                <p:cTn id="13" presetID="1" presetClass="mediacall" presetSubtype="0" fill="hold" nodeType="withEffect">
                                  <p:stCondLst>
                                    <p:cond delay="0"/>
                                  </p:stCondLst>
                                  <p:childTnLst>
                                    <p:cmd type="call" cmd="playFrom(0.0)">
                                      <p:cBhvr>
                                        <p:cTn id="14" dur="indefinite" fill="hold"/>
                                        <p:tgtEl>
                                          <p:spTgt spid="18"/>
                                        </p:tgtEl>
                                      </p:cBhvr>
                                    </p:cmd>
                                  </p:childTnLst>
                                </p:cTn>
                              </p:par>
                              <p:par>
                                <p:cTn id="15" presetID="1" presetClass="mediacall" presetSubtype="0" fill="hold" nodeType="withEffect">
                                  <p:stCondLst>
                                    <p:cond delay="0"/>
                                  </p:stCondLst>
                                  <p:childTnLst>
                                    <p:cmd type="call" cmd="playFrom(0.0)">
                                      <p:cBhvr>
                                        <p:cTn id="16" dur="indefinite" fill="hold"/>
                                        <p:tgtEl>
                                          <p:spTgt spid="21"/>
                                        </p:tgtEl>
                                      </p:cBhvr>
                                    </p:cmd>
                                  </p:childTnLst>
                                </p:cTn>
                              </p:par>
                              <p:par>
                                <p:cTn id="17" presetID="1" presetClass="mediacall" presetSubtype="0" fill="hold" nodeType="withEffect">
                                  <p:stCondLst>
                                    <p:cond delay="0"/>
                                  </p:stCondLst>
                                  <p:childTnLst>
                                    <p:cmd type="call" cmd="playFrom(0.0)">
                                      <p:cBhvr>
                                        <p:cTn id="18" dur="indefinite" fill="hold"/>
                                        <p:tgtEl>
                                          <p:spTgt spid="24"/>
                                        </p:tgtEl>
                                      </p:cBhvr>
                                    </p:cmd>
                                  </p:childTnLst>
                                </p:cTn>
                              </p:par>
                              <p:par>
                                <p:cTn id="19" presetID="1" presetClass="mediacall" presetSubtype="0" fill="hold" nodeType="withEffect">
                                  <p:stCondLst>
                                    <p:cond delay="0"/>
                                  </p:stCondLst>
                                  <p:childTnLst>
                                    <p:cmd type="call" cmd="playFrom(0.0)">
                                      <p:cBhvr>
                                        <p:cTn id="20" dur="indefinite" fill="hold"/>
                                        <p:tgtEl>
                                          <p:spTgt spid="27"/>
                                        </p:tgtEl>
                                      </p:cBhvr>
                                    </p:cmd>
                                  </p:childTnLst>
                                </p:cTn>
                              </p:par>
                              <p:par>
                                <p:cTn id="21" presetID="1" presetClass="mediacall" presetSubtype="0" fill="hold" nodeType="withEffect">
                                  <p:stCondLst>
                                    <p:cond delay="0"/>
                                  </p:stCondLst>
                                  <p:childTnLst>
                                    <p:cmd type="call" cmd="playFrom(0.0)">
                                      <p:cBhvr>
                                        <p:cTn id="22" dur="indefinite" fill="hold"/>
                                        <p:tgtEl>
                                          <p:spTgt spid="30"/>
                                        </p:tgtEl>
                                      </p:cBhvr>
                                    </p:cmd>
                                  </p:childTnLst>
                                </p:cTn>
                              </p:par>
                              <p:par>
                                <p:cTn id="23" presetID="1" presetClass="mediacall" presetSubtype="0" fill="hold" nodeType="withEffect">
                                  <p:stCondLst>
                                    <p:cond delay="0"/>
                                  </p:stCondLst>
                                  <p:childTnLst>
                                    <p:cmd type="call" cmd="playFrom(0.0)">
                                      <p:cBhvr>
                                        <p:cTn id="24" dur="indefinite" fill="hold"/>
                                        <p:tgtEl>
                                          <p:spTgt spid="33"/>
                                        </p:tgtEl>
                                      </p:cBhvr>
                                    </p:cmd>
                                  </p:childTnLst>
                                </p:cTn>
                              </p:par>
                              <p:par>
                                <p:cTn id="25" presetID="1" presetClass="mediacall" presetSubtype="0" fill="hold" nodeType="withEffect">
                                  <p:stCondLst>
                                    <p:cond delay="0"/>
                                  </p:stCondLst>
                                  <p:childTnLst>
                                    <p:cmd type="call" cmd="playFrom(0.0)">
                                      <p:cBhvr>
                                        <p:cTn id="26" dur="indefinite" fill="hold"/>
                                        <p:tgtEl>
                                          <p:spTgt spid="36"/>
                                        </p:tgtEl>
                                      </p:cBhvr>
                                    </p:cmd>
                                  </p:childTnLst>
                                </p:cTn>
                              </p:par>
                              <p:par>
                                <p:cTn id="27" presetID="1" presetClass="mediacall" presetSubtype="0" fill="hold" nodeType="withEffect">
                                  <p:stCondLst>
                                    <p:cond delay="0"/>
                                  </p:stCondLst>
                                  <p:childTnLst>
                                    <p:cmd type="call" cmd="playFrom(0.0)">
                                      <p:cBhvr>
                                        <p:cTn id="28" dur="indefinite" fill="hold"/>
                                        <p:tgtEl>
                                          <p:spTgt spid="39"/>
                                        </p:tgtEl>
                                      </p:cBhvr>
                                    </p:cmd>
                                  </p:childTnLst>
                                </p:cTn>
                              </p:par>
                              <p:par>
                                <p:cTn id="29" presetID="1" presetClass="mediacall" presetSubtype="0" fill="hold" nodeType="withEffect">
                                  <p:stCondLst>
                                    <p:cond delay="0"/>
                                  </p:stCondLst>
                                  <p:childTnLst>
                                    <p:cmd type="call" cmd="playFrom(0.0)">
                                      <p:cBhvr>
                                        <p:cTn id="30" dur="indefinite" fill="hold"/>
                                        <p:tgtEl>
                                          <p:spTgt spid="4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31" fill="hold" display="0">
                  <p:stCondLst>
                    <p:cond delay="indefinite"/>
                  </p:stCondLst>
                </p:cTn>
                <p:tgtEl>
                  <p:spTgt spid="3"/>
                </p:tgtEl>
              </p:cMediaNode>
            </p:video>
            <p:video>
              <p:cMediaNode vol="80000">
                <p:cTn id="32" fill="hold" display="0">
                  <p:stCondLst>
                    <p:cond delay="indefinite"/>
                  </p:stCondLst>
                </p:cTn>
                <p:tgtEl>
                  <p:spTgt spid="6"/>
                </p:tgtEl>
              </p:cMediaNode>
            </p:video>
            <p:video>
              <p:cMediaNode vol="80000">
                <p:cTn id="33" fill="hold" display="0">
                  <p:stCondLst>
                    <p:cond delay="indefinite"/>
                  </p:stCondLst>
                </p:cTn>
                <p:tgtEl>
                  <p:spTgt spid="9"/>
                </p:tgtEl>
              </p:cMediaNode>
            </p:video>
            <p:video>
              <p:cMediaNode vol="80000">
                <p:cTn id="34" fill="hold" display="0">
                  <p:stCondLst>
                    <p:cond delay="indefinite"/>
                  </p:stCondLst>
                </p:cTn>
                <p:tgtEl>
                  <p:spTgt spid="12"/>
                </p:tgtEl>
              </p:cMediaNode>
            </p:video>
            <p:video>
              <p:cMediaNode vol="80000">
                <p:cTn id="35" fill="hold" display="0">
                  <p:stCondLst>
                    <p:cond delay="indefinite"/>
                  </p:stCondLst>
                </p:cTn>
                <p:tgtEl>
                  <p:spTgt spid="15"/>
                </p:tgtEl>
              </p:cMediaNode>
            </p:video>
            <p:video>
              <p:cMediaNode vol="80000">
                <p:cTn id="36" fill="hold" display="0">
                  <p:stCondLst>
                    <p:cond delay="indefinite"/>
                  </p:stCondLst>
                </p:cTn>
                <p:tgtEl>
                  <p:spTgt spid="18"/>
                </p:tgtEl>
              </p:cMediaNode>
            </p:video>
            <p:video>
              <p:cMediaNode vol="80000">
                <p:cTn id="37" fill="hold" display="0">
                  <p:stCondLst>
                    <p:cond delay="indefinite"/>
                  </p:stCondLst>
                </p:cTn>
                <p:tgtEl>
                  <p:spTgt spid="21"/>
                </p:tgtEl>
              </p:cMediaNode>
            </p:video>
            <p:video>
              <p:cMediaNode vol="80000">
                <p:cTn id="38" fill="hold" display="0">
                  <p:stCondLst>
                    <p:cond delay="indefinite"/>
                  </p:stCondLst>
                </p:cTn>
                <p:tgtEl>
                  <p:spTgt spid="24"/>
                </p:tgtEl>
              </p:cMediaNode>
            </p:video>
            <p:video>
              <p:cMediaNode vol="80000">
                <p:cTn id="39" fill="hold" display="0">
                  <p:stCondLst>
                    <p:cond delay="indefinite"/>
                  </p:stCondLst>
                </p:cTn>
                <p:tgtEl>
                  <p:spTgt spid="27"/>
                </p:tgtEl>
              </p:cMediaNode>
            </p:video>
            <p:video>
              <p:cMediaNode vol="80000">
                <p:cTn id="40" fill="hold" display="0">
                  <p:stCondLst>
                    <p:cond delay="indefinite"/>
                  </p:stCondLst>
                </p:cTn>
                <p:tgtEl>
                  <p:spTgt spid="30"/>
                </p:tgtEl>
              </p:cMediaNode>
            </p:video>
            <p:video>
              <p:cMediaNode vol="80000">
                <p:cTn id="41" fill="hold" display="0">
                  <p:stCondLst>
                    <p:cond delay="indefinite"/>
                  </p:stCondLst>
                </p:cTn>
                <p:tgtEl>
                  <p:spTgt spid="33"/>
                </p:tgtEl>
              </p:cMediaNode>
            </p:video>
            <p:video>
              <p:cMediaNode vol="80000">
                <p:cTn id="42" fill="hold" display="0">
                  <p:stCondLst>
                    <p:cond delay="indefinite"/>
                  </p:stCondLst>
                </p:cTn>
                <p:tgtEl>
                  <p:spTgt spid="36"/>
                </p:tgtEl>
              </p:cMediaNode>
            </p:video>
            <p:video>
              <p:cMediaNode vol="80000">
                <p:cTn id="43" fill="hold" display="0">
                  <p:stCondLst>
                    <p:cond delay="indefinite"/>
                  </p:stCondLst>
                </p:cTn>
                <p:tgtEl>
                  <p:spTgt spid="39"/>
                </p:tgtEl>
              </p:cMediaNode>
            </p:video>
            <p:video>
              <p:cMediaNode vol="80000">
                <p:cTn id="44" fill="hold" display="0">
                  <p:stCondLst>
                    <p:cond delay="indefinite"/>
                  </p:stCondLst>
                </p:cTn>
                <p:tgtEl>
                  <p:spTgt spid="42"/>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100" b="1" dirty="0">
                <a:solidFill>
                  <a:srgbClr val="1F2933"/>
                </a:solidFill>
                <a:latin typeface="Arial" pitchFamily="34" charset="0"/>
                <a:ea typeface="Arial" pitchFamily="34" charset="-122"/>
                <a:cs typeface="Arial" pitchFamily="34" charset="-120"/>
              </a:rPr>
              <a:t>CogACT on SimplerEnv WidowX: "Spoon on the towel"</a:t>
            </a:r>
            <a:endParaRPr lang="en-US" sz="2100" dirty="0"/>
          </a:p>
        </p:txBody>
      </p:sp>
      <p:sp>
        <p:nvSpPr>
          <p:cNvPr id="3" name="Text 1"/>
          <p:cNvSpPr txBox="1"/>
          <p:nvPr/>
        </p:nvSpPr>
        <p:spPr>
          <a:xfrm>
            <a:off x="457200" y="822960"/>
            <a:ext cx="8229600" cy="256032"/>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All 14 configurations on the same episode (same initial state), played at 2× speed. Green = success, red = failure (badge in each clip).</a:t>
            </a:r>
            <a:endParaRPr lang="en-US" sz="1000" dirty="0"/>
          </a:p>
        </p:txBody>
      </p:sp>
      <p:sp>
        <p:nvSpPr>
          <p:cNvPr id="4" name="Text 2"/>
          <p:cNvSpPr txBox="1"/>
          <p:nvPr/>
        </p:nvSpPr>
        <p:spPr>
          <a:xfrm>
            <a:off x="457200" y="1097280"/>
            <a:ext cx="1426464" cy="173736"/>
          </a:xfrm>
          <a:prstGeom prst="rect">
            <a:avLst/>
          </a:prstGeom>
          <a:noFill/>
          <a:ln/>
        </p:spPr>
        <p:txBody>
          <a:bodyPr wrap="square" lIns="0" tIns="0" rIns="0" bIns="0" rtlCol="0" anchor="b"/>
          <a:lstStyle/>
          <a:p>
            <a:pPr indent="0" marL="0">
              <a:buNone/>
            </a:pPr>
            <a:r>
              <a:rPr lang="en-US" sz="900" b="1" dirty="0">
                <a:solidFill>
                  <a:srgbClr val="222222"/>
                </a:solidFill>
                <a:latin typeface="Arial" pitchFamily="34" charset="0"/>
                <a:ea typeface="Arial" pitchFamily="34" charset="-122"/>
                <a:cs typeface="Arial" pitchFamily="34" charset="-120"/>
              </a:rPr>
              <a:t>Original</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271016"/>
            <a:ext cx="1426464" cy="1069848"/>
          </a:xfrm>
          <a:prstGeom prst="rect">
            <a:avLst/>
          </a:prstGeom>
        </p:spPr>
      </p:pic>
      <p:sp>
        <p:nvSpPr>
          <p:cNvPr id="6" name="Shape 3"/>
          <p:cNvSpPr/>
          <p:nvPr/>
        </p:nvSpPr>
        <p:spPr>
          <a:xfrm>
            <a:off x="457200" y="1271016"/>
            <a:ext cx="1426464" cy="1069848"/>
          </a:xfrm>
          <a:prstGeom prst="rect">
            <a:avLst/>
          </a:prstGeom>
          <a:ln w="19050">
            <a:solidFill>
              <a:srgbClr val="2E8B57"/>
            </a:solidFill>
            <a:prstDash val="solid"/>
          </a:ln>
        </p:spPr>
      </p:sp>
      <p:sp>
        <p:nvSpPr>
          <p:cNvPr id="7" name="Text 4"/>
          <p:cNvSpPr txBox="1"/>
          <p:nvPr/>
        </p:nvSpPr>
        <p:spPr>
          <a:xfrm>
            <a:off x="2157984" y="1097280"/>
            <a:ext cx="1426464" cy="173736"/>
          </a:xfrm>
          <a:prstGeom prst="rect">
            <a:avLst/>
          </a:prstGeom>
          <a:noFill/>
          <a:ln/>
        </p:spPr>
        <p:txBody>
          <a:bodyPr wrap="square" lIns="0" tIns="0" rIns="0" bIns="0" rtlCol="0" anchor="b"/>
          <a:lstStyle/>
          <a:p>
            <a:pPr indent="0" marL="0">
              <a:buNone/>
            </a:pPr>
            <a:r>
              <a:rPr lang="en-US" sz="900" b="1" dirty="0">
                <a:solidFill>
                  <a:srgbClr val="0072B2"/>
                </a:solidFill>
                <a:latin typeface="Arial" pitchFamily="34" charset="0"/>
                <a:ea typeface="Arial" pitchFamily="34" charset="-122"/>
                <a:cs typeface="Arial" pitchFamily="34" charset="-120"/>
              </a:rPr>
              <a:t>Foveation 20%</a:t>
            </a:r>
            <a:endParaRPr lang="en-US" sz="900" dirty="0"/>
          </a:p>
        </p:txBody>
      </p:sp>
      <p:pic>
        <p:nvPicPr>
          <p:cNvPr id="6" name="Media 1">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2157984" y="1271016"/>
            <a:ext cx="1426464" cy="1069848"/>
          </a:xfrm>
          <a:prstGeom prst="rect">
            <a:avLst/>
          </a:prstGeom>
        </p:spPr>
      </p:pic>
      <p:sp>
        <p:nvSpPr>
          <p:cNvPr id="9" name="Shape 5"/>
          <p:cNvSpPr/>
          <p:nvPr/>
        </p:nvSpPr>
        <p:spPr>
          <a:xfrm>
            <a:off x="2157984" y="1271016"/>
            <a:ext cx="1426464" cy="1069848"/>
          </a:xfrm>
          <a:prstGeom prst="rect">
            <a:avLst/>
          </a:prstGeom>
          <a:ln w="19050">
            <a:solidFill>
              <a:srgbClr val="2E8B57"/>
            </a:solidFill>
            <a:prstDash val="solid"/>
          </a:ln>
        </p:spPr>
      </p:sp>
      <p:sp>
        <p:nvSpPr>
          <p:cNvPr id="10" name="Text 6"/>
          <p:cNvSpPr txBox="1"/>
          <p:nvPr/>
        </p:nvSpPr>
        <p:spPr>
          <a:xfrm>
            <a:off x="3858768" y="1097280"/>
            <a:ext cx="1426464" cy="173736"/>
          </a:xfrm>
          <a:prstGeom prst="rect">
            <a:avLst/>
          </a:prstGeom>
          <a:noFill/>
          <a:ln/>
        </p:spPr>
        <p:txBody>
          <a:bodyPr wrap="square" lIns="0" tIns="0" rIns="0" bIns="0" rtlCol="0" anchor="b"/>
          <a:lstStyle/>
          <a:p>
            <a:pPr indent="0" marL="0">
              <a:buNone/>
            </a:pPr>
            <a:r>
              <a:rPr lang="en-US" sz="900" b="1" dirty="0">
                <a:solidFill>
                  <a:srgbClr val="0072B2"/>
                </a:solidFill>
                <a:latin typeface="Arial" pitchFamily="34" charset="0"/>
                <a:ea typeface="Arial" pitchFamily="34" charset="-122"/>
                <a:cs typeface="Arial" pitchFamily="34" charset="-120"/>
              </a:rPr>
              <a:t>Foveation 50%</a:t>
            </a:r>
            <a:endParaRPr lang="en-US" sz="900" dirty="0"/>
          </a:p>
        </p:txBody>
      </p:sp>
      <p:pic>
        <p:nvPicPr>
          <p:cNvPr id="9" name="Media 2">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3858768" y="1271016"/>
            <a:ext cx="1426464" cy="1069848"/>
          </a:xfrm>
          <a:prstGeom prst="rect">
            <a:avLst/>
          </a:prstGeom>
        </p:spPr>
      </p:pic>
      <p:sp>
        <p:nvSpPr>
          <p:cNvPr id="12" name="Shape 7"/>
          <p:cNvSpPr/>
          <p:nvPr/>
        </p:nvSpPr>
        <p:spPr>
          <a:xfrm>
            <a:off x="3858768" y="1271016"/>
            <a:ext cx="1426464" cy="1069848"/>
          </a:xfrm>
          <a:prstGeom prst="rect">
            <a:avLst/>
          </a:prstGeom>
          <a:ln w="19050">
            <a:solidFill>
              <a:srgbClr val="2E8B57"/>
            </a:solidFill>
            <a:prstDash val="solid"/>
          </a:ln>
        </p:spPr>
      </p:sp>
      <p:sp>
        <p:nvSpPr>
          <p:cNvPr id="13" name="Text 8"/>
          <p:cNvSpPr txBox="1"/>
          <p:nvPr/>
        </p:nvSpPr>
        <p:spPr>
          <a:xfrm>
            <a:off x="5559552" y="1097280"/>
            <a:ext cx="1426464" cy="173736"/>
          </a:xfrm>
          <a:prstGeom prst="rect">
            <a:avLst/>
          </a:prstGeom>
          <a:noFill/>
          <a:ln/>
        </p:spPr>
        <p:txBody>
          <a:bodyPr wrap="square" lIns="0" tIns="0" rIns="0" bIns="0" rtlCol="0" anchor="b"/>
          <a:lstStyle/>
          <a:p>
            <a:pPr indent="0" marL="0">
              <a:buNone/>
            </a:pPr>
            <a:r>
              <a:rPr lang="en-US" sz="900" b="1" dirty="0">
                <a:solidFill>
                  <a:srgbClr val="D55E00"/>
                </a:solidFill>
                <a:latin typeface="Arial" pitchFamily="34" charset="0"/>
                <a:ea typeface="Arial" pitchFamily="34" charset="-122"/>
                <a:cs typeface="Arial" pitchFamily="34" charset="-120"/>
              </a:rPr>
              <a:t>Action repeat 2</a:t>
            </a:r>
            <a:endParaRPr lang="en-US" sz="900" dirty="0"/>
          </a:p>
        </p:txBody>
      </p:sp>
      <p:pic>
        <p:nvPicPr>
          <p:cNvPr id="12" name="Media 3">
            <a:hlinkClick r:id="" action="ppaction://media"/>
          </p:cNvPr>
          <p:cNvPicPr>
            <a:picLocks noChangeAspect="1"/>
          </p:cNvPicPr>
          <p:nvPr>
            <a:videoFile r:link="rId10"/>
            <p:extLst>
              <p:ext uri="{DAA4B4D4-6D71-4841-9C94-3DE7FCFB9230}">
                <p14:media xmlns:p14="http://schemas.microsoft.com/office/powerpoint/2010/main" r:embed="rId11"/>
              </p:ext>
            </p:extLst>
          </p:nvPr>
        </p:nvPicPr>
        <p:blipFill>
          <a:blip r:embed="rId12"/>
          <a:stretch>
            <a:fillRect/>
          </a:stretch>
        </p:blipFill>
        <p:spPr>
          <a:xfrm>
            <a:off x="5559552" y="1271016"/>
            <a:ext cx="1426464" cy="1069848"/>
          </a:xfrm>
          <a:prstGeom prst="rect">
            <a:avLst/>
          </a:prstGeom>
        </p:spPr>
      </p:pic>
      <p:sp>
        <p:nvSpPr>
          <p:cNvPr id="15" name="Shape 9"/>
          <p:cNvSpPr/>
          <p:nvPr/>
        </p:nvSpPr>
        <p:spPr>
          <a:xfrm>
            <a:off x="5559552" y="1271016"/>
            <a:ext cx="1426464" cy="1069848"/>
          </a:xfrm>
          <a:prstGeom prst="rect">
            <a:avLst/>
          </a:prstGeom>
          <a:ln w="19050">
            <a:solidFill>
              <a:srgbClr val="B03A2E"/>
            </a:solidFill>
            <a:prstDash val="solid"/>
          </a:ln>
        </p:spPr>
      </p:sp>
      <p:sp>
        <p:nvSpPr>
          <p:cNvPr id="16" name="Text 10"/>
          <p:cNvSpPr txBox="1"/>
          <p:nvPr/>
        </p:nvSpPr>
        <p:spPr>
          <a:xfrm>
            <a:off x="7260336" y="1097280"/>
            <a:ext cx="1426464" cy="173736"/>
          </a:xfrm>
          <a:prstGeom prst="rect">
            <a:avLst/>
          </a:prstGeom>
          <a:noFill/>
          <a:ln/>
        </p:spPr>
        <p:txBody>
          <a:bodyPr wrap="square" lIns="0" tIns="0" rIns="0" bIns="0" rtlCol="0" anchor="b"/>
          <a:lstStyle/>
          <a:p>
            <a:pPr indent="0" marL="0">
              <a:buNone/>
            </a:pPr>
            <a:r>
              <a:rPr lang="en-US" sz="900" b="1" dirty="0">
                <a:solidFill>
                  <a:srgbClr val="D55E00"/>
                </a:solidFill>
                <a:latin typeface="Arial" pitchFamily="34" charset="0"/>
                <a:ea typeface="Arial" pitchFamily="34" charset="-122"/>
                <a:cs typeface="Arial" pitchFamily="34" charset="-120"/>
              </a:rPr>
              <a:t>Action repeat 4</a:t>
            </a:r>
            <a:endParaRPr lang="en-US" sz="900" dirty="0"/>
          </a:p>
        </p:txBody>
      </p:sp>
      <p:pic>
        <p:nvPicPr>
          <p:cNvPr id="15" name="Media 4">
            <a:hlinkClick r:id="" action="ppaction://media"/>
          </p:cNvPr>
          <p:cNvPicPr>
            <a:picLocks noChangeAspect="1"/>
          </p:cNvPicPr>
          <p:nvPr>
            <a:videoFile r:link="rId13"/>
            <p:extLst>
              <p:ext uri="{DAA4B4D4-6D71-4841-9C94-3DE7FCFB9230}">
                <p14:media xmlns:p14="http://schemas.microsoft.com/office/powerpoint/2010/main" r:embed="rId14"/>
              </p:ext>
            </p:extLst>
          </p:nvPr>
        </p:nvPicPr>
        <p:blipFill>
          <a:blip r:embed="rId15"/>
          <a:stretch>
            <a:fillRect/>
          </a:stretch>
        </p:blipFill>
        <p:spPr>
          <a:xfrm>
            <a:off x="7260336" y="1271016"/>
            <a:ext cx="1426464" cy="1069848"/>
          </a:xfrm>
          <a:prstGeom prst="rect">
            <a:avLst/>
          </a:prstGeom>
        </p:spPr>
      </p:pic>
      <p:sp>
        <p:nvSpPr>
          <p:cNvPr id="18" name="Shape 11"/>
          <p:cNvSpPr/>
          <p:nvPr/>
        </p:nvSpPr>
        <p:spPr>
          <a:xfrm>
            <a:off x="7260336" y="1271016"/>
            <a:ext cx="1426464" cy="1069848"/>
          </a:xfrm>
          <a:prstGeom prst="rect">
            <a:avLst/>
          </a:prstGeom>
          <a:ln w="19050">
            <a:solidFill>
              <a:srgbClr val="B03A2E"/>
            </a:solidFill>
            <a:prstDash val="solid"/>
          </a:ln>
        </p:spPr>
      </p:sp>
      <p:sp>
        <p:nvSpPr>
          <p:cNvPr id="19" name="Text 12"/>
          <p:cNvSpPr txBox="1"/>
          <p:nvPr/>
        </p:nvSpPr>
        <p:spPr>
          <a:xfrm>
            <a:off x="457200" y="2359152"/>
            <a:ext cx="1426464" cy="173736"/>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1</a:t>
            </a:r>
            <a:endParaRPr lang="en-US" sz="900" dirty="0"/>
          </a:p>
        </p:txBody>
      </p:sp>
      <p:pic>
        <p:nvPicPr>
          <p:cNvPr id="18" name="Media 5">
            <a:hlinkClick r:id="" action="ppaction://media"/>
          </p:cNvPr>
          <p:cNvPicPr>
            <a:picLocks noChangeAspect="1"/>
          </p:cNvPicPr>
          <p:nvPr>
            <a:videoFile r:link="rId16"/>
            <p:extLst>
              <p:ext uri="{DAA4B4D4-6D71-4841-9C94-3DE7FCFB9230}">
                <p14:media xmlns:p14="http://schemas.microsoft.com/office/powerpoint/2010/main" r:embed="rId17"/>
              </p:ext>
            </p:extLst>
          </p:nvPr>
        </p:nvPicPr>
        <p:blipFill>
          <a:blip r:embed="rId18"/>
          <a:stretch>
            <a:fillRect/>
          </a:stretch>
        </p:blipFill>
        <p:spPr>
          <a:xfrm>
            <a:off x="457200" y="2532888"/>
            <a:ext cx="1426464" cy="1069848"/>
          </a:xfrm>
          <a:prstGeom prst="rect">
            <a:avLst/>
          </a:prstGeom>
        </p:spPr>
      </p:pic>
      <p:sp>
        <p:nvSpPr>
          <p:cNvPr id="21" name="Shape 13"/>
          <p:cNvSpPr/>
          <p:nvPr/>
        </p:nvSpPr>
        <p:spPr>
          <a:xfrm>
            <a:off x="457200" y="2532888"/>
            <a:ext cx="1426464" cy="1069848"/>
          </a:xfrm>
          <a:prstGeom prst="rect">
            <a:avLst/>
          </a:prstGeom>
          <a:ln w="19050">
            <a:solidFill>
              <a:srgbClr val="2E8B57"/>
            </a:solidFill>
            <a:prstDash val="solid"/>
          </a:ln>
        </p:spPr>
      </p:sp>
      <p:sp>
        <p:nvSpPr>
          <p:cNvPr id="22" name="Text 14"/>
          <p:cNvSpPr txBox="1"/>
          <p:nvPr/>
        </p:nvSpPr>
        <p:spPr>
          <a:xfrm>
            <a:off x="2157984" y="2359152"/>
            <a:ext cx="1426464" cy="173736"/>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2</a:t>
            </a:r>
            <a:endParaRPr lang="en-US" sz="900" dirty="0"/>
          </a:p>
        </p:txBody>
      </p:sp>
      <p:pic>
        <p:nvPicPr>
          <p:cNvPr id="21" name="Media 6">
            <a:hlinkClick r:id="" action="ppaction://media"/>
          </p:cNvPr>
          <p:cNvPicPr>
            <a:picLocks noChangeAspect="1"/>
          </p:cNvPicPr>
          <p:nvPr>
            <a:videoFile r:link="rId19"/>
            <p:extLst>
              <p:ext uri="{DAA4B4D4-6D71-4841-9C94-3DE7FCFB9230}">
                <p14:media xmlns:p14="http://schemas.microsoft.com/office/powerpoint/2010/main" r:embed="rId20"/>
              </p:ext>
            </p:extLst>
          </p:nvPr>
        </p:nvPicPr>
        <p:blipFill>
          <a:blip r:embed="rId21"/>
          <a:stretch>
            <a:fillRect/>
          </a:stretch>
        </p:blipFill>
        <p:spPr>
          <a:xfrm>
            <a:off x="2157984" y="2532888"/>
            <a:ext cx="1426464" cy="1069848"/>
          </a:xfrm>
          <a:prstGeom prst="rect">
            <a:avLst/>
          </a:prstGeom>
        </p:spPr>
      </p:pic>
      <p:sp>
        <p:nvSpPr>
          <p:cNvPr id="24" name="Shape 15"/>
          <p:cNvSpPr/>
          <p:nvPr/>
        </p:nvSpPr>
        <p:spPr>
          <a:xfrm>
            <a:off x="2157984" y="2532888"/>
            <a:ext cx="1426464" cy="1069848"/>
          </a:xfrm>
          <a:prstGeom prst="rect">
            <a:avLst/>
          </a:prstGeom>
          <a:ln w="19050">
            <a:solidFill>
              <a:srgbClr val="B03A2E"/>
            </a:solidFill>
            <a:prstDash val="solid"/>
          </a:ln>
        </p:spPr>
      </p:sp>
      <p:sp>
        <p:nvSpPr>
          <p:cNvPr id="25" name="Text 16"/>
          <p:cNvSpPr txBox="1"/>
          <p:nvPr/>
        </p:nvSpPr>
        <p:spPr>
          <a:xfrm>
            <a:off x="3858768" y="2359152"/>
            <a:ext cx="1426464" cy="173736"/>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4</a:t>
            </a:r>
            <a:endParaRPr lang="en-US" sz="900" dirty="0"/>
          </a:p>
        </p:txBody>
      </p:sp>
      <p:pic>
        <p:nvPicPr>
          <p:cNvPr id="24" name="Media 7">
            <a:hlinkClick r:id="" action="ppaction://media"/>
          </p:cNvPr>
          <p:cNvPicPr>
            <a:picLocks noChangeAspect="1"/>
          </p:cNvPicPr>
          <p:nvPr>
            <a:videoFile r:link="rId22"/>
            <p:extLst>
              <p:ext uri="{DAA4B4D4-6D71-4841-9C94-3DE7FCFB9230}">
                <p14:media xmlns:p14="http://schemas.microsoft.com/office/powerpoint/2010/main" r:embed="rId23"/>
              </p:ext>
            </p:extLst>
          </p:nvPr>
        </p:nvPicPr>
        <p:blipFill>
          <a:blip r:embed="rId24"/>
          <a:stretch>
            <a:fillRect/>
          </a:stretch>
        </p:blipFill>
        <p:spPr>
          <a:xfrm>
            <a:off x="3858768" y="2532888"/>
            <a:ext cx="1426464" cy="1069848"/>
          </a:xfrm>
          <a:prstGeom prst="rect">
            <a:avLst/>
          </a:prstGeom>
        </p:spPr>
      </p:pic>
      <p:sp>
        <p:nvSpPr>
          <p:cNvPr id="27" name="Shape 17"/>
          <p:cNvSpPr/>
          <p:nvPr/>
        </p:nvSpPr>
        <p:spPr>
          <a:xfrm>
            <a:off x="3858768" y="2532888"/>
            <a:ext cx="1426464" cy="1069848"/>
          </a:xfrm>
          <a:prstGeom prst="rect">
            <a:avLst/>
          </a:prstGeom>
          <a:ln w="19050">
            <a:solidFill>
              <a:srgbClr val="2E8B57"/>
            </a:solidFill>
            <a:prstDash val="solid"/>
          </a:ln>
        </p:spPr>
      </p:sp>
      <p:sp>
        <p:nvSpPr>
          <p:cNvPr id="28" name="Text 18"/>
          <p:cNvSpPr txBox="1"/>
          <p:nvPr/>
        </p:nvSpPr>
        <p:spPr>
          <a:xfrm>
            <a:off x="5559552" y="2359152"/>
            <a:ext cx="1426464" cy="173736"/>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strict</a:t>
            </a:r>
            <a:endParaRPr lang="en-US" sz="900" dirty="0"/>
          </a:p>
        </p:txBody>
      </p:sp>
      <p:pic>
        <p:nvPicPr>
          <p:cNvPr id="27" name="Media 8">
            <a:hlinkClick r:id="" action="ppaction://media"/>
          </p:cNvPr>
          <p:cNvPicPr>
            <a:picLocks noChangeAspect="1"/>
          </p:cNvPicPr>
          <p:nvPr>
            <a:videoFile r:link="rId25"/>
            <p:extLst>
              <p:ext uri="{DAA4B4D4-6D71-4841-9C94-3DE7FCFB9230}">
                <p14:media xmlns:p14="http://schemas.microsoft.com/office/powerpoint/2010/main" r:embed="rId26"/>
              </p:ext>
            </p:extLst>
          </p:nvPr>
        </p:nvPicPr>
        <p:blipFill>
          <a:blip r:embed="rId27"/>
          <a:stretch>
            <a:fillRect/>
          </a:stretch>
        </p:blipFill>
        <p:spPr>
          <a:xfrm>
            <a:off x="5559552" y="2532888"/>
            <a:ext cx="1426464" cy="1069848"/>
          </a:xfrm>
          <a:prstGeom prst="rect">
            <a:avLst/>
          </a:prstGeom>
        </p:spPr>
      </p:pic>
      <p:sp>
        <p:nvSpPr>
          <p:cNvPr id="30" name="Shape 19"/>
          <p:cNvSpPr/>
          <p:nvPr/>
        </p:nvSpPr>
        <p:spPr>
          <a:xfrm>
            <a:off x="5559552" y="2532888"/>
            <a:ext cx="1426464" cy="1069848"/>
          </a:xfrm>
          <a:prstGeom prst="rect">
            <a:avLst/>
          </a:prstGeom>
          <a:ln w="19050">
            <a:solidFill>
              <a:srgbClr val="2E8B57"/>
            </a:solidFill>
            <a:prstDash val="solid"/>
          </a:ln>
        </p:spPr>
      </p:sp>
      <p:sp>
        <p:nvSpPr>
          <p:cNvPr id="31" name="Text 20"/>
          <p:cNvSpPr txBox="1"/>
          <p:nvPr/>
        </p:nvSpPr>
        <p:spPr>
          <a:xfrm>
            <a:off x="7260336" y="2359152"/>
            <a:ext cx="1426464" cy="173736"/>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moderate</a:t>
            </a:r>
            <a:endParaRPr lang="en-US" sz="900" dirty="0"/>
          </a:p>
        </p:txBody>
      </p:sp>
      <p:pic>
        <p:nvPicPr>
          <p:cNvPr id="30" name="Media 9">
            <a:hlinkClick r:id="" action="ppaction://media"/>
          </p:cNvPr>
          <p:cNvPicPr>
            <a:picLocks noChangeAspect="1"/>
          </p:cNvPicPr>
          <p:nvPr>
            <a:videoFile r:link="rId28"/>
            <p:extLst>
              <p:ext uri="{DAA4B4D4-6D71-4841-9C94-3DE7FCFB9230}">
                <p14:media xmlns:p14="http://schemas.microsoft.com/office/powerpoint/2010/main" r:embed="rId29"/>
              </p:ext>
            </p:extLst>
          </p:nvPr>
        </p:nvPicPr>
        <p:blipFill>
          <a:blip r:embed="rId30"/>
          <a:stretch>
            <a:fillRect/>
          </a:stretch>
        </p:blipFill>
        <p:spPr>
          <a:xfrm>
            <a:off x="7260336" y="2532888"/>
            <a:ext cx="1426464" cy="1069848"/>
          </a:xfrm>
          <a:prstGeom prst="rect">
            <a:avLst/>
          </a:prstGeom>
        </p:spPr>
      </p:pic>
      <p:sp>
        <p:nvSpPr>
          <p:cNvPr id="33" name="Shape 21"/>
          <p:cNvSpPr/>
          <p:nvPr/>
        </p:nvSpPr>
        <p:spPr>
          <a:xfrm>
            <a:off x="7260336" y="2532888"/>
            <a:ext cx="1426464" cy="1069848"/>
          </a:xfrm>
          <a:prstGeom prst="rect">
            <a:avLst/>
          </a:prstGeom>
          <a:ln w="19050">
            <a:solidFill>
              <a:srgbClr val="2E8B57"/>
            </a:solidFill>
            <a:prstDash val="solid"/>
          </a:ln>
        </p:spPr>
      </p:sp>
      <p:sp>
        <p:nvSpPr>
          <p:cNvPr id="34" name="Text 22"/>
          <p:cNvSpPr txBox="1"/>
          <p:nvPr/>
        </p:nvSpPr>
        <p:spPr>
          <a:xfrm>
            <a:off x="457200" y="3621024"/>
            <a:ext cx="1426464" cy="173736"/>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aggressive</a:t>
            </a:r>
            <a:endParaRPr lang="en-US" sz="900" dirty="0"/>
          </a:p>
        </p:txBody>
      </p:sp>
      <p:pic>
        <p:nvPicPr>
          <p:cNvPr id="33" name="Media 10">
            <a:hlinkClick r:id="" action="ppaction://media"/>
          </p:cNvPr>
          <p:cNvPicPr>
            <a:picLocks noChangeAspect="1"/>
          </p:cNvPicPr>
          <p:nvPr>
            <a:videoFile r:link="rId31"/>
            <p:extLst>
              <p:ext uri="{DAA4B4D4-6D71-4841-9C94-3DE7FCFB9230}">
                <p14:media xmlns:p14="http://schemas.microsoft.com/office/powerpoint/2010/main" r:embed="rId32"/>
              </p:ext>
            </p:extLst>
          </p:nvPr>
        </p:nvPicPr>
        <p:blipFill>
          <a:blip r:embed="rId33"/>
          <a:stretch>
            <a:fillRect/>
          </a:stretch>
        </p:blipFill>
        <p:spPr>
          <a:xfrm>
            <a:off x="457200" y="3794760"/>
            <a:ext cx="1426464" cy="1069848"/>
          </a:xfrm>
          <a:prstGeom prst="rect">
            <a:avLst/>
          </a:prstGeom>
        </p:spPr>
      </p:pic>
      <p:sp>
        <p:nvSpPr>
          <p:cNvPr id="36" name="Shape 23"/>
          <p:cNvSpPr/>
          <p:nvPr/>
        </p:nvSpPr>
        <p:spPr>
          <a:xfrm>
            <a:off x="457200" y="3794760"/>
            <a:ext cx="1426464" cy="1069848"/>
          </a:xfrm>
          <a:prstGeom prst="rect">
            <a:avLst/>
          </a:prstGeom>
          <a:ln w="19050">
            <a:solidFill>
              <a:srgbClr val="2E8B57"/>
            </a:solidFill>
            <a:prstDash val="solid"/>
          </a:ln>
        </p:spPr>
      </p:sp>
      <p:sp>
        <p:nvSpPr>
          <p:cNvPr id="37" name="Text 24"/>
          <p:cNvSpPr txBox="1"/>
          <p:nvPr/>
        </p:nvSpPr>
        <p:spPr>
          <a:xfrm>
            <a:off x="2157984" y="3621024"/>
            <a:ext cx="1426464" cy="173736"/>
          </a:xfrm>
          <a:prstGeom prst="rect">
            <a:avLst/>
          </a:prstGeom>
          <a:noFill/>
          <a:ln/>
        </p:spPr>
        <p:txBody>
          <a:bodyPr wrap="square" lIns="0" tIns="0" rIns="0" bIns="0" rtlCol="0" anchor="b"/>
          <a:lstStyle/>
          <a:p>
            <a:pPr indent="0" marL="0">
              <a:buNone/>
            </a:pPr>
            <a:r>
              <a:rPr lang="en-US" sz="900" b="1" dirty="0">
                <a:solidFill>
                  <a:srgbClr val="8C650F"/>
                </a:solidFill>
                <a:latin typeface="Arial" pitchFamily="34" charset="0"/>
                <a:ea typeface="Arial" pitchFamily="34" charset="-122"/>
                <a:cs typeface="Arial" pitchFamily="34" charset="-120"/>
              </a:rPr>
              <a:t>Fusion motion/entropy</a:t>
            </a:r>
            <a:endParaRPr lang="en-US" sz="900" dirty="0"/>
          </a:p>
        </p:txBody>
      </p:sp>
      <p:pic>
        <p:nvPicPr>
          <p:cNvPr id="36" name="Media 11">
            <a:hlinkClick r:id="" action="ppaction://media"/>
          </p:cNvPr>
          <p:cNvPicPr>
            <a:picLocks noChangeAspect="1"/>
          </p:cNvPicPr>
          <p:nvPr>
            <a:videoFile r:link="rId34"/>
            <p:extLst>
              <p:ext uri="{DAA4B4D4-6D71-4841-9C94-3DE7FCFB9230}">
                <p14:media xmlns:p14="http://schemas.microsoft.com/office/powerpoint/2010/main" r:embed="rId35"/>
              </p:ext>
            </p:extLst>
          </p:nvPr>
        </p:nvPicPr>
        <p:blipFill>
          <a:blip r:embed="rId36"/>
          <a:stretch>
            <a:fillRect/>
          </a:stretch>
        </p:blipFill>
        <p:spPr>
          <a:xfrm>
            <a:off x="2157984" y="3794760"/>
            <a:ext cx="1426464" cy="1069848"/>
          </a:xfrm>
          <a:prstGeom prst="rect">
            <a:avLst/>
          </a:prstGeom>
        </p:spPr>
      </p:pic>
      <p:sp>
        <p:nvSpPr>
          <p:cNvPr id="39" name="Shape 25"/>
          <p:cNvSpPr/>
          <p:nvPr/>
        </p:nvSpPr>
        <p:spPr>
          <a:xfrm>
            <a:off x="2157984" y="3794760"/>
            <a:ext cx="1426464" cy="1069848"/>
          </a:xfrm>
          <a:prstGeom prst="rect">
            <a:avLst/>
          </a:prstGeom>
          <a:ln w="19050">
            <a:solidFill>
              <a:srgbClr val="2E8B57"/>
            </a:solidFill>
            <a:prstDash val="solid"/>
          </a:ln>
        </p:spPr>
      </p:sp>
      <p:sp>
        <p:nvSpPr>
          <p:cNvPr id="40" name="Text 26"/>
          <p:cNvSpPr txBox="1"/>
          <p:nvPr/>
        </p:nvSpPr>
        <p:spPr>
          <a:xfrm>
            <a:off x="3858768" y="3621024"/>
            <a:ext cx="1426464" cy="173736"/>
          </a:xfrm>
          <a:prstGeom prst="rect">
            <a:avLst/>
          </a:prstGeom>
          <a:noFill/>
          <a:ln/>
        </p:spPr>
        <p:txBody>
          <a:bodyPr wrap="square" lIns="0" tIns="0" rIns="0" bIns="0" rtlCol="0" anchor="b"/>
          <a:lstStyle/>
          <a:p>
            <a:pPr indent="0" marL="0">
              <a:buNone/>
            </a:pPr>
            <a:r>
              <a:rPr lang="en-US" sz="900" b="1" dirty="0">
                <a:solidFill>
                  <a:srgbClr val="8C650F"/>
                </a:solidFill>
                <a:latin typeface="Arial" pitchFamily="34" charset="0"/>
                <a:ea typeface="Arial" pitchFamily="34" charset="-122"/>
                <a:cs typeface="Arial" pitchFamily="34" charset="-120"/>
              </a:rPr>
              <a:t>Fusion task-aware</a:t>
            </a:r>
            <a:endParaRPr lang="en-US" sz="900" dirty="0"/>
          </a:p>
        </p:txBody>
      </p:sp>
      <p:pic>
        <p:nvPicPr>
          <p:cNvPr id="39" name="Media 12">
            <a:hlinkClick r:id="" action="ppaction://media"/>
          </p:cNvPr>
          <p:cNvPicPr>
            <a:picLocks noChangeAspect="1"/>
          </p:cNvPicPr>
          <p:nvPr>
            <a:videoFile r:link="rId37"/>
            <p:extLst>
              <p:ext uri="{DAA4B4D4-6D71-4841-9C94-3DE7FCFB9230}">
                <p14:media xmlns:p14="http://schemas.microsoft.com/office/powerpoint/2010/main" r:embed="rId38"/>
              </p:ext>
            </p:extLst>
          </p:nvPr>
        </p:nvPicPr>
        <p:blipFill>
          <a:blip r:embed="rId39"/>
          <a:stretch>
            <a:fillRect/>
          </a:stretch>
        </p:blipFill>
        <p:spPr>
          <a:xfrm>
            <a:off x="3858768" y="3794760"/>
            <a:ext cx="1426464" cy="1069848"/>
          </a:xfrm>
          <a:prstGeom prst="rect">
            <a:avLst/>
          </a:prstGeom>
        </p:spPr>
      </p:pic>
      <p:sp>
        <p:nvSpPr>
          <p:cNvPr id="42" name="Shape 27"/>
          <p:cNvSpPr/>
          <p:nvPr/>
        </p:nvSpPr>
        <p:spPr>
          <a:xfrm>
            <a:off x="3858768" y="3794760"/>
            <a:ext cx="1426464" cy="1069848"/>
          </a:xfrm>
          <a:prstGeom prst="rect">
            <a:avLst/>
          </a:prstGeom>
          <a:ln w="19050">
            <a:solidFill>
              <a:srgbClr val="2E8B57"/>
            </a:solidFill>
            <a:prstDash val="solid"/>
          </a:ln>
        </p:spPr>
      </p:sp>
      <p:sp>
        <p:nvSpPr>
          <p:cNvPr id="43" name="Text 28"/>
          <p:cNvSpPr txBox="1"/>
          <p:nvPr/>
        </p:nvSpPr>
        <p:spPr>
          <a:xfrm>
            <a:off x="5559552" y="3621024"/>
            <a:ext cx="1426464" cy="173736"/>
          </a:xfrm>
          <a:prstGeom prst="rect">
            <a:avLst/>
          </a:prstGeom>
          <a:noFill/>
          <a:ln/>
        </p:spPr>
        <p:txBody>
          <a:bodyPr wrap="square" lIns="0" tIns="0" rIns="0" bIns="0" rtlCol="0" anchor="b"/>
          <a:lstStyle/>
          <a:p>
            <a:pPr indent="0" marL="0">
              <a:buNone/>
            </a:pPr>
            <a:r>
              <a:rPr lang="en-US" sz="900" b="1" dirty="0">
                <a:solidFill>
                  <a:srgbClr val="8C650F"/>
                </a:solidFill>
                <a:latin typeface="Arial" pitchFamily="34" charset="0"/>
                <a:ea typeface="Arial" pitchFamily="34" charset="-122"/>
                <a:cs typeface="Arial" pitchFamily="34" charset="-120"/>
              </a:rPr>
              <a:t>Fusion conservative</a:t>
            </a:r>
            <a:endParaRPr lang="en-US" sz="900" dirty="0"/>
          </a:p>
        </p:txBody>
      </p:sp>
      <p:pic>
        <p:nvPicPr>
          <p:cNvPr id="42" name="Media 13">
            <a:hlinkClick r:id="" action="ppaction://media"/>
          </p:cNvPr>
          <p:cNvPicPr>
            <a:picLocks noChangeAspect="1"/>
          </p:cNvPicPr>
          <p:nvPr>
            <a:videoFile r:link="rId40"/>
            <p:extLst>
              <p:ext uri="{DAA4B4D4-6D71-4841-9C94-3DE7FCFB9230}">
                <p14:media xmlns:p14="http://schemas.microsoft.com/office/powerpoint/2010/main" r:embed="rId41"/>
              </p:ext>
            </p:extLst>
          </p:nvPr>
        </p:nvPicPr>
        <p:blipFill>
          <a:blip r:embed="rId42"/>
          <a:stretch>
            <a:fillRect/>
          </a:stretch>
        </p:blipFill>
        <p:spPr>
          <a:xfrm>
            <a:off x="5559552" y="3794760"/>
            <a:ext cx="1426464" cy="1069848"/>
          </a:xfrm>
          <a:prstGeom prst="rect">
            <a:avLst/>
          </a:prstGeom>
        </p:spPr>
      </p:pic>
      <p:sp>
        <p:nvSpPr>
          <p:cNvPr id="45" name="Shape 29"/>
          <p:cNvSpPr/>
          <p:nvPr/>
        </p:nvSpPr>
        <p:spPr>
          <a:xfrm>
            <a:off x="5559552" y="3794760"/>
            <a:ext cx="1426464" cy="1069848"/>
          </a:xfrm>
          <a:prstGeom prst="rect">
            <a:avLst/>
          </a:prstGeom>
          <a:ln w="19050">
            <a:solidFill>
              <a:srgbClr val="2E8B57"/>
            </a:solidFill>
            <a:prstDash val="solid"/>
          </a:ln>
        </p:spPr>
      </p:sp>
    </p:spTree>
  </p:cSld>
  <p:clrMapOvr>
    <a:masterClrMapping/>
  </p:clrMapOvr>
  <p:transition advTm="6000">
    <p:fade/>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101" fill="hold">
                            <p:stCondLst>
                              <p:cond delay="0"/>
                            </p:stCondLst>
                            <p:childTnLst>
                              <p:par>
                                <p:cTn id="3" presetID="1" presetClass="mediacall" presetSubtype="0" fill="hold" nodeType="withEffect">
                                  <p:stCondLst>
                                    <p:cond delay="0"/>
                                  </p:stCondLst>
                                  <p:childTnLst>
                                    <p:cmd type="call" cmd="playFrom(0.0)">
                                      <p:cBhvr>
                                        <p:cTn id="4" dur="indefinite" fill="hold"/>
                                        <p:tgtEl>
                                          <p:spTgt spid="3"/>
                                        </p:tgtEl>
                                      </p:cBhvr>
                                    </p:cmd>
                                  </p:childTnLst>
                                </p:cTn>
                              </p:par>
                              <p:par>
                                <p:cTn id="5" presetID="1" presetClass="mediacall" presetSubtype="0" fill="hold" nodeType="withEffect">
                                  <p:stCondLst>
                                    <p:cond delay="0"/>
                                  </p:stCondLst>
                                  <p:childTnLst>
                                    <p:cmd type="call" cmd="playFrom(0.0)">
                                      <p:cBhvr>
                                        <p:cTn id="6" dur="indefinite" fill="hold"/>
                                        <p:tgtEl>
                                          <p:spTgt spid="6"/>
                                        </p:tgtEl>
                                      </p:cBhvr>
                                    </p:cmd>
                                  </p:childTnLst>
                                </p:cTn>
                              </p:par>
                              <p:par>
                                <p:cTn id="7" presetID="1" presetClass="mediacall" presetSubtype="0" fill="hold" nodeType="withEffect">
                                  <p:stCondLst>
                                    <p:cond delay="0"/>
                                  </p:stCondLst>
                                  <p:childTnLst>
                                    <p:cmd type="call" cmd="playFrom(0.0)">
                                      <p:cBhvr>
                                        <p:cTn id="8" dur="indefinite" fill="hold"/>
                                        <p:tgtEl>
                                          <p:spTgt spid="9"/>
                                        </p:tgtEl>
                                      </p:cBhvr>
                                    </p:cmd>
                                  </p:childTnLst>
                                </p:cTn>
                              </p:par>
                              <p:par>
                                <p:cTn id="9" presetID="1" presetClass="mediacall" presetSubtype="0" fill="hold" nodeType="withEffect">
                                  <p:stCondLst>
                                    <p:cond delay="0"/>
                                  </p:stCondLst>
                                  <p:childTnLst>
                                    <p:cmd type="call" cmd="playFrom(0.0)">
                                      <p:cBhvr>
                                        <p:cTn id="10" dur="indefinite" fill="hold"/>
                                        <p:tgtEl>
                                          <p:spTgt spid="12"/>
                                        </p:tgtEl>
                                      </p:cBhvr>
                                    </p:cmd>
                                  </p:childTnLst>
                                </p:cTn>
                              </p:par>
                              <p:par>
                                <p:cTn id="11" presetID="1" presetClass="mediacall" presetSubtype="0" fill="hold" nodeType="withEffect">
                                  <p:stCondLst>
                                    <p:cond delay="0"/>
                                  </p:stCondLst>
                                  <p:childTnLst>
                                    <p:cmd type="call" cmd="playFrom(0.0)">
                                      <p:cBhvr>
                                        <p:cTn id="12" dur="indefinite" fill="hold"/>
                                        <p:tgtEl>
                                          <p:spTgt spid="15"/>
                                        </p:tgtEl>
                                      </p:cBhvr>
                                    </p:cmd>
                                  </p:childTnLst>
                                </p:cTn>
                              </p:par>
                              <p:par>
                                <p:cTn id="13" presetID="1" presetClass="mediacall" presetSubtype="0" fill="hold" nodeType="withEffect">
                                  <p:stCondLst>
                                    <p:cond delay="0"/>
                                  </p:stCondLst>
                                  <p:childTnLst>
                                    <p:cmd type="call" cmd="playFrom(0.0)">
                                      <p:cBhvr>
                                        <p:cTn id="14" dur="indefinite" fill="hold"/>
                                        <p:tgtEl>
                                          <p:spTgt spid="18"/>
                                        </p:tgtEl>
                                      </p:cBhvr>
                                    </p:cmd>
                                  </p:childTnLst>
                                </p:cTn>
                              </p:par>
                              <p:par>
                                <p:cTn id="15" presetID="1" presetClass="mediacall" presetSubtype="0" fill="hold" nodeType="withEffect">
                                  <p:stCondLst>
                                    <p:cond delay="0"/>
                                  </p:stCondLst>
                                  <p:childTnLst>
                                    <p:cmd type="call" cmd="playFrom(0.0)">
                                      <p:cBhvr>
                                        <p:cTn id="16" dur="indefinite" fill="hold"/>
                                        <p:tgtEl>
                                          <p:spTgt spid="21"/>
                                        </p:tgtEl>
                                      </p:cBhvr>
                                    </p:cmd>
                                  </p:childTnLst>
                                </p:cTn>
                              </p:par>
                              <p:par>
                                <p:cTn id="17" presetID="1" presetClass="mediacall" presetSubtype="0" fill="hold" nodeType="withEffect">
                                  <p:stCondLst>
                                    <p:cond delay="0"/>
                                  </p:stCondLst>
                                  <p:childTnLst>
                                    <p:cmd type="call" cmd="playFrom(0.0)">
                                      <p:cBhvr>
                                        <p:cTn id="18" dur="indefinite" fill="hold"/>
                                        <p:tgtEl>
                                          <p:spTgt spid="24"/>
                                        </p:tgtEl>
                                      </p:cBhvr>
                                    </p:cmd>
                                  </p:childTnLst>
                                </p:cTn>
                              </p:par>
                              <p:par>
                                <p:cTn id="19" presetID="1" presetClass="mediacall" presetSubtype="0" fill="hold" nodeType="withEffect">
                                  <p:stCondLst>
                                    <p:cond delay="0"/>
                                  </p:stCondLst>
                                  <p:childTnLst>
                                    <p:cmd type="call" cmd="playFrom(0.0)">
                                      <p:cBhvr>
                                        <p:cTn id="20" dur="indefinite" fill="hold"/>
                                        <p:tgtEl>
                                          <p:spTgt spid="27"/>
                                        </p:tgtEl>
                                      </p:cBhvr>
                                    </p:cmd>
                                  </p:childTnLst>
                                </p:cTn>
                              </p:par>
                              <p:par>
                                <p:cTn id="21" presetID="1" presetClass="mediacall" presetSubtype="0" fill="hold" nodeType="withEffect">
                                  <p:stCondLst>
                                    <p:cond delay="0"/>
                                  </p:stCondLst>
                                  <p:childTnLst>
                                    <p:cmd type="call" cmd="playFrom(0.0)">
                                      <p:cBhvr>
                                        <p:cTn id="22" dur="indefinite" fill="hold"/>
                                        <p:tgtEl>
                                          <p:spTgt spid="30"/>
                                        </p:tgtEl>
                                      </p:cBhvr>
                                    </p:cmd>
                                  </p:childTnLst>
                                </p:cTn>
                              </p:par>
                              <p:par>
                                <p:cTn id="23" presetID="1" presetClass="mediacall" presetSubtype="0" fill="hold" nodeType="withEffect">
                                  <p:stCondLst>
                                    <p:cond delay="0"/>
                                  </p:stCondLst>
                                  <p:childTnLst>
                                    <p:cmd type="call" cmd="playFrom(0.0)">
                                      <p:cBhvr>
                                        <p:cTn id="24" dur="indefinite" fill="hold"/>
                                        <p:tgtEl>
                                          <p:spTgt spid="33"/>
                                        </p:tgtEl>
                                      </p:cBhvr>
                                    </p:cmd>
                                  </p:childTnLst>
                                </p:cTn>
                              </p:par>
                              <p:par>
                                <p:cTn id="25" presetID="1" presetClass="mediacall" presetSubtype="0" fill="hold" nodeType="withEffect">
                                  <p:stCondLst>
                                    <p:cond delay="0"/>
                                  </p:stCondLst>
                                  <p:childTnLst>
                                    <p:cmd type="call" cmd="playFrom(0.0)">
                                      <p:cBhvr>
                                        <p:cTn id="26" dur="indefinite" fill="hold"/>
                                        <p:tgtEl>
                                          <p:spTgt spid="36"/>
                                        </p:tgtEl>
                                      </p:cBhvr>
                                    </p:cmd>
                                  </p:childTnLst>
                                </p:cTn>
                              </p:par>
                              <p:par>
                                <p:cTn id="27" presetID="1" presetClass="mediacall" presetSubtype="0" fill="hold" nodeType="withEffect">
                                  <p:stCondLst>
                                    <p:cond delay="0"/>
                                  </p:stCondLst>
                                  <p:childTnLst>
                                    <p:cmd type="call" cmd="playFrom(0.0)">
                                      <p:cBhvr>
                                        <p:cTn id="28" dur="indefinite" fill="hold"/>
                                        <p:tgtEl>
                                          <p:spTgt spid="39"/>
                                        </p:tgtEl>
                                      </p:cBhvr>
                                    </p:cmd>
                                  </p:childTnLst>
                                </p:cTn>
                              </p:par>
                              <p:par>
                                <p:cTn id="29" presetID="1" presetClass="mediacall" presetSubtype="0" fill="hold" nodeType="withEffect">
                                  <p:stCondLst>
                                    <p:cond delay="0"/>
                                  </p:stCondLst>
                                  <p:childTnLst>
                                    <p:cmd type="call" cmd="playFrom(0.0)">
                                      <p:cBhvr>
                                        <p:cTn id="30" dur="indefinite" fill="hold"/>
                                        <p:tgtEl>
                                          <p:spTgt spid="4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31" fill="hold" display="0">
                  <p:stCondLst>
                    <p:cond delay="indefinite"/>
                  </p:stCondLst>
                </p:cTn>
                <p:tgtEl>
                  <p:spTgt spid="3"/>
                </p:tgtEl>
              </p:cMediaNode>
            </p:video>
            <p:video>
              <p:cMediaNode vol="80000">
                <p:cTn id="32" fill="hold" display="0">
                  <p:stCondLst>
                    <p:cond delay="indefinite"/>
                  </p:stCondLst>
                </p:cTn>
                <p:tgtEl>
                  <p:spTgt spid="6"/>
                </p:tgtEl>
              </p:cMediaNode>
            </p:video>
            <p:video>
              <p:cMediaNode vol="80000">
                <p:cTn id="33" fill="hold" display="0">
                  <p:stCondLst>
                    <p:cond delay="indefinite"/>
                  </p:stCondLst>
                </p:cTn>
                <p:tgtEl>
                  <p:spTgt spid="9"/>
                </p:tgtEl>
              </p:cMediaNode>
            </p:video>
            <p:video>
              <p:cMediaNode vol="80000">
                <p:cTn id="34" fill="hold" display="0">
                  <p:stCondLst>
                    <p:cond delay="indefinite"/>
                  </p:stCondLst>
                </p:cTn>
                <p:tgtEl>
                  <p:spTgt spid="12"/>
                </p:tgtEl>
              </p:cMediaNode>
            </p:video>
            <p:video>
              <p:cMediaNode vol="80000">
                <p:cTn id="35" fill="hold" display="0">
                  <p:stCondLst>
                    <p:cond delay="indefinite"/>
                  </p:stCondLst>
                </p:cTn>
                <p:tgtEl>
                  <p:spTgt spid="15"/>
                </p:tgtEl>
              </p:cMediaNode>
            </p:video>
            <p:video>
              <p:cMediaNode vol="80000">
                <p:cTn id="36" fill="hold" display="0">
                  <p:stCondLst>
                    <p:cond delay="indefinite"/>
                  </p:stCondLst>
                </p:cTn>
                <p:tgtEl>
                  <p:spTgt spid="18"/>
                </p:tgtEl>
              </p:cMediaNode>
            </p:video>
            <p:video>
              <p:cMediaNode vol="80000">
                <p:cTn id="37" fill="hold" display="0">
                  <p:stCondLst>
                    <p:cond delay="indefinite"/>
                  </p:stCondLst>
                </p:cTn>
                <p:tgtEl>
                  <p:spTgt spid="21"/>
                </p:tgtEl>
              </p:cMediaNode>
            </p:video>
            <p:video>
              <p:cMediaNode vol="80000">
                <p:cTn id="38" fill="hold" display="0">
                  <p:stCondLst>
                    <p:cond delay="indefinite"/>
                  </p:stCondLst>
                </p:cTn>
                <p:tgtEl>
                  <p:spTgt spid="24"/>
                </p:tgtEl>
              </p:cMediaNode>
            </p:video>
            <p:video>
              <p:cMediaNode vol="80000">
                <p:cTn id="39" fill="hold" display="0">
                  <p:stCondLst>
                    <p:cond delay="indefinite"/>
                  </p:stCondLst>
                </p:cTn>
                <p:tgtEl>
                  <p:spTgt spid="27"/>
                </p:tgtEl>
              </p:cMediaNode>
            </p:video>
            <p:video>
              <p:cMediaNode vol="80000">
                <p:cTn id="40" fill="hold" display="0">
                  <p:stCondLst>
                    <p:cond delay="indefinite"/>
                  </p:stCondLst>
                </p:cTn>
                <p:tgtEl>
                  <p:spTgt spid="30"/>
                </p:tgtEl>
              </p:cMediaNode>
            </p:video>
            <p:video>
              <p:cMediaNode vol="80000">
                <p:cTn id="41" fill="hold" display="0">
                  <p:stCondLst>
                    <p:cond delay="indefinite"/>
                  </p:stCondLst>
                </p:cTn>
                <p:tgtEl>
                  <p:spTgt spid="33"/>
                </p:tgtEl>
              </p:cMediaNode>
            </p:video>
            <p:video>
              <p:cMediaNode vol="80000">
                <p:cTn id="42" fill="hold" display="0">
                  <p:stCondLst>
                    <p:cond delay="indefinite"/>
                  </p:stCondLst>
                </p:cTn>
                <p:tgtEl>
                  <p:spTgt spid="36"/>
                </p:tgtEl>
              </p:cMediaNode>
            </p:video>
            <p:video>
              <p:cMediaNode vol="80000">
                <p:cTn id="43" fill="hold" display="0">
                  <p:stCondLst>
                    <p:cond delay="indefinite"/>
                  </p:stCondLst>
                </p:cTn>
                <p:tgtEl>
                  <p:spTgt spid="39"/>
                </p:tgtEl>
              </p:cMediaNode>
            </p:video>
            <p:video>
              <p:cMediaNode vol="80000">
                <p:cTn id="44" fill="hold" display="0">
                  <p:stCondLst>
                    <p:cond delay="indefinite"/>
                  </p:stCondLst>
                </p:cTn>
                <p:tgtEl>
                  <p:spTgt spid="42"/>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100" b="1" dirty="0">
                <a:solidFill>
                  <a:srgbClr val="1F2933"/>
                </a:solidFill>
                <a:latin typeface="Arial" pitchFamily="34" charset="0"/>
                <a:ea typeface="Arial" pitchFamily="34" charset="-122"/>
                <a:cs typeface="Arial" pitchFamily="34" charset="-120"/>
              </a:rPr>
              <a:t>OpenVLA on Google Robot / Fractal: "Close the drawer"</a:t>
            </a:r>
            <a:endParaRPr lang="en-US" sz="2100" dirty="0"/>
          </a:p>
        </p:txBody>
      </p:sp>
      <p:sp>
        <p:nvSpPr>
          <p:cNvPr id="3" name="Text 1"/>
          <p:cNvSpPr txBox="1"/>
          <p:nvPr/>
        </p:nvSpPr>
        <p:spPr>
          <a:xfrm>
            <a:off x="457200" y="822960"/>
            <a:ext cx="8229600" cy="256032"/>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All 12 configurations on the same episode (same initial state), played at 2× speed. Green = success, red = failure (badge in each clip).</a:t>
            </a:r>
            <a:endParaRPr lang="en-US" sz="1000" dirty="0"/>
          </a:p>
        </p:txBody>
      </p:sp>
      <p:sp>
        <p:nvSpPr>
          <p:cNvPr id="4" name="Text 2"/>
          <p:cNvSpPr txBox="1"/>
          <p:nvPr/>
        </p:nvSpPr>
        <p:spPr>
          <a:xfrm>
            <a:off x="457200" y="1170432"/>
            <a:ext cx="1143000" cy="182880"/>
          </a:xfrm>
          <a:prstGeom prst="rect">
            <a:avLst/>
          </a:prstGeom>
          <a:noFill/>
          <a:ln/>
        </p:spPr>
        <p:txBody>
          <a:bodyPr wrap="square" lIns="0" tIns="0" rIns="0" bIns="0" rtlCol="0" anchor="b"/>
          <a:lstStyle/>
          <a:p>
            <a:pPr indent="0" marL="0">
              <a:buNone/>
            </a:pPr>
            <a:r>
              <a:rPr lang="en-US" sz="900" b="1" dirty="0">
                <a:solidFill>
                  <a:srgbClr val="222222"/>
                </a:solidFill>
                <a:latin typeface="Arial" pitchFamily="34" charset="0"/>
                <a:ea typeface="Arial" pitchFamily="34" charset="-122"/>
                <a:cs typeface="Arial" pitchFamily="34" charset="-120"/>
              </a:rPr>
              <a:t>Original</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353312"/>
            <a:ext cx="1143000" cy="1472184"/>
          </a:xfrm>
          <a:prstGeom prst="rect">
            <a:avLst/>
          </a:prstGeom>
        </p:spPr>
      </p:pic>
      <p:sp>
        <p:nvSpPr>
          <p:cNvPr id="6" name="Shape 3"/>
          <p:cNvSpPr/>
          <p:nvPr/>
        </p:nvSpPr>
        <p:spPr>
          <a:xfrm>
            <a:off x="457200" y="1353312"/>
            <a:ext cx="1143000" cy="1472184"/>
          </a:xfrm>
          <a:prstGeom prst="rect">
            <a:avLst/>
          </a:prstGeom>
          <a:ln w="19050">
            <a:solidFill>
              <a:srgbClr val="2E8B57"/>
            </a:solidFill>
            <a:prstDash val="solid"/>
          </a:ln>
        </p:spPr>
      </p:sp>
      <p:sp>
        <p:nvSpPr>
          <p:cNvPr id="7" name="Text 4"/>
          <p:cNvSpPr txBox="1"/>
          <p:nvPr/>
        </p:nvSpPr>
        <p:spPr>
          <a:xfrm>
            <a:off x="1874520" y="1170432"/>
            <a:ext cx="1143000" cy="182880"/>
          </a:xfrm>
          <a:prstGeom prst="rect">
            <a:avLst/>
          </a:prstGeom>
          <a:noFill/>
          <a:ln/>
        </p:spPr>
        <p:txBody>
          <a:bodyPr wrap="square" lIns="0" tIns="0" rIns="0" bIns="0" rtlCol="0" anchor="b"/>
          <a:lstStyle/>
          <a:p>
            <a:pPr indent="0" marL="0">
              <a:buNone/>
            </a:pPr>
            <a:r>
              <a:rPr lang="en-US" sz="900" b="1" dirty="0">
                <a:solidFill>
                  <a:srgbClr val="0072B2"/>
                </a:solidFill>
                <a:latin typeface="Arial" pitchFamily="34" charset="0"/>
                <a:ea typeface="Arial" pitchFamily="34" charset="-122"/>
                <a:cs typeface="Arial" pitchFamily="34" charset="-120"/>
              </a:rPr>
              <a:t>Foveation 20%</a:t>
            </a:r>
            <a:endParaRPr lang="en-US" sz="900" dirty="0"/>
          </a:p>
        </p:txBody>
      </p:sp>
      <p:pic>
        <p:nvPicPr>
          <p:cNvPr id="6" name="Media 1">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1874520" y="1353312"/>
            <a:ext cx="1143000" cy="1472184"/>
          </a:xfrm>
          <a:prstGeom prst="rect">
            <a:avLst/>
          </a:prstGeom>
        </p:spPr>
      </p:pic>
      <p:sp>
        <p:nvSpPr>
          <p:cNvPr id="9" name="Shape 5"/>
          <p:cNvSpPr/>
          <p:nvPr/>
        </p:nvSpPr>
        <p:spPr>
          <a:xfrm>
            <a:off x="1874520" y="1353312"/>
            <a:ext cx="1143000" cy="1472184"/>
          </a:xfrm>
          <a:prstGeom prst="rect">
            <a:avLst/>
          </a:prstGeom>
          <a:ln w="19050">
            <a:solidFill>
              <a:srgbClr val="B03A2E"/>
            </a:solidFill>
            <a:prstDash val="solid"/>
          </a:ln>
        </p:spPr>
      </p:sp>
      <p:sp>
        <p:nvSpPr>
          <p:cNvPr id="10" name="Text 6"/>
          <p:cNvSpPr txBox="1"/>
          <p:nvPr/>
        </p:nvSpPr>
        <p:spPr>
          <a:xfrm>
            <a:off x="3291840" y="1170432"/>
            <a:ext cx="1143000" cy="182880"/>
          </a:xfrm>
          <a:prstGeom prst="rect">
            <a:avLst/>
          </a:prstGeom>
          <a:noFill/>
          <a:ln/>
        </p:spPr>
        <p:txBody>
          <a:bodyPr wrap="square" lIns="0" tIns="0" rIns="0" bIns="0" rtlCol="0" anchor="b"/>
          <a:lstStyle/>
          <a:p>
            <a:pPr indent="0" marL="0">
              <a:buNone/>
            </a:pPr>
            <a:r>
              <a:rPr lang="en-US" sz="900" b="1" dirty="0">
                <a:solidFill>
                  <a:srgbClr val="0072B2"/>
                </a:solidFill>
                <a:latin typeface="Arial" pitchFamily="34" charset="0"/>
                <a:ea typeface="Arial" pitchFamily="34" charset="-122"/>
                <a:cs typeface="Arial" pitchFamily="34" charset="-120"/>
              </a:rPr>
              <a:t>Foveation 50%</a:t>
            </a:r>
            <a:endParaRPr lang="en-US" sz="900" dirty="0"/>
          </a:p>
        </p:txBody>
      </p:sp>
      <p:pic>
        <p:nvPicPr>
          <p:cNvPr id="9" name="Media 2">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3291840" y="1353312"/>
            <a:ext cx="1143000" cy="1472184"/>
          </a:xfrm>
          <a:prstGeom prst="rect">
            <a:avLst/>
          </a:prstGeom>
        </p:spPr>
      </p:pic>
      <p:sp>
        <p:nvSpPr>
          <p:cNvPr id="12" name="Shape 7"/>
          <p:cNvSpPr/>
          <p:nvPr/>
        </p:nvSpPr>
        <p:spPr>
          <a:xfrm>
            <a:off x="3291840" y="1353312"/>
            <a:ext cx="1143000" cy="1472184"/>
          </a:xfrm>
          <a:prstGeom prst="rect">
            <a:avLst/>
          </a:prstGeom>
          <a:ln w="19050">
            <a:solidFill>
              <a:srgbClr val="2E8B57"/>
            </a:solidFill>
            <a:prstDash val="solid"/>
          </a:ln>
        </p:spPr>
      </p:sp>
      <p:sp>
        <p:nvSpPr>
          <p:cNvPr id="13" name="Text 8"/>
          <p:cNvSpPr txBox="1"/>
          <p:nvPr/>
        </p:nvSpPr>
        <p:spPr>
          <a:xfrm>
            <a:off x="4709160" y="1170432"/>
            <a:ext cx="1143000" cy="182880"/>
          </a:xfrm>
          <a:prstGeom prst="rect">
            <a:avLst/>
          </a:prstGeom>
          <a:noFill/>
          <a:ln/>
        </p:spPr>
        <p:txBody>
          <a:bodyPr wrap="square" lIns="0" tIns="0" rIns="0" bIns="0" rtlCol="0" anchor="b"/>
          <a:lstStyle/>
          <a:p>
            <a:pPr indent="0" marL="0">
              <a:buNone/>
            </a:pPr>
            <a:r>
              <a:rPr lang="en-US" sz="900" b="1" dirty="0">
                <a:solidFill>
                  <a:srgbClr val="D55E00"/>
                </a:solidFill>
                <a:latin typeface="Arial" pitchFamily="34" charset="0"/>
                <a:ea typeface="Arial" pitchFamily="34" charset="-122"/>
                <a:cs typeface="Arial" pitchFamily="34" charset="-120"/>
              </a:rPr>
              <a:t>Action repeat 2</a:t>
            </a:r>
            <a:endParaRPr lang="en-US" sz="900" dirty="0"/>
          </a:p>
        </p:txBody>
      </p:sp>
      <p:pic>
        <p:nvPicPr>
          <p:cNvPr id="12" name="Media 3">
            <a:hlinkClick r:id="" action="ppaction://media"/>
          </p:cNvPr>
          <p:cNvPicPr>
            <a:picLocks noChangeAspect="1"/>
          </p:cNvPicPr>
          <p:nvPr>
            <a:videoFile r:link="rId10"/>
            <p:extLst>
              <p:ext uri="{DAA4B4D4-6D71-4841-9C94-3DE7FCFB9230}">
                <p14:media xmlns:p14="http://schemas.microsoft.com/office/powerpoint/2010/main" r:embed="rId11"/>
              </p:ext>
            </p:extLst>
          </p:nvPr>
        </p:nvPicPr>
        <p:blipFill>
          <a:blip r:embed="rId12"/>
          <a:stretch>
            <a:fillRect/>
          </a:stretch>
        </p:blipFill>
        <p:spPr>
          <a:xfrm>
            <a:off x="4709160" y="1353312"/>
            <a:ext cx="1143000" cy="1472184"/>
          </a:xfrm>
          <a:prstGeom prst="rect">
            <a:avLst/>
          </a:prstGeom>
        </p:spPr>
      </p:pic>
      <p:sp>
        <p:nvSpPr>
          <p:cNvPr id="15" name="Shape 9"/>
          <p:cNvSpPr/>
          <p:nvPr/>
        </p:nvSpPr>
        <p:spPr>
          <a:xfrm>
            <a:off x="4709160" y="1353312"/>
            <a:ext cx="1143000" cy="1472184"/>
          </a:xfrm>
          <a:prstGeom prst="rect">
            <a:avLst/>
          </a:prstGeom>
          <a:ln w="19050">
            <a:solidFill>
              <a:srgbClr val="2E8B57"/>
            </a:solidFill>
            <a:prstDash val="solid"/>
          </a:ln>
        </p:spPr>
      </p:sp>
      <p:sp>
        <p:nvSpPr>
          <p:cNvPr id="16" name="Text 10"/>
          <p:cNvSpPr txBox="1"/>
          <p:nvPr/>
        </p:nvSpPr>
        <p:spPr>
          <a:xfrm>
            <a:off x="6126480" y="1170432"/>
            <a:ext cx="1143000" cy="182880"/>
          </a:xfrm>
          <a:prstGeom prst="rect">
            <a:avLst/>
          </a:prstGeom>
          <a:noFill/>
          <a:ln/>
        </p:spPr>
        <p:txBody>
          <a:bodyPr wrap="square" lIns="0" tIns="0" rIns="0" bIns="0" rtlCol="0" anchor="b"/>
          <a:lstStyle/>
          <a:p>
            <a:pPr indent="0" marL="0">
              <a:buNone/>
            </a:pPr>
            <a:r>
              <a:rPr lang="en-US" sz="900" b="1" dirty="0">
                <a:solidFill>
                  <a:srgbClr val="D55E00"/>
                </a:solidFill>
                <a:latin typeface="Arial" pitchFamily="34" charset="0"/>
                <a:ea typeface="Arial" pitchFamily="34" charset="-122"/>
                <a:cs typeface="Arial" pitchFamily="34" charset="-120"/>
              </a:rPr>
              <a:t>Action repeat 4</a:t>
            </a:r>
            <a:endParaRPr lang="en-US" sz="900" dirty="0"/>
          </a:p>
        </p:txBody>
      </p:sp>
      <p:pic>
        <p:nvPicPr>
          <p:cNvPr id="15" name="Media 4">
            <a:hlinkClick r:id="" action="ppaction://media"/>
          </p:cNvPr>
          <p:cNvPicPr>
            <a:picLocks noChangeAspect="1"/>
          </p:cNvPicPr>
          <p:nvPr>
            <a:videoFile r:link="rId13"/>
            <p:extLst>
              <p:ext uri="{DAA4B4D4-6D71-4841-9C94-3DE7FCFB9230}">
                <p14:media xmlns:p14="http://schemas.microsoft.com/office/powerpoint/2010/main" r:embed="rId14"/>
              </p:ext>
            </p:extLst>
          </p:nvPr>
        </p:nvPicPr>
        <p:blipFill>
          <a:blip r:embed="rId15"/>
          <a:stretch>
            <a:fillRect/>
          </a:stretch>
        </p:blipFill>
        <p:spPr>
          <a:xfrm>
            <a:off x="6126480" y="1353312"/>
            <a:ext cx="1143000" cy="1472184"/>
          </a:xfrm>
          <a:prstGeom prst="rect">
            <a:avLst/>
          </a:prstGeom>
        </p:spPr>
      </p:pic>
      <p:sp>
        <p:nvSpPr>
          <p:cNvPr id="18" name="Shape 11"/>
          <p:cNvSpPr/>
          <p:nvPr/>
        </p:nvSpPr>
        <p:spPr>
          <a:xfrm>
            <a:off x="6126480" y="1353312"/>
            <a:ext cx="1143000" cy="1472184"/>
          </a:xfrm>
          <a:prstGeom prst="rect">
            <a:avLst/>
          </a:prstGeom>
          <a:ln w="19050">
            <a:solidFill>
              <a:srgbClr val="2E8B57"/>
            </a:solidFill>
            <a:prstDash val="solid"/>
          </a:ln>
        </p:spPr>
      </p:sp>
      <p:sp>
        <p:nvSpPr>
          <p:cNvPr id="19" name="Text 12"/>
          <p:cNvSpPr txBox="1"/>
          <p:nvPr/>
        </p:nvSpPr>
        <p:spPr>
          <a:xfrm>
            <a:off x="7543800" y="1170432"/>
            <a:ext cx="1143000" cy="182880"/>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1</a:t>
            </a:r>
            <a:endParaRPr lang="en-US" sz="900" dirty="0"/>
          </a:p>
        </p:txBody>
      </p:sp>
      <p:pic>
        <p:nvPicPr>
          <p:cNvPr id="18" name="Media 5">
            <a:hlinkClick r:id="" action="ppaction://media"/>
          </p:cNvPr>
          <p:cNvPicPr>
            <a:picLocks noChangeAspect="1"/>
          </p:cNvPicPr>
          <p:nvPr>
            <a:videoFile r:link="rId16"/>
            <p:extLst>
              <p:ext uri="{DAA4B4D4-6D71-4841-9C94-3DE7FCFB9230}">
                <p14:media xmlns:p14="http://schemas.microsoft.com/office/powerpoint/2010/main" r:embed="rId17"/>
              </p:ext>
            </p:extLst>
          </p:nvPr>
        </p:nvPicPr>
        <p:blipFill>
          <a:blip r:embed="rId18"/>
          <a:stretch>
            <a:fillRect/>
          </a:stretch>
        </p:blipFill>
        <p:spPr>
          <a:xfrm>
            <a:off x="7543800" y="1353312"/>
            <a:ext cx="1143000" cy="1472184"/>
          </a:xfrm>
          <a:prstGeom prst="rect">
            <a:avLst/>
          </a:prstGeom>
        </p:spPr>
      </p:pic>
      <p:sp>
        <p:nvSpPr>
          <p:cNvPr id="21" name="Shape 13"/>
          <p:cNvSpPr/>
          <p:nvPr/>
        </p:nvSpPr>
        <p:spPr>
          <a:xfrm>
            <a:off x="7543800" y="1353312"/>
            <a:ext cx="1143000" cy="1472184"/>
          </a:xfrm>
          <a:prstGeom prst="rect">
            <a:avLst/>
          </a:prstGeom>
          <a:ln w="19050">
            <a:solidFill>
              <a:srgbClr val="2E8B57"/>
            </a:solidFill>
            <a:prstDash val="solid"/>
          </a:ln>
        </p:spPr>
      </p:sp>
      <p:sp>
        <p:nvSpPr>
          <p:cNvPr id="22" name="Text 14"/>
          <p:cNvSpPr txBox="1"/>
          <p:nvPr/>
        </p:nvSpPr>
        <p:spPr>
          <a:xfrm>
            <a:off x="457200" y="2916936"/>
            <a:ext cx="1143000" cy="182880"/>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2</a:t>
            </a:r>
            <a:endParaRPr lang="en-US" sz="900" dirty="0"/>
          </a:p>
        </p:txBody>
      </p:sp>
      <p:pic>
        <p:nvPicPr>
          <p:cNvPr id="21" name="Media 6">
            <a:hlinkClick r:id="" action="ppaction://media"/>
          </p:cNvPr>
          <p:cNvPicPr>
            <a:picLocks noChangeAspect="1"/>
          </p:cNvPicPr>
          <p:nvPr>
            <a:videoFile r:link="rId19"/>
            <p:extLst>
              <p:ext uri="{DAA4B4D4-6D71-4841-9C94-3DE7FCFB9230}">
                <p14:media xmlns:p14="http://schemas.microsoft.com/office/powerpoint/2010/main" r:embed="rId20"/>
              </p:ext>
            </p:extLst>
          </p:nvPr>
        </p:nvPicPr>
        <p:blipFill>
          <a:blip r:embed="rId21"/>
          <a:stretch>
            <a:fillRect/>
          </a:stretch>
        </p:blipFill>
        <p:spPr>
          <a:xfrm>
            <a:off x="457200" y="3099816"/>
            <a:ext cx="1143000" cy="1472184"/>
          </a:xfrm>
          <a:prstGeom prst="rect">
            <a:avLst/>
          </a:prstGeom>
        </p:spPr>
      </p:pic>
      <p:sp>
        <p:nvSpPr>
          <p:cNvPr id="24" name="Shape 15"/>
          <p:cNvSpPr/>
          <p:nvPr/>
        </p:nvSpPr>
        <p:spPr>
          <a:xfrm>
            <a:off x="457200" y="3099816"/>
            <a:ext cx="1143000" cy="1472184"/>
          </a:xfrm>
          <a:prstGeom prst="rect">
            <a:avLst/>
          </a:prstGeom>
          <a:ln w="19050">
            <a:solidFill>
              <a:srgbClr val="2E8B57"/>
            </a:solidFill>
            <a:prstDash val="solid"/>
          </a:ln>
        </p:spPr>
      </p:sp>
      <p:sp>
        <p:nvSpPr>
          <p:cNvPr id="25" name="Text 16"/>
          <p:cNvSpPr txBox="1"/>
          <p:nvPr/>
        </p:nvSpPr>
        <p:spPr>
          <a:xfrm>
            <a:off x="1874520" y="2916936"/>
            <a:ext cx="1143000" cy="182880"/>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4</a:t>
            </a:r>
            <a:endParaRPr lang="en-US" sz="900" dirty="0"/>
          </a:p>
        </p:txBody>
      </p:sp>
      <p:pic>
        <p:nvPicPr>
          <p:cNvPr id="24" name="Media 7">
            <a:hlinkClick r:id="" action="ppaction://media"/>
          </p:cNvPr>
          <p:cNvPicPr>
            <a:picLocks noChangeAspect="1"/>
          </p:cNvPicPr>
          <p:nvPr>
            <a:videoFile r:link="rId22"/>
            <p:extLst>
              <p:ext uri="{DAA4B4D4-6D71-4841-9C94-3DE7FCFB9230}">
                <p14:media xmlns:p14="http://schemas.microsoft.com/office/powerpoint/2010/main" r:embed="rId23"/>
              </p:ext>
            </p:extLst>
          </p:nvPr>
        </p:nvPicPr>
        <p:blipFill>
          <a:blip r:embed="rId24"/>
          <a:stretch>
            <a:fillRect/>
          </a:stretch>
        </p:blipFill>
        <p:spPr>
          <a:xfrm>
            <a:off x="1874520" y="3099816"/>
            <a:ext cx="1143000" cy="1472184"/>
          </a:xfrm>
          <a:prstGeom prst="rect">
            <a:avLst/>
          </a:prstGeom>
        </p:spPr>
      </p:pic>
      <p:sp>
        <p:nvSpPr>
          <p:cNvPr id="27" name="Shape 17"/>
          <p:cNvSpPr/>
          <p:nvPr/>
        </p:nvSpPr>
        <p:spPr>
          <a:xfrm>
            <a:off x="1874520" y="3099816"/>
            <a:ext cx="1143000" cy="1472184"/>
          </a:xfrm>
          <a:prstGeom prst="rect">
            <a:avLst/>
          </a:prstGeom>
          <a:ln w="19050">
            <a:solidFill>
              <a:srgbClr val="B03A2E"/>
            </a:solidFill>
            <a:prstDash val="solid"/>
          </a:ln>
        </p:spPr>
      </p:sp>
      <p:sp>
        <p:nvSpPr>
          <p:cNvPr id="28" name="Text 18"/>
          <p:cNvSpPr txBox="1"/>
          <p:nvPr/>
        </p:nvSpPr>
        <p:spPr>
          <a:xfrm>
            <a:off x="3291840" y="2916936"/>
            <a:ext cx="1143000" cy="182880"/>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strict</a:t>
            </a:r>
            <a:endParaRPr lang="en-US" sz="900" dirty="0"/>
          </a:p>
        </p:txBody>
      </p:sp>
      <p:pic>
        <p:nvPicPr>
          <p:cNvPr id="27" name="Media 8">
            <a:hlinkClick r:id="" action="ppaction://media"/>
          </p:cNvPr>
          <p:cNvPicPr>
            <a:picLocks noChangeAspect="1"/>
          </p:cNvPicPr>
          <p:nvPr>
            <a:videoFile r:link="rId25"/>
            <p:extLst>
              <p:ext uri="{DAA4B4D4-6D71-4841-9C94-3DE7FCFB9230}">
                <p14:media xmlns:p14="http://schemas.microsoft.com/office/powerpoint/2010/main" r:embed="rId26"/>
              </p:ext>
            </p:extLst>
          </p:nvPr>
        </p:nvPicPr>
        <p:blipFill>
          <a:blip r:embed="rId27"/>
          <a:stretch>
            <a:fillRect/>
          </a:stretch>
        </p:blipFill>
        <p:spPr>
          <a:xfrm>
            <a:off x="3291840" y="3099816"/>
            <a:ext cx="1143000" cy="1472184"/>
          </a:xfrm>
          <a:prstGeom prst="rect">
            <a:avLst/>
          </a:prstGeom>
        </p:spPr>
      </p:pic>
      <p:sp>
        <p:nvSpPr>
          <p:cNvPr id="30" name="Shape 19"/>
          <p:cNvSpPr/>
          <p:nvPr/>
        </p:nvSpPr>
        <p:spPr>
          <a:xfrm>
            <a:off x="3291840" y="3099816"/>
            <a:ext cx="1143000" cy="1472184"/>
          </a:xfrm>
          <a:prstGeom prst="rect">
            <a:avLst/>
          </a:prstGeom>
          <a:ln w="19050">
            <a:solidFill>
              <a:srgbClr val="2E8B57"/>
            </a:solidFill>
            <a:prstDash val="solid"/>
          </a:ln>
        </p:spPr>
      </p:sp>
      <p:sp>
        <p:nvSpPr>
          <p:cNvPr id="31" name="Text 20"/>
          <p:cNvSpPr txBox="1"/>
          <p:nvPr/>
        </p:nvSpPr>
        <p:spPr>
          <a:xfrm>
            <a:off x="4709160" y="2916936"/>
            <a:ext cx="1143000" cy="182880"/>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moderate</a:t>
            </a:r>
            <a:endParaRPr lang="en-US" sz="900" dirty="0"/>
          </a:p>
        </p:txBody>
      </p:sp>
      <p:pic>
        <p:nvPicPr>
          <p:cNvPr id="30" name="Media 9">
            <a:hlinkClick r:id="" action="ppaction://media"/>
          </p:cNvPr>
          <p:cNvPicPr>
            <a:picLocks noChangeAspect="1"/>
          </p:cNvPicPr>
          <p:nvPr>
            <a:videoFile r:link="rId28"/>
            <p:extLst>
              <p:ext uri="{DAA4B4D4-6D71-4841-9C94-3DE7FCFB9230}">
                <p14:media xmlns:p14="http://schemas.microsoft.com/office/powerpoint/2010/main" r:embed="rId29"/>
              </p:ext>
            </p:extLst>
          </p:nvPr>
        </p:nvPicPr>
        <p:blipFill>
          <a:blip r:embed="rId30"/>
          <a:stretch>
            <a:fillRect/>
          </a:stretch>
        </p:blipFill>
        <p:spPr>
          <a:xfrm>
            <a:off x="4709160" y="3099816"/>
            <a:ext cx="1143000" cy="1472184"/>
          </a:xfrm>
          <a:prstGeom prst="rect">
            <a:avLst/>
          </a:prstGeom>
        </p:spPr>
      </p:pic>
      <p:sp>
        <p:nvSpPr>
          <p:cNvPr id="33" name="Shape 21"/>
          <p:cNvSpPr/>
          <p:nvPr/>
        </p:nvSpPr>
        <p:spPr>
          <a:xfrm>
            <a:off x="4709160" y="3099816"/>
            <a:ext cx="1143000" cy="1472184"/>
          </a:xfrm>
          <a:prstGeom prst="rect">
            <a:avLst/>
          </a:prstGeom>
          <a:ln w="19050">
            <a:solidFill>
              <a:srgbClr val="2E8B57"/>
            </a:solidFill>
            <a:prstDash val="solid"/>
          </a:ln>
        </p:spPr>
      </p:sp>
      <p:sp>
        <p:nvSpPr>
          <p:cNvPr id="34" name="Text 22"/>
          <p:cNvSpPr txBox="1"/>
          <p:nvPr/>
        </p:nvSpPr>
        <p:spPr>
          <a:xfrm>
            <a:off x="6126480" y="2916936"/>
            <a:ext cx="1143000" cy="182880"/>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aggressive</a:t>
            </a:r>
            <a:endParaRPr lang="en-US" sz="900" dirty="0"/>
          </a:p>
        </p:txBody>
      </p:sp>
      <p:pic>
        <p:nvPicPr>
          <p:cNvPr id="33" name="Media 10">
            <a:hlinkClick r:id="" action="ppaction://media"/>
          </p:cNvPr>
          <p:cNvPicPr>
            <a:picLocks noChangeAspect="1"/>
          </p:cNvPicPr>
          <p:nvPr>
            <a:videoFile r:link="rId31"/>
            <p:extLst>
              <p:ext uri="{DAA4B4D4-6D71-4841-9C94-3DE7FCFB9230}">
                <p14:media xmlns:p14="http://schemas.microsoft.com/office/powerpoint/2010/main" r:embed="rId32"/>
              </p:ext>
            </p:extLst>
          </p:nvPr>
        </p:nvPicPr>
        <p:blipFill>
          <a:blip r:embed="rId33"/>
          <a:stretch>
            <a:fillRect/>
          </a:stretch>
        </p:blipFill>
        <p:spPr>
          <a:xfrm>
            <a:off x="6126480" y="3099816"/>
            <a:ext cx="1143000" cy="1472184"/>
          </a:xfrm>
          <a:prstGeom prst="rect">
            <a:avLst/>
          </a:prstGeom>
        </p:spPr>
      </p:pic>
      <p:sp>
        <p:nvSpPr>
          <p:cNvPr id="36" name="Shape 23"/>
          <p:cNvSpPr/>
          <p:nvPr/>
        </p:nvSpPr>
        <p:spPr>
          <a:xfrm>
            <a:off x="6126480" y="3099816"/>
            <a:ext cx="1143000" cy="1472184"/>
          </a:xfrm>
          <a:prstGeom prst="rect">
            <a:avLst/>
          </a:prstGeom>
          <a:ln w="19050">
            <a:solidFill>
              <a:srgbClr val="2E8B57"/>
            </a:solidFill>
            <a:prstDash val="solid"/>
          </a:ln>
        </p:spPr>
      </p:sp>
      <p:sp>
        <p:nvSpPr>
          <p:cNvPr id="37" name="Text 24"/>
          <p:cNvSpPr txBox="1"/>
          <p:nvPr/>
        </p:nvSpPr>
        <p:spPr>
          <a:xfrm>
            <a:off x="7543800" y="2916936"/>
            <a:ext cx="1143000" cy="182880"/>
          </a:xfrm>
          <a:prstGeom prst="rect">
            <a:avLst/>
          </a:prstGeom>
          <a:noFill/>
          <a:ln/>
        </p:spPr>
        <p:txBody>
          <a:bodyPr wrap="square" lIns="0" tIns="0" rIns="0" bIns="0" rtlCol="0" anchor="b"/>
          <a:lstStyle/>
          <a:p>
            <a:pPr indent="0" marL="0">
              <a:buNone/>
            </a:pPr>
            <a:r>
              <a:rPr lang="en-US" sz="900" b="1" dirty="0">
                <a:solidFill>
                  <a:srgbClr val="8C650F"/>
                </a:solidFill>
                <a:latin typeface="Arial" pitchFamily="34" charset="0"/>
                <a:ea typeface="Arial" pitchFamily="34" charset="-122"/>
                <a:cs typeface="Arial" pitchFamily="34" charset="-120"/>
              </a:rPr>
              <a:t>Fusion motion/entropy</a:t>
            </a:r>
            <a:endParaRPr lang="en-US" sz="900" dirty="0"/>
          </a:p>
        </p:txBody>
      </p:sp>
      <p:pic>
        <p:nvPicPr>
          <p:cNvPr id="36" name="Media 11">
            <a:hlinkClick r:id="" action="ppaction://media"/>
          </p:cNvPr>
          <p:cNvPicPr>
            <a:picLocks noChangeAspect="1"/>
          </p:cNvPicPr>
          <p:nvPr>
            <a:videoFile r:link="rId34"/>
            <p:extLst>
              <p:ext uri="{DAA4B4D4-6D71-4841-9C94-3DE7FCFB9230}">
                <p14:media xmlns:p14="http://schemas.microsoft.com/office/powerpoint/2010/main" r:embed="rId35"/>
              </p:ext>
            </p:extLst>
          </p:nvPr>
        </p:nvPicPr>
        <p:blipFill>
          <a:blip r:embed="rId36"/>
          <a:stretch>
            <a:fillRect/>
          </a:stretch>
        </p:blipFill>
        <p:spPr>
          <a:xfrm>
            <a:off x="7543800" y="3099816"/>
            <a:ext cx="1143000" cy="1472184"/>
          </a:xfrm>
          <a:prstGeom prst="rect">
            <a:avLst/>
          </a:prstGeom>
        </p:spPr>
      </p:pic>
      <p:sp>
        <p:nvSpPr>
          <p:cNvPr id="39" name="Shape 25"/>
          <p:cNvSpPr/>
          <p:nvPr/>
        </p:nvSpPr>
        <p:spPr>
          <a:xfrm>
            <a:off x="7543800" y="3099816"/>
            <a:ext cx="1143000" cy="1472184"/>
          </a:xfrm>
          <a:prstGeom prst="rect">
            <a:avLst/>
          </a:prstGeom>
          <a:ln w="19050">
            <a:solidFill>
              <a:srgbClr val="B03A2E"/>
            </a:solidFill>
            <a:prstDash val="solid"/>
          </a:ln>
        </p:spPr>
      </p:sp>
    </p:spTree>
  </p:cSld>
  <p:clrMapOvr>
    <a:masterClrMapping/>
  </p:clrMapOvr>
  <p:transition advTm="8000">
    <p:fade/>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101" fill="hold">
                            <p:stCondLst>
                              <p:cond delay="0"/>
                            </p:stCondLst>
                            <p:childTnLst>
                              <p:par>
                                <p:cTn id="3" presetID="1" presetClass="mediacall" presetSubtype="0" fill="hold" nodeType="withEffect">
                                  <p:stCondLst>
                                    <p:cond delay="0"/>
                                  </p:stCondLst>
                                  <p:childTnLst>
                                    <p:cmd type="call" cmd="playFrom(0.0)">
                                      <p:cBhvr>
                                        <p:cTn id="4" dur="indefinite" fill="hold"/>
                                        <p:tgtEl>
                                          <p:spTgt spid="3"/>
                                        </p:tgtEl>
                                      </p:cBhvr>
                                    </p:cmd>
                                  </p:childTnLst>
                                </p:cTn>
                              </p:par>
                              <p:par>
                                <p:cTn id="5" presetID="1" presetClass="mediacall" presetSubtype="0" fill="hold" nodeType="withEffect">
                                  <p:stCondLst>
                                    <p:cond delay="0"/>
                                  </p:stCondLst>
                                  <p:childTnLst>
                                    <p:cmd type="call" cmd="playFrom(0.0)">
                                      <p:cBhvr>
                                        <p:cTn id="6" dur="indefinite" fill="hold"/>
                                        <p:tgtEl>
                                          <p:spTgt spid="6"/>
                                        </p:tgtEl>
                                      </p:cBhvr>
                                    </p:cmd>
                                  </p:childTnLst>
                                </p:cTn>
                              </p:par>
                              <p:par>
                                <p:cTn id="7" presetID="1" presetClass="mediacall" presetSubtype="0" fill="hold" nodeType="withEffect">
                                  <p:stCondLst>
                                    <p:cond delay="0"/>
                                  </p:stCondLst>
                                  <p:childTnLst>
                                    <p:cmd type="call" cmd="playFrom(0.0)">
                                      <p:cBhvr>
                                        <p:cTn id="8" dur="indefinite" fill="hold"/>
                                        <p:tgtEl>
                                          <p:spTgt spid="9"/>
                                        </p:tgtEl>
                                      </p:cBhvr>
                                    </p:cmd>
                                  </p:childTnLst>
                                </p:cTn>
                              </p:par>
                              <p:par>
                                <p:cTn id="9" presetID="1" presetClass="mediacall" presetSubtype="0" fill="hold" nodeType="withEffect">
                                  <p:stCondLst>
                                    <p:cond delay="0"/>
                                  </p:stCondLst>
                                  <p:childTnLst>
                                    <p:cmd type="call" cmd="playFrom(0.0)">
                                      <p:cBhvr>
                                        <p:cTn id="10" dur="indefinite" fill="hold"/>
                                        <p:tgtEl>
                                          <p:spTgt spid="12"/>
                                        </p:tgtEl>
                                      </p:cBhvr>
                                    </p:cmd>
                                  </p:childTnLst>
                                </p:cTn>
                              </p:par>
                              <p:par>
                                <p:cTn id="11" presetID="1" presetClass="mediacall" presetSubtype="0" fill="hold" nodeType="withEffect">
                                  <p:stCondLst>
                                    <p:cond delay="0"/>
                                  </p:stCondLst>
                                  <p:childTnLst>
                                    <p:cmd type="call" cmd="playFrom(0.0)">
                                      <p:cBhvr>
                                        <p:cTn id="12" dur="indefinite" fill="hold"/>
                                        <p:tgtEl>
                                          <p:spTgt spid="15"/>
                                        </p:tgtEl>
                                      </p:cBhvr>
                                    </p:cmd>
                                  </p:childTnLst>
                                </p:cTn>
                              </p:par>
                              <p:par>
                                <p:cTn id="13" presetID="1" presetClass="mediacall" presetSubtype="0" fill="hold" nodeType="withEffect">
                                  <p:stCondLst>
                                    <p:cond delay="0"/>
                                  </p:stCondLst>
                                  <p:childTnLst>
                                    <p:cmd type="call" cmd="playFrom(0.0)">
                                      <p:cBhvr>
                                        <p:cTn id="14" dur="indefinite" fill="hold"/>
                                        <p:tgtEl>
                                          <p:spTgt spid="18"/>
                                        </p:tgtEl>
                                      </p:cBhvr>
                                    </p:cmd>
                                  </p:childTnLst>
                                </p:cTn>
                              </p:par>
                              <p:par>
                                <p:cTn id="15" presetID="1" presetClass="mediacall" presetSubtype="0" fill="hold" nodeType="withEffect">
                                  <p:stCondLst>
                                    <p:cond delay="0"/>
                                  </p:stCondLst>
                                  <p:childTnLst>
                                    <p:cmd type="call" cmd="playFrom(0.0)">
                                      <p:cBhvr>
                                        <p:cTn id="16" dur="indefinite" fill="hold"/>
                                        <p:tgtEl>
                                          <p:spTgt spid="21"/>
                                        </p:tgtEl>
                                      </p:cBhvr>
                                    </p:cmd>
                                  </p:childTnLst>
                                </p:cTn>
                              </p:par>
                              <p:par>
                                <p:cTn id="17" presetID="1" presetClass="mediacall" presetSubtype="0" fill="hold" nodeType="withEffect">
                                  <p:stCondLst>
                                    <p:cond delay="0"/>
                                  </p:stCondLst>
                                  <p:childTnLst>
                                    <p:cmd type="call" cmd="playFrom(0.0)">
                                      <p:cBhvr>
                                        <p:cTn id="18" dur="indefinite" fill="hold"/>
                                        <p:tgtEl>
                                          <p:spTgt spid="24"/>
                                        </p:tgtEl>
                                      </p:cBhvr>
                                    </p:cmd>
                                  </p:childTnLst>
                                </p:cTn>
                              </p:par>
                              <p:par>
                                <p:cTn id="19" presetID="1" presetClass="mediacall" presetSubtype="0" fill="hold" nodeType="withEffect">
                                  <p:stCondLst>
                                    <p:cond delay="0"/>
                                  </p:stCondLst>
                                  <p:childTnLst>
                                    <p:cmd type="call" cmd="playFrom(0.0)">
                                      <p:cBhvr>
                                        <p:cTn id="20" dur="indefinite" fill="hold"/>
                                        <p:tgtEl>
                                          <p:spTgt spid="27"/>
                                        </p:tgtEl>
                                      </p:cBhvr>
                                    </p:cmd>
                                  </p:childTnLst>
                                </p:cTn>
                              </p:par>
                              <p:par>
                                <p:cTn id="21" presetID="1" presetClass="mediacall" presetSubtype="0" fill="hold" nodeType="withEffect">
                                  <p:stCondLst>
                                    <p:cond delay="0"/>
                                  </p:stCondLst>
                                  <p:childTnLst>
                                    <p:cmd type="call" cmd="playFrom(0.0)">
                                      <p:cBhvr>
                                        <p:cTn id="22" dur="indefinite" fill="hold"/>
                                        <p:tgtEl>
                                          <p:spTgt spid="30"/>
                                        </p:tgtEl>
                                      </p:cBhvr>
                                    </p:cmd>
                                  </p:childTnLst>
                                </p:cTn>
                              </p:par>
                              <p:par>
                                <p:cTn id="23" presetID="1" presetClass="mediacall" presetSubtype="0" fill="hold" nodeType="withEffect">
                                  <p:stCondLst>
                                    <p:cond delay="0"/>
                                  </p:stCondLst>
                                  <p:childTnLst>
                                    <p:cmd type="call" cmd="playFrom(0.0)">
                                      <p:cBhvr>
                                        <p:cTn id="24" dur="indefinite" fill="hold"/>
                                        <p:tgtEl>
                                          <p:spTgt spid="33"/>
                                        </p:tgtEl>
                                      </p:cBhvr>
                                    </p:cmd>
                                  </p:childTnLst>
                                </p:cTn>
                              </p:par>
                              <p:par>
                                <p:cTn id="25" presetID="1" presetClass="mediacall" presetSubtype="0" fill="hold" nodeType="withEffect">
                                  <p:stCondLst>
                                    <p:cond delay="0"/>
                                  </p:stCondLst>
                                  <p:childTnLst>
                                    <p:cmd type="call" cmd="playFrom(0.0)">
                                      <p:cBhvr>
                                        <p:cTn id="26" dur="indefinite"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fill="hold" display="0">
                  <p:stCondLst>
                    <p:cond delay="indefinite"/>
                  </p:stCondLst>
                </p:cTn>
                <p:tgtEl>
                  <p:spTgt spid="3"/>
                </p:tgtEl>
              </p:cMediaNode>
            </p:video>
            <p:video>
              <p:cMediaNode vol="80000">
                <p:cTn id="28" fill="hold" display="0">
                  <p:stCondLst>
                    <p:cond delay="indefinite"/>
                  </p:stCondLst>
                </p:cTn>
                <p:tgtEl>
                  <p:spTgt spid="6"/>
                </p:tgtEl>
              </p:cMediaNode>
            </p:video>
            <p:video>
              <p:cMediaNode vol="80000">
                <p:cTn id="29" fill="hold" display="0">
                  <p:stCondLst>
                    <p:cond delay="indefinite"/>
                  </p:stCondLst>
                </p:cTn>
                <p:tgtEl>
                  <p:spTgt spid="9"/>
                </p:tgtEl>
              </p:cMediaNode>
            </p:video>
            <p:video>
              <p:cMediaNode vol="80000">
                <p:cTn id="30" fill="hold" display="0">
                  <p:stCondLst>
                    <p:cond delay="indefinite"/>
                  </p:stCondLst>
                </p:cTn>
                <p:tgtEl>
                  <p:spTgt spid="12"/>
                </p:tgtEl>
              </p:cMediaNode>
            </p:video>
            <p:video>
              <p:cMediaNode vol="80000">
                <p:cTn id="31" fill="hold" display="0">
                  <p:stCondLst>
                    <p:cond delay="indefinite"/>
                  </p:stCondLst>
                </p:cTn>
                <p:tgtEl>
                  <p:spTgt spid="15"/>
                </p:tgtEl>
              </p:cMediaNode>
            </p:video>
            <p:video>
              <p:cMediaNode vol="80000">
                <p:cTn id="32" fill="hold" display="0">
                  <p:stCondLst>
                    <p:cond delay="indefinite"/>
                  </p:stCondLst>
                </p:cTn>
                <p:tgtEl>
                  <p:spTgt spid="18"/>
                </p:tgtEl>
              </p:cMediaNode>
            </p:video>
            <p:video>
              <p:cMediaNode vol="80000">
                <p:cTn id="33" fill="hold" display="0">
                  <p:stCondLst>
                    <p:cond delay="indefinite"/>
                  </p:stCondLst>
                </p:cTn>
                <p:tgtEl>
                  <p:spTgt spid="21"/>
                </p:tgtEl>
              </p:cMediaNode>
            </p:video>
            <p:video>
              <p:cMediaNode vol="80000">
                <p:cTn id="34" fill="hold" display="0">
                  <p:stCondLst>
                    <p:cond delay="indefinite"/>
                  </p:stCondLst>
                </p:cTn>
                <p:tgtEl>
                  <p:spTgt spid="24"/>
                </p:tgtEl>
              </p:cMediaNode>
            </p:video>
            <p:video>
              <p:cMediaNode vol="80000">
                <p:cTn id="35" fill="hold" display="0">
                  <p:stCondLst>
                    <p:cond delay="indefinite"/>
                  </p:stCondLst>
                </p:cTn>
                <p:tgtEl>
                  <p:spTgt spid="27"/>
                </p:tgtEl>
              </p:cMediaNode>
            </p:video>
            <p:video>
              <p:cMediaNode vol="80000">
                <p:cTn id="36" fill="hold" display="0">
                  <p:stCondLst>
                    <p:cond delay="indefinite"/>
                  </p:stCondLst>
                </p:cTn>
                <p:tgtEl>
                  <p:spTgt spid="30"/>
                </p:tgtEl>
              </p:cMediaNode>
            </p:video>
            <p:video>
              <p:cMediaNode vol="80000">
                <p:cTn id="37" fill="hold" display="0">
                  <p:stCondLst>
                    <p:cond delay="indefinite"/>
                  </p:stCondLst>
                </p:cTn>
                <p:tgtEl>
                  <p:spTgt spid="33"/>
                </p:tgtEl>
              </p:cMediaNode>
            </p:video>
            <p:video>
              <p:cMediaNode vol="80000">
                <p:cTn id="38" fill="hold" display="0">
                  <p:stCondLst>
                    <p:cond delay="indefinite"/>
                  </p:stCondLst>
                </p:cTn>
                <p:tgtEl>
                  <p:spTgt spid="36"/>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100" b="1" dirty="0">
                <a:solidFill>
                  <a:srgbClr val="1F2933"/>
                </a:solidFill>
                <a:latin typeface="Arial" pitchFamily="34" charset="0"/>
                <a:ea typeface="Arial" pitchFamily="34" charset="-122"/>
                <a:cs typeface="Arial" pitchFamily="34" charset="-120"/>
              </a:rPr>
              <a:t>OpenVLA on Google Robot / Fractal: "Move the object near another"</a:t>
            </a:r>
            <a:endParaRPr lang="en-US" sz="2100" dirty="0"/>
          </a:p>
        </p:txBody>
      </p:sp>
      <p:sp>
        <p:nvSpPr>
          <p:cNvPr id="3" name="Text 1"/>
          <p:cNvSpPr txBox="1"/>
          <p:nvPr/>
        </p:nvSpPr>
        <p:spPr>
          <a:xfrm>
            <a:off x="457200" y="822960"/>
            <a:ext cx="8229600" cy="256032"/>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All 12 configurations on the same episode (same initial state), played at 2× speed. Green = success, red = failure (badge in each clip).</a:t>
            </a:r>
            <a:endParaRPr lang="en-US" sz="1000" dirty="0"/>
          </a:p>
        </p:txBody>
      </p:sp>
      <p:sp>
        <p:nvSpPr>
          <p:cNvPr id="4" name="Text 2"/>
          <p:cNvSpPr txBox="1"/>
          <p:nvPr/>
        </p:nvSpPr>
        <p:spPr>
          <a:xfrm>
            <a:off x="457200" y="1170432"/>
            <a:ext cx="1143000" cy="182880"/>
          </a:xfrm>
          <a:prstGeom prst="rect">
            <a:avLst/>
          </a:prstGeom>
          <a:noFill/>
          <a:ln/>
        </p:spPr>
        <p:txBody>
          <a:bodyPr wrap="square" lIns="0" tIns="0" rIns="0" bIns="0" rtlCol="0" anchor="b"/>
          <a:lstStyle/>
          <a:p>
            <a:pPr indent="0" marL="0">
              <a:buNone/>
            </a:pPr>
            <a:r>
              <a:rPr lang="en-US" sz="900" b="1" dirty="0">
                <a:solidFill>
                  <a:srgbClr val="222222"/>
                </a:solidFill>
                <a:latin typeface="Arial" pitchFamily="34" charset="0"/>
                <a:ea typeface="Arial" pitchFamily="34" charset="-122"/>
                <a:cs typeface="Arial" pitchFamily="34" charset="-120"/>
              </a:rPr>
              <a:t>Original</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353312"/>
            <a:ext cx="1143000" cy="1472184"/>
          </a:xfrm>
          <a:prstGeom prst="rect">
            <a:avLst/>
          </a:prstGeom>
        </p:spPr>
      </p:pic>
      <p:sp>
        <p:nvSpPr>
          <p:cNvPr id="6" name="Shape 3"/>
          <p:cNvSpPr/>
          <p:nvPr/>
        </p:nvSpPr>
        <p:spPr>
          <a:xfrm>
            <a:off x="457200" y="1353312"/>
            <a:ext cx="1143000" cy="1472184"/>
          </a:xfrm>
          <a:prstGeom prst="rect">
            <a:avLst/>
          </a:prstGeom>
          <a:ln w="19050">
            <a:solidFill>
              <a:srgbClr val="2E8B57"/>
            </a:solidFill>
            <a:prstDash val="solid"/>
          </a:ln>
        </p:spPr>
      </p:sp>
      <p:sp>
        <p:nvSpPr>
          <p:cNvPr id="7" name="Text 4"/>
          <p:cNvSpPr txBox="1"/>
          <p:nvPr/>
        </p:nvSpPr>
        <p:spPr>
          <a:xfrm>
            <a:off x="1874520" y="1170432"/>
            <a:ext cx="1143000" cy="182880"/>
          </a:xfrm>
          <a:prstGeom prst="rect">
            <a:avLst/>
          </a:prstGeom>
          <a:noFill/>
          <a:ln/>
        </p:spPr>
        <p:txBody>
          <a:bodyPr wrap="square" lIns="0" tIns="0" rIns="0" bIns="0" rtlCol="0" anchor="b"/>
          <a:lstStyle/>
          <a:p>
            <a:pPr indent="0" marL="0">
              <a:buNone/>
            </a:pPr>
            <a:r>
              <a:rPr lang="en-US" sz="900" b="1" dirty="0">
                <a:solidFill>
                  <a:srgbClr val="0072B2"/>
                </a:solidFill>
                <a:latin typeface="Arial" pitchFamily="34" charset="0"/>
                <a:ea typeface="Arial" pitchFamily="34" charset="-122"/>
                <a:cs typeface="Arial" pitchFamily="34" charset="-120"/>
              </a:rPr>
              <a:t>Foveation 20%</a:t>
            </a:r>
            <a:endParaRPr lang="en-US" sz="900" dirty="0"/>
          </a:p>
        </p:txBody>
      </p:sp>
      <p:pic>
        <p:nvPicPr>
          <p:cNvPr id="6" name="Media 1">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1874520" y="1353312"/>
            <a:ext cx="1143000" cy="1472184"/>
          </a:xfrm>
          <a:prstGeom prst="rect">
            <a:avLst/>
          </a:prstGeom>
        </p:spPr>
      </p:pic>
      <p:sp>
        <p:nvSpPr>
          <p:cNvPr id="9" name="Shape 5"/>
          <p:cNvSpPr/>
          <p:nvPr/>
        </p:nvSpPr>
        <p:spPr>
          <a:xfrm>
            <a:off x="1874520" y="1353312"/>
            <a:ext cx="1143000" cy="1472184"/>
          </a:xfrm>
          <a:prstGeom prst="rect">
            <a:avLst/>
          </a:prstGeom>
          <a:ln w="19050">
            <a:solidFill>
              <a:srgbClr val="B03A2E"/>
            </a:solidFill>
            <a:prstDash val="solid"/>
          </a:ln>
        </p:spPr>
      </p:sp>
      <p:sp>
        <p:nvSpPr>
          <p:cNvPr id="10" name="Text 6"/>
          <p:cNvSpPr txBox="1"/>
          <p:nvPr/>
        </p:nvSpPr>
        <p:spPr>
          <a:xfrm>
            <a:off x="3291840" y="1170432"/>
            <a:ext cx="1143000" cy="182880"/>
          </a:xfrm>
          <a:prstGeom prst="rect">
            <a:avLst/>
          </a:prstGeom>
          <a:noFill/>
          <a:ln/>
        </p:spPr>
        <p:txBody>
          <a:bodyPr wrap="square" lIns="0" tIns="0" rIns="0" bIns="0" rtlCol="0" anchor="b"/>
          <a:lstStyle/>
          <a:p>
            <a:pPr indent="0" marL="0">
              <a:buNone/>
            </a:pPr>
            <a:r>
              <a:rPr lang="en-US" sz="900" b="1" dirty="0">
                <a:solidFill>
                  <a:srgbClr val="0072B2"/>
                </a:solidFill>
                <a:latin typeface="Arial" pitchFamily="34" charset="0"/>
                <a:ea typeface="Arial" pitchFamily="34" charset="-122"/>
                <a:cs typeface="Arial" pitchFamily="34" charset="-120"/>
              </a:rPr>
              <a:t>Foveation 50%</a:t>
            </a:r>
            <a:endParaRPr lang="en-US" sz="900" dirty="0"/>
          </a:p>
        </p:txBody>
      </p:sp>
      <p:pic>
        <p:nvPicPr>
          <p:cNvPr id="9" name="Media 2">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3291840" y="1353312"/>
            <a:ext cx="1143000" cy="1472184"/>
          </a:xfrm>
          <a:prstGeom prst="rect">
            <a:avLst/>
          </a:prstGeom>
        </p:spPr>
      </p:pic>
      <p:sp>
        <p:nvSpPr>
          <p:cNvPr id="12" name="Shape 7"/>
          <p:cNvSpPr/>
          <p:nvPr/>
        </p:nvSpPr>
        <p:spPr>
          <a:xfrm>
            <a:off x="3291840" y="1353312"/>
            <a:ext cx="1143000" cy="1472184"/>
          </a:xfrm>
          <a:prstGeom prst="rect">
            <a:avLst/>
          </a:prstGeom>
          <a:ln w="19050">
            <a:solidFill>
              <a:srgbClr val="B03A2E"/>
            </a:solidFill>
            <a:prstDash val="solid"/>
          </a:ln>
        </p:spPr>
      </p:sp>
      <p:sp>
        <p:nvSpPr>
          <p:cNvPr id="13" name="Text 8"/>
          <p:cNvSpPr txBox="1"/>
          <p:nvPr/>
        </p:nvSpPr>
        <p:spPr>
          <a:xfrm>
            <a:off x="4709160" y="1170432"/>
            <a:ext cx="1143000" cy="182880"/>
          </a:xfrm>
          <a:prstGeom prst="rect">
            <a:avLst/>
          </a:prstGeom>
          <a:noFill/>
          <a:ln/>
        </p:spPr>
        <p:txBody>
          <a:bodyPr wrap="square" lIns="0" tIns="0" rIns="0" bIns="0" rtlCol="0" anchor="b"/>
          <a:lstStyle/>
          <a:p>
            <a:pPr indent="0" marL="0">
              <a:buNone/>
            </a:pPr>
            <a:r>
              <a:rPr lang="en-US" sz="900" b="1" dirty="0">
                <a:solidFill>
                  <a:srgbClr val="D55E00"/>
                </a:solidFill>
                <a:latin typeface="Arial" pitchFamily="34" charset="0"/>
                <a:ea typeface="Arial" pitchFamily="34" charset="-122"/>
                <a:cs typeface="Arial" pitchFamily="34" charset="-120"/>
              </a:rPr>
              <a:t>Action repeat 2</a:t>
            </a:r>
            <a:endParaRPr lang="en-US" sz="900" dirty="0"/>
          </a:p>
        </p:txBody>
      </p:sp>
      <p:pic>
        <p:nvPicPr>
          <p:cNvPr id="12" name="Media 3">
            <a:hlinkClick r:id="" action="ppaction://media"/>
          </p:cNvPr>
          <p:cNvPicPr>
            <a:picLocks noChangeAspect="1"/>
          </p:cNvPicPr>
          <p:nvPr>
            <a:videoFile r:link="rId10"/>
            <p:extLst>
              <p:ext uri="{DAA4B4D4-6D71-4841-9C94-3DE7FCFB9230}">
                <p14:media xmlns:p14="http://schemas.microsoft.com/office/powerpoint/2010/main" r:embed="rId11"/>
              </p:ext>
            </p:extLst>
          </p:nvPr>
        </p:nvPicPr>
        <p:blipFill>
          <a:blip r:embed="rId12"/>
          <a:stretch>
            <a:fillRect/>
          </a:stretch>
        </p:blipFill>
        <p:spPr>
          <a:xfrm>
            <a:off x="4709160" y="1353312"/>
            <a:ext cx="1143000" cy="1472184"/>
          </a:xfrm>
          <a:prstGeom prst="rect">
            <a:avLst/>
          </a:prstGeom>
        </p:spPr>
      </p:pic>
      <p:sp>
        <p:nvSpPr>
          <p:cNvPr id="15" name="Shape 9"/>
          <p:cNvSpPr/>
          <p:nvPr/>
        </p:nvSpPr>
        <p:spPr>
          <a:xfrm>
            <a:off x="4709160" y="1353312"/>
            <a:ext cx="1143000" cy="1472184"/>
          </a:xfrm>
          <a:prstGeom prst="rect">
            <a:avLst/>
          </a:prstGeom>
          <a:ln w="19050">
            <a:solidFill>
              <a:srgbClr val="B03A2E"/>
            </a:solidFill>
            <a:prstDash val="solid"/>
          </a:ln>
        </p:spPr>
      </p:sp>
      <p:sp>
        <p:nvSpPr>
          <p:cNvPr id="16" name="Text 10"/>
          <p:cNvSpPr txBox="1"/>
          <p:nvPr/>
        </p:nvSpPr>
        <p:spPr>
          <a:xfrm>
            <a:off x="6126480" y="1170432"/>
            <a:ext cx="1143000" cy="182880"/>
          </a:xfrm>
          <a:prstGeom prst="rect">
            <a:avLst/>
          </a:prstGeom>
          <a:noFill/>
          <a:ln/>
        </p:spPr>
        <p:txBody>
          <a:bodyPr wrap="square" lIns="0" tIns="0" rIns="0" bIns="0" rtlCol="0" anchor="b"/>
          <a:lstStyle/>
          <a:p>
            <a:pPr indent="0" marL="0">
              <a:buNone/>
            </a:pPr>
            <a:r>
              <a:rPr lang="en-US" sz="900" b="1" dirty="0">
                <a:solidFill>
                  <a:srgbClr val="D55E00"/>
                </a:solidFill>
                <a:latin typeface="Arial" pitchFamily="34" charset="0"/>
                <a:ea typeface="Arial" pitchFamily="34" charset="-122"/>
                <a:cs typeface="Arial" pitchFamily="34" charset="-120"/>
              </a:rPr>
              <a:t>Action repeat 4</a:t>
            </a:r>
            <a:endParaRPr lang="en-US" sz="900" dirty="0"/>
          </a:p>
        </p:txBody>
      </p:sp>
      <p:pic>
        <p:nvPicPr>
          <p:cNvPr id="15" name="Media 4">
            <a:hlinkClick r:id="" action="ppaction://media"/>
          </p:cNvPr>
          <p:cNvPicPr>
            <a:picLocks noChangeAspect="1"/>
          </p:cNvPicPr>
          <p:nvPr>
            <a:videoFile r:link="rId13"/>
            <p:extLst>
              <p:ext uri="{DAA4B4D4-6D71-4841-9C94-3DE7FCFB9230}">
                <p14:media xmlns:p14="http://schemas.microsoft.com/office/powerpoint/2010/main" r:embed="rId14"/>
              </p:ext>
            </p:extLst>
          </p:nvPr>
        </p:nvPicPr>
        <p:blipFill>
          <a:blip r:embed="rId15"/>
          <a:stretch>
            <a:fillRect/>
          </a:stretch>
        </p:blipFill>
        <p:spPr>
          <a:xfrm>
            <a:off x="6126480" y="1353312"/>
            <a:ext cx="1143000" cy="1472184"/>
          </a:xfrm>
          <a:prstGeom prst="rect">
            <a:avLst/>
          </a:prstGeom>
        </p:spPr>
      </p:pic>
      <p:sp>
        <p:nvSpPr>
          <p:cNvPr id="18" name="Shape 11"/>
          <p:cNvSpPr/>
          <p:nvPr/>
        </p:nvSpPr>
        <p:spPr>
          <a:xfrm>
            <a:off x="6126480" y="1353312"/>
            <a:ext cx="1143000" cy="1472184"/>
          </a:xfrm>
          <a:prstGeom prst="rect">
            <a:avLst/>
          </a:prstGeom>
          <a:ln w="19050">
            <a:solidFill>
              <a:srgbClr val="2E8B57"/>
            </a:solidFill>
            <a:prstDash val="solid"/>
          </a:ln>
        </p:spPr>
      </p:sp>
      <p:sp>
        <p:nvSpPr>
          <p:cNvPr id="19" name="Text 12"/>
          <p:cNvSpPr txBox="1"/>
          <p:nvPr/>
        </p:nvSpPr>
        <p:spPr>
          <a:xfrm>
            <a:off x="7543800" y="1170432"/>
            <a:ext cx="1143000" cy="182880"/>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1</a:t>
            </a:r>
            <a:endParaRPr lang="en-US" sz="900" dirty="0"/>
          </a:p>
        </p:txBody>
      </p:sp>
      <p:pic>
        <p:nvPicPr>
          <p:cNvPr id="18" name="Media 5">
            <a:hlinkClick r:id="" action="ppaction://media"/>
          </p:cNvPr>
          <p:cNvPicPr>
            <a:picLocks noChangeAspect="1"/>
          </p:cNvPicPr>
          <p:nvPr>
            <a:videoFile r:link="rId16"/>
            <p:extLst>
              <p:ext uri="{DAA4B4D4-6D71-4841-9C94-3DE7FCFB9230}">
                <p14:media xmlns:p14="http://schemas.microsoft.com/office/powerpoint/2010/main" r:embed="rId17"/>
              </p:ext>
            </p:extLst>
          </p:nvPr>
        </p:nvPicPr>
        <p:blipFill>
          <a:blip r:embed="rId18"/>
          <a:stretch>
            <a:fillRect/>
          </a:stretch>
        </p:blipFill>
        <p:spPr>
          <a:xfrm>
            <a:off x="7543800" y="1353312"/>
            <a:ext cx="1143000" cy="1472184"/>
          </a:xfrm>
          <a:prstGeom prst="rect">
            <a:avLst/>
          </a:prstGeom>
        </p:spPr>
      </p:pic>
      <p:sp>
        <p:nvSpPr>
          <p:cNvPr id="21" name="Shape 13"/>
          <p:cNvSpPr/>
          <p:nvPr/>
        </p:nvSpPr>
        <p:spPr>
          <a:xfrm>
            <a:off x="7543800" y="1353312"/>
            <a:ext cx="1143000" cy="1472184"/>
          </a:xfrm>
          <a:prstGeom prst="rect">
            <a:avLst/>
          </a:prstGeom>
          <a:ln w="19050">
            <a:solidFill>
              <a:srgbClr val="2E8B57"/>
            </a:solidFill>
            <a:prstDash val="solid"/>
          </a:ln>
        </p:spPr>
      </p:sp>
      <p:sp>
        <p:nvSpPr>
          <p:cNvPr id="22" name="Text 14"/>
          <p:cNvSpPr txBox="1"/>
          <p:nvPr/>
        </p:nvSpPr>
        <p:spPr>
          <a:xfrm>
            <a:off x="457200" y="2916936"/>
            <a:ext cx="1143000" cy="182880"/>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2</a:t>
            </a:r>
            <a:endParaRPr lang="en-US" sz="900" dirty="0"/>
          </a:p>
        </p:txBody>
      </p:sp>
      <p:pic>
        <p:nvPicPr>
          <p:cNvPr id="21" name="Media 6">
            <a:hlinkClick r:id="" action="ppaction://media"/>
          </p:cNvPr>
          <p:cNvPicPr>
            <a:picLocks noChangeAspect="1"/>
          </p:cNvPicPr>
          <p:nvPr>
            <a:videoFile r:link="rId19"/>
            <p:extLst>
              <p:ext uri="{DAA4B4D4-6D71-4841-9C94-3DE7FCFB9230}">
                <p14:media xmlns:p14="http://schemas.microsoft.com/office/powerpoint/2010/main" r:embed="rId20"/>
              </p:ext>
            </p:extLst>
          </p:nvPr>
        </p:nvPicPr>
        <p:blipFill>
          <a:blip r:embed="rId21"/>
          <a:stretch>
            <a:fillRect/>
          </a:stretch>
        </p:blipFill>
        <p:spPr>
          <a:xfrm>
            <a:off x="457200" y="3099816"/>
            <a:ext cx="1143000" cy="1472184"/>
          </a:xfrm>
          <a:prstGeom prst="rect">
            <a:avLst/>
          </a:prstGeom>
        </p:spPr>
      </p:pic>
      <p:sp>
        <p:nvSpPr>
          <p:cNvPr id="24" name="Shape 15"/>
          <p:cNvSpPr/>
          <p:nvPr/>
        </p:nvSpPr>
        <p:spPr>
          <a:xfrm>
            <a:off x="457200" y="3099816"/>
            <a:ext cx="1143000" cy="1472184"/>
          </a:xfrm>
          <a:prstGeom prst="rect">
            <a:avLst/>
          </a:prstGeom>
          <a:ln w="19050">
            <a:solidFill>
              <a:srgbClr val="2E8B57"/>
            </a:solidFill>
            <a:prstDash val="solid"/>
          </a:ln>
        </p:spPr>
      </p:sp>
      <p:sp>
        <p:nvSpPr>
          <p:cNvPr id="25" name="Text 16"/>
          <p:cNvSpPr txBox="1"/>
          <p:nvPr/>
        </p:nvSpPr>
        <p:spPr>
          <a:xfrm>
            <a:off x="1874520" y="2916936"/>
            <a:ext cx="1143000" cy="182880"/>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4</a:t>
            </a:r>
            <a:endParaRPr lang="en-US" sz="900" dirty="0"/>
          </a:p>
        </p:txBody>
      </p:sp>
      <p:pic>
        <p:nvPicPr>
          <p:cNvPr id="24" name="Media 7">
            <a:hlinkClick r:id="" action="ppaction://media"/>
          </p:cNvPr>
          <p:cNvPicPr>
            <a:picLocks noChangeAspect="1"/>
          </p:cNvPicPr>
          <p:nvPr>
            <a:videoFile r:link="rId22"/>
            <p:extLst>
              <p:ext uri="{DAA4B4D4-6D71-4841-9C94-3DE7FCFB9230}">
                <p14:media xmlns:p14="http://schemas.microsoft.com/office/powerpoint/2010/main" r:embed="rId23"/>
              </p:ext>
            </p:extLst>
          </p:nvPr>
        </p:nvPicPr>
        <p:blipFill>
          <a:blip r:embed="rId24"/>
          <a:stretch>
            <a:fillRect/>
          </a:stretch>
        </p:blipFill>
        <p:spPr>
          <a:xfrm>
            <a:off x="1874520" y="3099816"/>
            <a:ext cx="1143000" cy="1472184"/>
          </a:xfrm>
          <a:prstGeom prst="rect">
            <a:avLst/>
          </a:prstGeom>
        </p:spPr>
      </p:pic>
      <p:sp>
        <p:nvSpPr>
          <p:cNvPr id="27" name="Shape 17"/>
          <p:cNvSpPr/>
          <p:nvPr/>
        </p:nvSpPr>
        <p:spPr>
          <a:xfrm>
            <a:off x="1874520" y="3099816"/>
            <a:ext cx="1143000" cy="1472184"/>
          </a:xfrm>
          <a:prstGeom prst="rect">
            <a:avLst/>
          </a:prstGeom>
          <a:ln w="19050">
            <a:solidFill>
              <a:srgbClr val="2E8B57"/>
            </a:solidFill>
            <a:prstDash val="solid"/>
          </a:ln>
        </p:spPr>
      </p:sp>
      <p:sp>
        <p:nvSpPr>
          <p:cNvPr id="28" name="Text 18"/>
          <p:cNvSpPr txBox="1"/>
          <p:nvPr/>
        </p:nvSpPr>
        <p:spPr>
          <a:xfrm>
            <a:off x="3291840" y="2916936"/>
            <a:ext cx="1143000" cy="182880"/>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strict</a:t>
            </a:r>
            <a:endParaRPr lang="en-US" sz="900" dirty="0"/>
          </a:p>
        </p:txBody>
      </p:sp>
      <p:pic>
        <p:nvPicPr>
          <p:cNvPr id="27" name="Media 8">
            <a:hlinkClick r:id="" action="ppaction://media"/>
          </p:cNvPr>
          <p:cNvPicPr>
            <a:picLocks noChangeAspect="1"/>
          </p:cNvPicPr>
          <p:nvPr>
            <a:videoFile r:link="rId25"/>
            <p:extLst>
              <p:ext uri="{DAA4B4D4-6D71-4841-9C94-3DE7FCFB9230}">
                <p14:media xmlns:p14="http://schemas.microsoft.com/office/powerpoint/2010/main" r:embed="rId26"/>
              </p:ext>
            </p:extLst>
          </p:nvPr>
        </p:nvPicPr>
        <p:blipFill>
          <a:blip r:embed="rId27"/>
          <a:stretch>
            <a:fillRect/>
          </a:stretch>
        </p:blipFill>
        <p:spPr>
          <a:xfrm>
            <a:off x="3291840" y="3099816"/>
            <a:ext cx="1143000" cy="1472184"/>
          </a:xfrm>
          <a:prstGeom prst="rect">
            <a:avLst/>
          </a:prstGeom>
        </p:spPr>
      </p:pic>
      <p:sp>
        <p:nvSpPr>
          <p:cNvPr id="30" name="Shape 19"/>
          <p:cNvSpPr/>
          <p:nvPr/>
        </p:nvSpPr>
        <p:spPr>
          <a:xfrm>
            <a:off x="3291840" y="3099816"/>
            <a:ext cx="1143000" cy="1472184"/>
          </a:xfrm>
          <a:prstGeom prst="rect">
            <a:avLst/>
          </a:prstGeom>
          <a:ln w="19050">
            <a:solidFill>
              <a:srgbClr val="2E8B57"/>
            </a:solidFill>
            <a:prstDash val="solid"/>
          </a:ln>
        </p:spPr>
      </p:sp>
      <p:sp>
        <p:nvSpPr>
          <p:cNvPr id="31" name="Text 20"/>
          <p:cNvSpPr txBox="1"/>
          <p:nvPr/>
        </p:nvSpPr>
        <p:spPr>
          <a:xfrm>
            <a:off x="4709160" y="2916936"/>
            <a:ext cx="1143000" cy="182880"/>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moderate</a:t>
            </a:r>
            <a:endParaRPr lang="en-US" sz="900" dirty="0"/>
          </a:p>
        </p:txBody>
      </p:sp>
      <p:pic>
        <p:nvPicPr>
          <p:cNvPr id="30" name="Media 9">
            <a:hlinkClick r:id="" action="ppaction://media"/>
          </p:cNvPr>
          <p:cNvPicPr>
            <a:picLocks noChangeAspect="1"/>
          </p:cNvPicPr>
          <p:nvPr>
            <a:videoFile r:link="rId28"/>
            <p:extLst>
              <p:ext uri="{DAA4B4D4-6D71-4841-9C94-3DE7FCFB9230}">
                <p14:media xmlns:p14="http://schemas.microsoft.com/office/powerpoint/2010/main" r:embed="rId29"/>
              </p:ext>
            </p:extLst>
          </p:nvPr>
        </p:nvPicPr>
        <p:blipFill>
          <a:blip r:embed="rId30"/>
          <a:stretch>
            <a:fillRect/>
          </a:stretch>
        </p:blipFill>
        <p:spPr>
          <a:xfrm>
            <a:off x="4709160" y="3099816"/>
            <a:ext cx="1143000" cy="1472184"/>
          </a:xfrm>
          <a:prstGeom prst="rect">
            <a:avLst/>
          </a:prstGeom>
        </p:spPr>
      </p:pic>
      <p:sp>
        <p:nvSpPr>
          <p:cNvPr id="33" name="Shape 21"/>
          <p:cNvSpPr/>
          <p:nvPr/>
        </p:nvSpPr>
        <p:spPr>
          <a:xfrm>
            <a:off x="4709160" y="3099816"/>
            <a:ext cx="1143000" cy="1472184"/>
          </a:xfrm>
          <a:prstGeom prst="rect">
            <a:avLst/>
          </a:prstGeom>
          <a:ln w="19050">
            <a:solidFill>
              <a:srgbClr val="2E8B57"/>
            </a:solidFill>
            <a:prstDash val="solid"/>
          </a:ln>
        </p:spPr>
      </p:sp>
      <p:sp>
        <p:nvSpPr>
          <p:cNvPr id="34" name="Text 22"/>
          <p:cNvSpPr txBox="1"/>
          <p:nvPr/>
        </p:nvSpPr>
        <p:spPr>
          <a:xfrm>
            <a:off x="6126480" y="2916936"/>
            <a:ext cx="1143000" cy="182880"/>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aggressive</a:t>
            </a:r>
            <a:endParaRPr lang="en-US" sz="900" dirty="0"/>
          </a:p>
        </p:txBody>
      </p:sp>
      <p:pic>
        <p:nvPicPr>
          <p:cNvPr id="33" name="Media 10">
            <a:hlinkClick r:id="" action="ppaction://media"/>
          </p:cNvPr>
          <p:cNvPicPr>
            <a:picLocks noChangeAspect="1"/>
          </p:cNvPicPr>
          <p:nvPr>
            <a:videoFile r:link="rId31"/>
            <p:extLst>
              <p:ext uri="{DAA4B4D4-6D71-4841-9C94-3DE7FCFB9230}">
                <p14:media xmlns:p14="http://schemas.microsoft.com/office/powerpoint/2010/main" r:embed="rId32"/>
              </p:ext>
            </p:extLst>
          </p:nvPr>
        </p:nvPicPr>
        <p:blipFill>
          <a:blip r:embed="rId33"/>
          <a:stretch>
            <a:fillRect/>
          </a:stretch>
        </p:blipFill>
        <p:spPr>
          <a:xfrm>
            <a:off x="6126480" y="3099816"/>
            <a:ext cx="1143000" cy="1472184"/>
          </a:xfrm>
          <a:prstGeom prst="rect">
            <a:avLst/>
          </a:prstGeom>
        </p:spPr>
      </p:pic>
      <p:sp>
        <p:nvSpPr>
          <p:cNvPr id="36" name="Shape 23"/>
          <p:cNvSpPr/>
          <p:nvPr/>
        </p:nvSpPr>
        <p:spPr>
          <a:xfrm>
            <a:off x="6126480" y="3099816"/>
            <a:ext cx="1143000" cy="1472184"/>
          </a:xfrm>
          <a:prstGeom prst="rect">
            <a:avLst/>
          </a:prstGeom>
          <a:ln w="19050">
            <a:solidFill>
              <a:srgbClr val="2E8B57"/>
            </a:solidFill>
            <a:prstDash val="solid"/>
          </a:ln>
        </p:spPr>
      </p:sp>
      <p:sp>
        <p:nvSpPr>
          <p:cNvPr id="37" name="Text 24"/>
          <p:cNvSpPr txBox="1"/>
          <p:nvPr/>
        </p:nvSpPr>
        <p:spPr>
          <a:xfrm>
            <a:off x="7543800" y="2916936"/>
            <a:ext cx="1143000" cy="182880"/>
          </a:xfrm>
          <a:prstGeom prst="rect">
            <a:avLst/>
          </a:prstGeom>
          <a:noFill/>
          <a:ln/>
        </p:spPr>
        <p:txBody>
          <a:bodyPr wrap="square" lIns="0" tIns="0" rIns="0" bIns="0" rtlCol="0" anchor="b"/>
          <a:lstStyle/>
          <a:p>
            <a:pPr indent="0" marL="0">
              <a:buNone/>
            </a:pPr>
            <a:r>
              <a:rPr lang="en-US" sz="900" b="1" dirty="0">
                <a:solidFill>
                  <a:srgbClr val="8C650F"/>
                </a:solidFill>
                <a:latin typeface="Arial" pitchFamily="34" charset="0"/>
                <a:ea typeface="Arial" pitchFamily="34" charset="-122"/>
                <a:cs typeface="Arial" pitchFamily="34" charset="-120"/>
              </a:rPr>
              <a:t>Fusion motion/entropy</a:t>
            </a:r>
            <a:endParaRPr lang="en-US" sz="900" dirty="0"/>
          </a:p>
        </p:txBody>
      </p:sp>
      <p:pic>
        <p:nvPicPr>
          <p:cNvPr id="36" name="Media 11">
            <a:hlinkClick r:id="" action="ppaction://media"/>
          </p:cNvPr>
          <p:cNvPicPr>
            <a:picLocks noChangeAspect="1"/>
          </p:cNvPicPr>
          <p:nvPr>
            <a:videoFile r:link="rId34"/>
            <p:extLst>
              <p:ext uri="{DAA4B4D4-6D71-4841-9C94-3DE7FCFB9230}">
                <p14:media xmlns:p14="http://schemas.microsoft.com/office/powerpoint/2010/main" r:embed="rId35"/>
              </p:ext>
            </p:extLst>
          </p:nvPr>
        </p:nvPicPr>
        <p:blipFill>
          <a:blip r:embed="rId36"/>
          <a:stretch>
            <a:fillRect/>
          </a:stretch>
        </p:blipFill>
        <p:spPr>
          <a:xfrm>
            <a:off x="7543800" y="3099816"/>
            <a:ext cx="1143000" cy="1472184"/>
          </a:xfrm>
          <a:prstGeom prst="rect">
            <a:avLst/>
          </a:prstGeom>
        </p:spPr>
      </p:pic>
      <p:sp>
        <p:nvSpPr>
          <p:cNvPr id="39" name="Shape 25"/>
          <p:cNvSpPr/>
          <p:nvPr/>
        </p:nvSpPr>
        <p:spPr>
          <a:xfrm>
            <a:off x="7543800" y="3099816"/>
            <a:ext cx="1143000" cy="1472184"/>
          </a:xfrm>
          <a:prstGeom prst="rect">
            <a:avLst/>
          </a:prstGeom>
          <a:ln w="19050">
            <a:solidFill>
              <a:srgbClr val="2E8B57"/>
            </a:solidFill>
            <a:prstDash val="solid"/>
          </a:ln>
        </p:spPr>
      </p:sp>
    </p:spTree>
  </p:cSld>
  <p:clrMapOvr>
    <a:masterClrMapping/>
  </p:clrMapOvr>
  <p:transition advTm="8000">
    <p:fade/>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101" fill="hold">
                            <p:stCondLst>
                              <p:cond delay="0"/>
                            </p:stCondLst>
                            <p:childTnLst>
                              <p:par>
                                <p:cTn id="3" presetID="1" presetClass="mediacall" presetSubtype="0" fill="hold" nodeType="withEffect">
                                  <p:stCondLst>
                                    <p:cond delay="0"/>
                                  </p:stCondLst>
                                  <p:childTnLst>
                                    <p:cmd type="call" cmd="playFrom(0.0)">
                                      <p:cBhvr>
                                        <p:cTn id="4" dur="indefinite" fill="hold"/>
                                        <p:tgtEl>
                                          <p:spTgt spid="3"/>
                                        </p:tgtEl>
                                      </p:cBhvr>
                                    </p:cmd>
                                  </p:childTnLst>
                                </p:cTn>
                              </p:par>
                              <p:par>
                                <p:cTn id="5" presetID="1" presetClass="mediacall" presetSubtype="0" fill="hold" nodeType="withEffect">
                                  <p:stCondLst>
                                    <p:cond delay="0"/>
                                  </p:stCondLst>
                                  <p:childTnLst>
                                    <p:cmd type="call" cmd="playFrom(0.0)">
                                      <p:cBhvr>
                                        <p:cTn id="6" dur="indefinite" fill="hold"/>
                                        <p:tgtEl>
                                          <p:spTgt spid="6"/>
                                        </p:tgtEl>
                                      </p:cBhvr>
                                    </p:cmd>
                                  </p:childTnLst>
                                </p:cTn>
                              </p:par>
                              <p:par>
                                <p:cTn id="7" presetID="1" presetClass="mediacall" presetSubtype="0" fill="hold" nodeType="withEffect">
                                  <p:stCondLst>
                                    <p:cond delay="0"/>
                                  </p:stCondLst>
                                  <p:childTnLst>
                                    <p:cmd type="call" cmd="playFrom(0.0)">
                                      <p:cBhvr>
                                        <p:cTn id="8" dur="indefinite" fill="hold"/>
                                        <p:tgtEl>
                                          <p:spTgt spid="9"/>
                                        </p:tgtEl>
                                      </p:cBhvr>
                                    </p:cmd>
                                  </p:childTnLst>
                                </p:cTn>
                              </p:par>
                              <p:par>
                                <p:cTn id="9" presetID="1" presetClass="mediacall" presetSubtype="0" fill="hold" nodeType="withEffect">
                                  <p:stCondLst>
                                    <p:cond delay="0"/>
                                  </p:stCondLst>
                                  <p:childTnLst>
                                    <p:cmd type="call" cmd="playFrom(0.0)">
                                      <p:cBhvr>
                                        <p:cTn id="10" dur="indefinite" fill="hold"/>
                                        <p:tgtEl>
                                          <p:spTgt spid="12"/>
                                        </p:tgtEl>
                                      </p:cBhvr>
                                    </p:cmd>
                                  </p:childTnLst>
                                </p:cTn>
                              </p:par>
                              <p:par>
                                <p:cTn id="11" presetID="1" presetClass="mediacall" presetSubtype="0" fill="hold" nodeType="withEffect">
                                  <p:stCondLst>
                                    <p:cond delay="0"/>
                                  </p:stCondLst>
                                  <p:childTnLst>
                                    <p:cmd type="call" cmd="playFrom(0.0)">
                                      <p:cBhvr>
                                        <p:cTn id="12" dur="indefinite" fill="hold"/>
                                        <p:tgtEl>
                                          <p:spTgt spid="15"/>
                                        </p:tgtEl>
                                      </p:cBhvr>
                                    </p:cmd>
                                  </p:childTnLst>
                                </p:cTn>
                              </p:par>
                              <p:par>
                                <p:cTn id="13" presetID="1" presetClass="mediacall" presetSubtype="0" fill="hold" nodeType="withEffect">
                                  <p:stCondLst>
                                    <p:cond delay="0"/>
                                  </p:stCondLst>
                                  <p:childTnLst>
                                    <p:cmd type="call" cmd="playFrom(0.0)">
                                      <p:cBhvr>
                                        <p:cTn id="14" dur="indefinite" fill="hold"/>
                                        <p:tgtEl>
                                          <p:spTgt spid="18"/>
                                        </p:tgtEl>
                                      </p:cBhvr>
                                    </p:cmd>
                                  </p:childTnLst>
                                </p:cTn>
                              </p:par>
                              <p:par>
                                <p:cTn id="15" presetID="1" presetClass="mediacall" presetSubtype="0" fill="hold" nodeType="withEffect">
                                  <p:stCondLst>
                                    <p:cond delay="0"/>
                                  </p:stCondLst>
                                  <p:childTnLst>
                                    <p:cmd type="call" cmd="playFrom(0.0)">
                                      <p:cBhvr>
                                        <p:cTn id="16" dur="indefinite" fill="hold"/>
                                        <p:tgtEl>
                                          <p:spTgt spid="21"/>
                                        </p:tgtEl>
                                      </p:cBhvr>
                                    </p:cmd>
                                  </p:childTnLst>
                                </p:cTn>
                              </p:par>
                              <p:par>
                                <p:cTn id="17" presetID="1" presetClass="mediacall" presetSubtype="0" fill="hold" nodeType="withEffect">
                                  <p:stCondLst>
                                    <p:cond delay="0"/>
                                  </p:stCondLst>
                                  <p:childTnLst>
                                    <p:cmd type="call" cmd="playFrom(0.0)">
                                      <p:cBhvr>
                                        <p:cTn id="18" dur="indefinite" fill="hold"/>
                                        <p:tgtEl>
                                          <p:spTgt spid="24"/>
                                        </p:tgtEl>
                                      </p:cBhvr>
                                    </p:cmd>
                                  </p:childTnLst>
                                </p:cTn>
                              </p:par>
                              <p:par>
                                <p:cTn id="19" presetID="1" presetClass="mediacall" presetSubtype="0" fill="hold" nodeType="withEffect">
                                  <p:stCondLst>
                                    <p:cond delay="0"/>
                                  </p:stCondLst>
                                  <p:childTnLst>
                                    <p:cmd type="call" cmd="playFrom(0.0)">
                                      <p:cBhvr>
                                        <p:cTn id="20" dur="indefinite" fill="hold"/>
                                        <p:tgtEl>
                                          <p:spTgt spid="27"/>
                                        </p:tgtEl>
                                      </p:cBhvr>
                                    </p:cmd>
                                  </p:childTnLst>
                                </p:cTn>
                              </p:par>
                              <p:par>
                                <p:cTn id="21" presetID="1" presetClass="mediacall" presetSubtype="0" fill="hold" nodeType="withEffect">
                                  <p:stCondLst>
                                    <p:cond delay="0"/>
                                  </p:stCondLst>
                                  <p:childTnLst>
                                    <p:cmd type="call" cmd="playFrom(0.0)">
                                      <p:cBhvr>
                                        <p:cTn id="22" dur="indefinite" fill="hold"/>
                                        <p:tgtEl>
                                          <p:spTgt spid="30"/>
                                        </p:tgtEl>
                                      </p:cBhvr>
                                    </p:cmd>
                                  </p:childTnLst>
                                </p:cTn>
                              </p:par>
                              <p:par>
                                <p:cTn id="23" presetID="1" presetClass="mediacall" presetSubtype="0" fill="hold" nodeType="withEffect">
                                  <p:stCondLst>
                                    <p:cond delay="0"/>
                                  </p:stCondLst>
                                  <p:childTnLst>
                                    <p:cmd type="call" cmd="playFrom(0.0)">
                                      <p:cBhvr>
                                        <p:cTn id="24" dur="indefinite" fill="hold"/>
                                        <p:tgtEl>
                                          <p:spTgt spid="33"/>
                                        </p:tgtEl>
                                      </p:cBhvr>
                                    </p:cmd>
                                  </p:childTnLst>
                                </p:cTn>
                              </p:par>
                              <p:par>
                                <p:cTn id="25" presetID="1" presetClass="mediacall" presetSubtype="0" fill="hold" nodeType="withEffect">
                                  <p:stCondLst>
                                    <p:cond delay="0"/>
                                  </p:stCondLst>
                                  <p:childTnLst>
                                    <p:cmd type="call" cmd="playFrom(0.0)">
                                      <p:cBhvr>
                                        <p:cTn id="26" dur="indefinite"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fill="hold" display="0">
                  <p:stCondLst>
                    <p:cond delay="indefinite"/>
                  </p:stCondLst>
                </p:cTn>
                <p:tgtEl>
                  <p:spTgt spid="3"/>
                </p:tgtEl>
              </p:cMediaNode>
            </p:video>
            <p:video>
              <p:cMediaNode vol="80000">
                <p:cTn id="28" fill="hold" display="0">
                  <p:stCondLst>
                    <p:cond delay="indefinite"/>
                  </p:stCondLst>
                </p:cTn>
                <p:tgtEl>
                  <p:spTgt spid="6"/>
                </p:tgtEl>
              </p:cMediaNode>
            </p:video>
            <p:video>
              <p:cMediaNode vol="80000">
                <p:cTn id="29" fill="hold" display="0">
                  <p:stCondLst>
                    <p:cond delay="indefinite"/>
                  </p:stCondLst>
                </p:cTn>
                <p:tgtEl>
                  <p:spTgt spid="9"/>
                </p:tgtEl>
              </p:cMediaNode>
            </p:video>
            <p:video>
              <p:cMediaNode vol="80000">
                <p:cTn id="30" fill="hold" display="0">
                  <p:stCondLst>
                    <p:cond delay="indefinite"/>
                  </p:stCondLst>
                </p:cTn>
                <p:tgtEl>
                  <p:spTgt spid="12"/>
                </p:tgtEl>
              </p:cMediaNode>
            </p:video>
            <p:video>
              <p:cMediaNode vol="80000">
                <p:cTn id="31" fill="hold" display="0">
                  <p:stCondLst>
                    <p:cond delay="indefinite"/>
                  </p:stCondLst>
                </p:cTn>
                <p:tgtEl>
                  <p:spTgt spid="15"/>
                </p:tgtEl>
              </p:cMediaNode>
            </p:video>
            <p:video>
              <p:cMediaNode vol="80000">
                <p:cTn id="32" fill="hold" display="0">
                  <p:stCondLst>
                    <p:cond delay="indefinite"/>
                  </p:stCondLst>
                </p:cTn>
                <p:tgtEl>
                  <p:spTgt spid="18"/>
                </p:tgtEl>
              </p:cMediaNode>
            </p:video>
            <p:video>
              <p:cMediaNode vol="80000">
                <p:cTn id="33" fill="hold" display="0">
                  <p:stCondLst>
                    <p:cond delay="indefinite"/>
                  </p:stCondLst>
                </p:cTn>
                <p:tgtEl>
                  <p:spTgt spid="21"/>
                </p:tgtEl>
              </p:cMediaNode>
            </p:video>
            <p:video>
              <p:cMediaNode vol="80000">
                <p:cTn id="34" fill="hold" display="0">
                  <p:stCondLst>
                    <p:cond delay="indefinite"/>
                  </p:stCondLst>
                </p:cTn>
                <p:tgtEl>
                  <p:spTgt spid="24"/>
                </p:tgtEl>
              </p:cMediaNode>
            </p:video>
            <p:video>
              <p:cMediaNode vol="80000">
                <p:cTn id="35" fill="hold" display="0">
                  <p:stCondLst>
                    <p:cond delay="indefinite"/>
                  </p:stCondLst>
                </p:cTn>
                <p:tgtEl>
                  <p:spTgt spid="27"/>
                </p:tgtEl>
              </p:cMediaNode>
            </p:video>
            <p:video>
              <p:cMediaNode vol="80000">
                <p:cTn id="36" fill="hold" display="0">
                  <p:stCondLst>
                    <p:cond delay="indefinite"/>
                  </p:stCondLst>
                </p:cTn>
                <p:tgtEl>
                  <p:spTgt spid="30"/>
                </p:tgtEl>
              </p:cMediaNode>
            </p:video>
            <p:video>
              <p:cMediaNode vol="80000">
                <p:cTn id="37" fill="hold" display="0">
                  <p:stCondLst>
                    <p:cond delay="indefinite"/>
                  </p:stCondLst>
                </p:cTn>
                <p:tgtEl>
                  <p:spTgt spid="33"/>
                </p:tgtEl>
              </p:cMediaNode>
            </p:video>
            <p:video>
              <p:cMediaNode vol="80000">
                <p:cTn id="38" fill="hold" display="0">
                  <p:stCondLst>
                    <p:cond delay="indefinite"/>
                  </p:stCondLst>
                </p:cTn>
                <p:tgtEl>
                  <p:spTgt spid="36"/>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100" b="1" dirty="0">
                <a:solidFill>
                  <a:srgbClr val="1F2933"/>
                </a:solidFill>
                <a:latin typeface="Arial" pitchFamily="34" charset="0"/>
                <a:ea typeface="Arial" pitchFamily="34" charset="-122"/>
                <a:cs typeface="Arial" pitchFamily="34" charset="-120"/>
              </a:rPr>
              <a:t>OpenVLA on Google Robot / Fractal: "Pick the coke can"</a:t>
            </a:r>
            <a:endParaRPr lang="en-US" sz="2100" dirty="0"/>
          </a:p>
        </p:txBody>
      </p:sp>
      <p:sp>
        <p:nvSpPr>
          <p:cNvPr id="3" name="Text 1"/>
          <p:cNvSpPr txBox="1"/>
          <p:nvPr/>
        </p:nvSpPr>
        <p:spPr>
          <a:xfrm>
            <a:off x="457200" y="822960"/>
            <a:ext cx="8229600" cy="256032"/>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All 12 configurations on the same episode (same initial state), played at 2× speed. Green = success, red = failure (badge in each clip).</a:t>
            </a:r>
            <a:endParaRPr lang="en-US" sz="1000" dirty="0"/>
          </a:p>
        </p:txBody>
      </p:sp>
      <p:sp>
        <p:nvSpPr>
          <p:cNvPr id="4" name="Text 2"/>
          <p:cNvSpPr txBox="1"/>
          <p:nvPr/>
        </p:nvSpPr>
        <p:spPr>
          <a:xfrm>
            <a:off x="457200" y="1170432"/>
            <a:ext cx="1143000" cy="182880"/>
          </a:xfrm>
          <a:prstGeom prst="rect">
            <a:avLst/>
          </a:prstGeom>
          <a:noFill/>
          <a:ln/>
        </p:spPr>
        <p:txBody>
          <a:bodyPr wrap="square" lIns="0" tIns="0" rIns="0" bIns="0" rtlCol="0" anchor="b"/>
          <a:lstStyle/>
          <a:p>
            <a:pPr indent="0" marL="0">
              <a:buNone/>
            </a:pPr>
            <a:r>
              <a:rPr lang="en-US" sz="900" b="1" dirty="0">
                <a:solidFill>
                  <a:srgbClr val="222222"/>
                </a:solidFill>
                <a:latin typeface="Arial" pitchFamily="34" charset="0"/>
                <a:ea typeface="Arial" pitchFamily="34" charset="-122"/>
                <a:cs typeface="Arial" pitchFamily="34" charset="-120"/>
              </a:rPr>
              <a:t>Original</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353312"/>
            <a:ext cx="1143000" cy="1472184"/>
          </a:xfrm>
          <a:prstGeom prst="rect">
            <a:avLst/>
          </a:prstGeom>
        </p:spPr>
      </p:pic>
      <p:sp>
        <p:nvSpPr>
          <p:cNvPr id="6" name="Shape 3"/>
          <p:cNvSpPr/>
          <p:nvPr/>
        </p:nvSpPr>
        <p:spPr>
          <a:xfrm>
            <a:off x="457200" y="1353312"/>
            <a:ext cx="1143000" cy="1472184"/>
          </a:xfrm>
          <a:prstGeom prst="rect">
            <a:avLst/>
          </a:prstGeom>
          <a:ln w="19050">
            <a:solidFill>
              <a:srgbClr val="2E8B57"/>
            </a:solidFill>
            <a:prstDash val="solid"/>
          </a:ln>
        </p:spPr>
      </p:sp>
      <p:sp>
        <p:nvSpPr>
          <p:cNvPr id="7" name="Text 4"/>
          <p:cNvSpPr txBox="1"/>
          <p:nvPr/>
        </p:nvSpPr>
        <p:spPr>
          <a:xfrm>
            <a:off x="1874520" y="1170432"/>
            <a:ext cx="1143000" cy="182880"/>
          </a:xfrm>
          <a:prstGeom prst="rect">
            <a:avLst/>
          </a:prstGeom>
          <a:noFill/>
          <a:ln/>
        </p:spPr>
        <p:txBody>
          <a:bodyPr wrap="square" lIns="0" tIns="0" rIns="0" bIns="0" rtlCol="0" anchor="b"/>
          <a:lstStyle/>
          <a:p>
            <a:pPr indent="0" marL="0">
              <a:buNone/>
            </a:pPr>
            <a:r>
              <a:rPr lang="en-US" sz="900" b="1" dirty="0">
                <a:solidFill>
                  <a:srgbClr val="0072B2"/>
                </a:solidFill>
                <a:latin typeface="Arial" pitchFamily="34" charset="0"/>
                <a:ea typeface="Arial" pitchFamily="34" charset="-122"/>
                <a:cs typeface="Arial" pitchFamily="34" charset="-120"/>
              </a:rPr>
              <a:t>Foveation 20%</a:t>
            </a:r>
            <a:endParaRPr lang="en-US" sz="900" dirty="0"/>
          </a:p>
        </p:txBody>
      </p:sp>
      <p:pic>
        <p:nvPicPr>
          <p:cNvPr id="6" name="Media 1">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1874520" y="1353312"/>
            <a:ext cx="1143000" cy="1472184"/>
          </a:xfrm>
          <a:prstGeom prst="rect">
            <a:avLst/>
          </a:prstGeom>
        </p:spPr>
      </p:pic>
      <p:sp>
        <p:nvSpPr>
          <p:cNvPr id="9" name="Shape 5"/>
          <p:cNvSpPr/>
          <p:nvPr/>
        </p:nvSpPr>
        <p:spPr>
          <a:xfrm>
            <a:off x="1874520" y="1353312"/>
            <a:ext cx="1143000" cy="1472184"/>
          </a:xfrm>
          <a:prstGeom prst="rect">
            <a:avLst/>
          </a:prstGeom>
          <a:ln w="19050">
            <a:solidFill>
              <a:srgbClr val="B03A2E"/>
            </a:solidFill>
            <a:prstDash val="solid"/>
          </a:ln>
        </p:spPr>
      </p:sp>
      <p:sp>
        <p:nvSpPr>
          <p:cNvPr id="10" name="Text 6"/>
          <p:cNvSpPr txBox="1"/>
          <p:nvPr/>
        </p:nvSpPr>
        <p:spPr>
          <a:xfrm>
            <a:off x="3291840" y="1170432"/>
            <a:ext cx="1143000" cy="182880"/>
          </a:xfrm>
          <a:prstGeom prst="rect">
            <a:avLst/>
          </a:prstGeom>
          <a:noFill/>
          <a:ln/>
        </p:spPr>
        <p:txBody>
          <a:bodyPr wrap="square" lIns="0" tIns="0" rIns="0" bIns="0" rtlCol="0" anchor="b"/>
          <a:lstStyle/>
          <a:p>
            <a:pPr indent="0" marL="0">
              <a:buNone/>
            </a:pPr>
            <a:r>
              <a:rPr lang="en-US" sz="900" b="1" dirty="0">
                <a:solidFill>
                  <a:srgbClr val="0072B2"/>
                </a:solidFill>
                <a:latin typeface="Arial" pitchFamily="34" charset="0"/>
                <a:ea typeface="Arial" pitchFamily="34" charset="-122"/>
                <a:cs typeface="Arial" pitchFamily="34" charset="-120"/>
              </a:rPr>
              <a:t>Foveation 50%</a:t>
            </a:r>
            <a:endParaRPr lang="en-US" sz="900" dirty="0"/>
          </a:p>
        </p:txBody>
      </p:sp>
      <p:pic>
        <p:nvPicPr>
          <p:cNvPr id="9" name="Media 2">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3291840" y="1353312"/>
            <a:ext cx="1143000" cy="1472184"/>
          </a:xfrm>
          <a:prstGeom prst="rect">
            <a:avLst/>
          </a:prstGeom>
        </p:spPr>
      </p:pic>
      <p:sp>
        <p:nvSpPr>
          <p:cNvPr id="12" name="Shape 7"/>
          <p:cNvSpPr/>
          <p:nvPr/>
        </p:nvSpPr>
        <p:spPr>
          <a:xfrm>
            <a:off x="3291840" y="1353312"/>
            <a:ext cx="1143000" cy="1472184"/>
          </a:xfrm>
          <a:prstGeom prst="rect">
            <a:avLst/>
          </a:prstGeom>
          <a:ln w="19050">
            <a:solidFill>
              <a:srgbClr val="2E8B57"/>
            </a:solidFill>
            <a:prstDash val="solid"/>
          </a:ln>
        </p:spPr>
      </p:sp>
      <p:sp>
        <p:nvSpPr>
          <p:cNvPr id="13" name="Text 8"/>
          <p:cNvSpPr txBox="1"/>
          <p:nvPr/>
        </p:nvSpPr>
        <p:spPr>
          <a:xfrm>
            <a:off x="4709160" y="1170432"/>
            <a:ext cx="1143000" cy="182880"/>
          </a:xfrm>
          <a:prstGeom prst="rect">
            <a:avLst/>
          </a:prstGeom>
          <a:noFill/>
          <a:ln/>
        </p:spPr>
        <p:txBody>
          <a:bodyPr wrap="square" lIns="0" tIns="0" rIns="0" bIns="0" rtlCol="0" anchor="b"/>
          <a:lstStyle/>
          <a:p>
            <a:pPr indent="0" marL="0">
              <a:buNone/>
            </a:pPr>
            <a:r>
              <a:rPr lang="en-US" sz="900" b="1" dirty="0">
                <a:solidFill>
                  <a:srgbClr val="D55E00"/>
                </a:solidFill>
                <a:latin typeface="Arial" pitchFamily="34" charset="0"/>
                <a:ea typeface="Arial" pitchFamily="34" charset="-122"/>
                <a:cs typeface="Arial" pitchFamily="34" charset="-120"/>
              </a:rPr>
              <a:t>Action repeat 2</a:t>
            </a:r>
            <a:endParaRPr lang="en-US" sz="900" dirty="0"/>
          </a:p>
        </p:txBody>
      </p:sp>
      <p:pic>
        <p:nvPicPr>
          <p:cNvPr id="12" name="Media 3">
            <a:hlinkClick r:id="" action="ppaction://media"/>
          </p:cNvPr>
          <p:cNvPicPr>
            <a:picLocks noChangeAspect="1"/>
          </p:cNvPicPr>
          <p:nvPr>
            <a:videoFile r:link="rId10"/>
            <p:extLst>
              <p:ext uri="{DAA4B4D4-6D71-4841-9C94-3DE7FCFB9230}">
                <p14:media xmlns:p14="http://schemas.microsoft.com/office/powerpoint/2010/main" r:embed="rId11"/>
              </p:ext>
            </p:extLst>
          </p:nvPr>
        </p:nvPicPr>
        <p:blipFill>
          <a:blip r:embed="rId12"/>
          <a:stretch>
            <a:fillRect/>
          </a:stretch>
        </p:blipFill>
        <p:spPr>
          <a:xfrm>
            <a:off x="4709160" y="1353312"/>
            <a:ext cx="1143000" cy="1472184"/>
          </a:xfrm>
          <a:prstGeom prst="rect">
            <a:avLst/>
          </a:prstGeom>
        </p:spPr>
      </p:pic>
      <p:sp>
        <p:nvSpPr>
          <p:cNvPr id="15" name="Shape 9"/>
          <p:cNvSpPr/>
          <p:nvPr/>
        </p:nvSpPr>
        <p:spPr>
          <a:xfrm>
            <a:off x="4709160" y="1353312"/>
            <a:ext cx="1143000" cy="1472184"/>
          </a:xfrm>
          <a:prstGeom prst="rect">
            <a:avLst/>
          </a:prstGeom>
          <a:ln w="19050">
            <a:solidFill>
              <a:srgbClr val="B03A2E"/>
            </a:solidFill>
            <a:prstDash val="solid"/>
          </a:ln>
        </p:spPr>
      </p:sp>
      <p:sp>
        <p:nvSpPr>
          <p:cNvPr id="16" name="Text 10"/>
          <p:cNvSpPr txBox="1"/>
          <p:nvPr/>
        </p:nvSpPr>
        <p:spPr>
          <a:xfrm>
            <a:off x="6126480" y="1170432"/>
            <a:ext cx="1143000" cy="182880"/>
          </a:xfrm>
          <a:prstGeom prst="rect">
            <a:avLst/>
          </a:prstGeom>
          <a:noFill/>
          <a:ln/>
        </p:spPr>
        <p:txBody>
          <a:bodyPr wrap="square" lIns="0" tIns="0" rIns="0" bIns="0" rtlCol="0" anchor="b"/>
          <a:lstStyle/>
          <a:p>
            <a:pPr indent="0" marL="0">
              <a:buNone/>
            </a:pPr>
            <a:r>
              <a:rPr lang="en-US" sz="900" b="1" dirty="0">
                <a:solidFill>
                  <a:srgbClr val="D55E00"/>
                </a:solidFill>
                <a:latin typeface="Arial" pitchFamily="34" charset="0"/>
                <a:ea typeface="Arial" pitchFamily="34" charset="-122"/>
                <a:cs typeface="Arial" pitchFamily="34" charset="-120"/>
              </a:rPr>
              <a:t>Action repeat 4</a:t>
            </a:r>
            <a:endParaRPr lang="en-US" sz="900" dirty="0"/>
          </a:p>
        </p:txBody>
      </p:sp>
      <p:pic>
        <p:nvPicPr>
          <p:cNvPr id="15" name="Media 4">
            <a:hlinkClick r:id="" action="ppaction://media"/>
          </p:cNvPr>
          <p:cNvPicPr>
            <a:picLocks noChangeAspect="1"/>
          </p:cNvPicPr>
          <p:nvPr>
            <a:videoFile r:link="rId13"/>
            <p:extLst>
              <p:ext uri="{DAA4B4D4-6D71-4841-9C94-3DE7FCFB9230}">
                <p14:media xmlns:p14="http://schemas.microsoft.com/office/powerpoint/2010/main" r:embed="rId14"/>
              </p:ext>
            </p:extLst>
          </p:nvPr>
        </p:nvPicPr>
        <p:blipFill>
          <a:blip r:embed="rId15"/>
          <a:stretch>
            <a:fillRect/>
          </a:stretch>
        </p:blipFill>
        <p:spPr>
          <a:xfrm>
            <a:off x="6126480" y="1353312"/>
            <a:ext cx="1143000" cy="1472184"/>
          </a:xfrm>
          <a:prstGeom prst="rect">
            <a:avLst/>
          </a:prstGeom>
        </p:spPr>
      </p:pic>
      <p:sp>
        <p:nvSpPr>
          <p:cNvPr id="18" name="Shape 11"/>
          <p:cNvSpPr/>
          <p:nvPr/>
        </p:nvSpPr>
        <p:spPr>
          <a:xfrm>
            <a:off x="6126480" y="1353312"/>
            <a:ext cx="1143000" cy="1472184"/>
          </a:xfrm>
          <a:prstGeom prst="rect">
            <a:avLst/>
          </a:prstGeom>
          <a:ln w="19050">
            <a:solidFill>
              <a:srgbClr val="2E8B57"/>
            </a:solidFill>
            <a:prstDash val="solid"/>
          </a:ln>
        </p:spPr>
      </p:sp>
      <p:sp>
        <p:nvSpPr>
          <p:cNvPr id="19" name="Text 12"/>
          <p:cNvSpPr txBox="1"/>
          <p:nvPr/>
        </p:nvSpPr>
        <p:spPr>
          <a:xfrm>
            <a:off x="7543800" y="1170432"/>
            <a:ext cx="1143000" cy="182880"/>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1</a:t>
            </a:r>
            <a:endParaRPr lang="en-US" sz="900" dirty="0"/>
          </a:p>
        </p:txBody>
      </p:sp>
      <p:pic>
        <p:nvPicPr>
          <p:cNvPr id="18" name="Media 5">
            <a:hlinkClick r:id="" action="ppaction://media"/>
          </p:cNvPr>
          <p:cNvPicPr>
            <a:picLocks noChangeAspect="1"/>
          </p:cNvPicPr>
          <p:nvPr>
            <a:videoFile r:link="rId16"/>
            <p:extLst>
              <p:ext uri="{DAA4B4D4-6D71-4841-9C94-3DE7FCFB9230}">
                <p14:media xmlns:p14="http://schemas.microsoft.com/office/powerpoint/2010/main" r:embed="rId17"/>
              </p:ext>
            </p:extLst>
          </p:nvPr>
        </p:nvPicPr>
        <p:blipFill>
          <a:blip r:embed="rId18"/>
          <a:stretch>
            <a:fillRect/>
          </a:stretch>
        </p:blipFill>
        <p:spPr>
          <a:xfrm>
            <a:off x="7543800" y="1353312"/>
            <a:ext cx="1143000" cy="1472184"/>
          </a:xfrm>
          <a:prstGeom prst="rect">
            <a:avLst/>
          </a:prstGeom>
        </p:spPr>
      </p:pic>
      <p:sp>
        <p:nvSpPr>
          <p:cNvPr id="21" name="Shape 13"/>
          <p:cNvSpPr/>
          <p:nvPr/>
        </p:nvSpPr>
        <p:spPr>
          <a:xfrm>
            <a:off x="7543800" y="1353312"/>
            <a:ext cx="1143000" cy="1472184"/>
          </a:xfrm>
          <a:prstGeom prst="rect">
            <a:avLst/>
          </a:prstGeom>
          <a:ln w="19050">
            <a:solidFill>
              <a:srgbClr val="2E8B57"/>
            </a:solidFill>
            <a:prstDash val="solid"/>
          </a:ln>
        </p:spPr>
      </p:sp>
      <p:sp>
        <p:nvSpPr>
          <p:cNvPr id="22" name="Text 14"/>
          <p:cNvSpPr txBox="1"/>
          <p:nvPr/>
        </p:nvSpPr>
        <p:spPr>
          <a:xfrm>
            <a:off x="457200" y="2916936"/>
            <a:ext cx="1143000" cy="182880"/>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2</a:t>
            </a:r>
            <a:endParaRPr lang="en-US" sz="900" dirty="0"/>
          </a:p>
        </p:txBody>
      </p:sp>
      <p:pic>
        <p:nvPicPr>
          <p:cNvPr id="21" name="Media 6">
            <a:hlinkClick r:id="" action="ppaction://media"/>
          </p:cNvPr>
          <p:cNvPicPr>
            <a:picLocks noChangeAspect="1"/>
          </p:cNvPicPr>
          <p:nvPr>
            <a:videoFile r:link="rId19"/>
            <p:extLst>
              <p:ext uri="{DAA4B4D4-6D71-4841-9C94-3DE7FCFB9230}">
                <p14:media xmlns:p14="http://schemas.microsoft.com/office/powerpoint/2010/main" r:embed="rId20"/>
              </p:ext>
            </p:extLst>
          </p:nvPr>
        </p:nvPicPr>
        <p:blipFill>
          <a:blip r:embed="rId21"/>
          <a:stretch>
            <a:fillRect/>
          </a:stretch>
        </p:blipFill>
        <p:spPr>
          <a:xfrm>
            <a:off x="457200" y="3099816"/>
            <a:ext cx="1143000" cy="1472184"/>
          </a:xfrm>
          <a:prstGeom prst="rect">
            <a:avLst/>
          </a:prstGeom>
        </p:spPr>
      </p:pic>
      <p:sp>
        <p:nvSpPr>
          <p:cNvPr id="24" name="Shape 15"/>
          <p:cNvSpPr/>
          <p:nvPr/>
        </p:nvSpPr>
        <p:spPr>
          <a:xfrm>
            <a:off x="457200" y="3099816"/>
            <a:ext cx="1143000" cy="1472184"/>
          </a:xfrm>
          <a:prstGeom prst="rect">
            <a:avLst/>
          </a:prstGeom>
          <a:ln w="19050">
            <a:solidFill>
              <a:srgbClr val="2E8B57"/>
            </a:solidFill>
            <a:prstDash val="solid"/>
          </a:ln>
        </p:spPr>
      </p:sp>
      <p:sp>
        <p:nvSpPr>
          <p:cNvPr id="25" name="Text 16"/>
          <p:cNvSpPr txBox="1"/>
          <p:nvPr/>
        </p:nvSpPr>
        <p:spPr>
          <a:xfrm>
            <a:off x="1874520" y="2916936"/>
            <a:ext cx="1143000" cy="182880"/>
          </a:xfrm>
          <a:prstGeom prst="rect">
            <a:avLst/>
          </a:prstGeom>
          <a:noFill/>
          <a:ln/>
        </p:spPr>
        <p:txBody>
          <a:bodyPr wrap="square" lIns="0" tIns="0" rIns="0" bIns="0" rtlCol="0" anchor="b"/>
          <a:lstStyle/>
          <a:p>
            <a:pPr indent="0" marL="0">
              <a:buNone/>
            </a:pPr>
            <a:r>
              <a:rPr lang="en-US" sz="900" b="1" dirty="0">
                <a:solidFill>
                  <a:srgbClr val="009E73"/>
                </a:solidFill>
                <a:latin typeface="Arial" pitchFamily="34" charset="0"/>
                <a:ea typeface="Arial" pitchFamily="34" charset="-122"/>
                <a:cs typeface="Arial" pitchFamily="34" charset="-120"/>
              </a:rPr>
              <a:t>Depth pruning 4</a:t>
            </a:r>
            <a:endParaRPr lang="en-US" sz="900" dirty="0"/>
          </a:p>
        </p:txBody>
      </p:sp>
      <p:pic>
        <p:nvPicPr>
          <p:cNvPr id="24" name="Media 7">
            <a:hlinkClick r:id="" action="ppaction://media"/>
          </p:cNvPr>
          <p:cNvPicPr>
            <a:picLocks noChangeAspect="1"/>
          </p:cNvPicPr>
          <p:nvPr>
            <a:videoFile r:link="rId22"/>
            <p:extLst>
              <p:ext uri="{DAA4B4D4-6D71-4841-9C94-3DE7FCFB9230}">
                <p14:media xmlns:p14="http://schemas.microsoft.com/office/powerpoint/2010/main" r:embed="rId23"/>
              </p:ext>
            </p:extLst>
          </p:nvPr>
        </p:nvPicPr>
        <p:blipFill>
          <a:blip r:embed="rId24"/>
          <a:stretch>
            <a:fillRect/>
          </a:stretch>
        </p:blipFill>
        <p:spPr>
          <a:xfrm>
            <a:off x="1874520" y="3099816"/>
            <a:ext cx="1143000" cy="1472184"/>
          </a:xfrm>
          <a:prstGeom prst="rect">
            <a:avLst/>
          </a:prstGeom>
        </p:spPr>
      </p:pic>
      <p:sp>
        <p:nvSpPr>
          <p:cNvPr id="27" name="Shape 17"/>
          <p:cNvSpPr/>
          <p:nvPr/>
        </p:nvSpPr>
        <p:spPr>
          <a:xfrm>
            <a:off x="1874520" y="3099816"/>
            <a:ext cx="1143000" cy="1472184"/>
          </a:xfrm>
          <a:prstGeom prst="rect">
            <a:avLst/>
          </a:prstGeom>
          <a:ln w="19050">
            <a:solidFill>
              <a:srgbClr val="B03A2E"/>
            </a:solidFill>
            <a:prstDash val="solid"/>
          </a:ln>
        </p:spPr>
      </p:sp>
      <p:sp>
        <p:nvSpPr>
          <p:cNvPr id="28" name="Text 18"/>
          <p:cNvSpPr txBox="1"/>
          <p:nvPr/>
        </p:nvSpPr>
        <p:spPr>
          <a:xfrm>
            <a:off x="3291840" y="2916936"/>
            <a:ext cx="1143000" cy="182880"/>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strict</a:t>
            </a:r>
            <a:endParaRPr lang="en-US" sz="900" dirty="0"/>
          </a:p>
        </p:txBody>
      </p:sp>
      <p:pic>
        <p:nvPicPr>
          <p:cNvPr id="27" name="Media 8">
            <a:hlinkClick r:id="" action="ppaction://media"/>
          </p:cNvPr>
          <p:cNvPicPr>
            <a:picLocks noChangeAspect="1"/>
          </p:cNvPicPr>
          <p:nvPr>
            <a:videoFile r:link="rId25"/>
            <p:extLst>
              <p:ext uri="{DAA4B4D4-6D71-4841-9C94-3DE7FCFB9230}">
                <p14:media xmlns:p14="http://schemas.microsoft.com/office/powerpoint/2010/main" r:embed="rId26"/>
              </p:ext>
            </p:extLst>
          </p:nvPr>
        </p:nvPicPr>
        <p:blipFill>
          <a:blip r:embed="rId27"/>
          <a:stretch>
            <a:fillRect/>
          </a:stretch>
        </p:blipFill>
        <p:spPr>
          <a:xfrm>
            <a:off x="3291840" y="3099816"/>
            <a:ext cx="1143000" cy="1472184"/>
          </a:xfrm>
          <a:prstGeom prst="rect">
            <a:avLst/>
          </a:prstGeom>
        </p:spPr>
      </p:pic>
      <p:sp>
        <p:nvSpPr>
          <p:cNvPr id="30" name="Shape 19"/>
          <p:cNvSpPr/>
          <p:nvPr/>
        </p:nvSpPr>
        <p:spPr>
          <a:xfrm>
            <a:off x="3291840" y="3099816"/>
            <a:ext cx="1143000" cy="1472184"/>
          </a:xfrm>
          <a:prstGeom prst="rect">
            <a:avLst/>
          </a:prstGeom>
          <a:ln w="19050">
            <a:solidFill>
              <a:srgbClr val="2E8B57"/>
            </a:solidFill>
            <a:prstDash val="solid"/>
          </a:ln>
        </p:spPr>
      </p:sp>
      <p:sp>
        <p:nvSpPr>
          <p:cNvPr id="31" name="Text 20"/>
          <p:cNvSpPr txBox="1"/>
          <p:nvPr/>
        </p:nvSpPr>
        <p:spPr>
          <a:xfrm>
            <a:off x="4709160" y="2916936"/>
            <a:ext cx="1143000" cy="182880"/>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moderate</a:t>
            </a:r>
            <a:endParaRPr lang="en-US" sz="900" dirty="0"/>
          </a:p>
        </p:txBody>
      </p:sp>
      <p:pic>
        <p:nvPicPr>
          <p:cNvPr id="30" name="Media 9">
            <a:hlinkClick r:id="" action="ppaction://media"/>
          </p:cNvPr>
          <p:cNvPicPr>
            <a:picLocks noChangeAspect="1"/>
          </p:cNvPicPr>
          <p:nvPr>
            <a:videoFile r:link="rId28"/>
            <p:extLst>
              <p:ext uri="{DAA4B4D4-6D71-4841-9C94-3DE7FCFB9230}">
                <p14:media xmlns:p14="http://schemas.microsoft.com/office/powerpoint/2010/main" r:embed="rId29"/>
              </p:ext>
            </p:extLst>
          </p:nvPr>
        </p:nvPicPr>
        <p:blipFill>
          <a:blip r:embed="rId30"/>
          <a:stretch>
            <a:fillRect/>
          </a:stretch>
        </p:blipFill>
        <p:spPr>
          <a:xfrm>
            <a:off x="4709160" y="3099816"/>
            <a:ext cx="1143000" cy="1472184"/>
          </a:xfrm>
          <a:prstGeom prst="rect">
            <a:avLst/>
          </a:prstGeom>
        </p:spPr>
      </p:pic>
      <p:sp>
        <p:nvSpPr>
          <p:cNvPr id="33" name="Shape 21"/>
          <p:cNvSpPr/>
          <p:nvPr/>
        </p:nvSpPr>
        <p:spPr>
          <a:xfrm>
            <a:off x="4709160" y="3099816"/>
            <a:ext cx="1143000" cy="1472184"/>
          </a:xfrm>
          <a:prstGeom prst="rect">
            <a:avLst/>
          </a:prstGeom>
          <a:ln w="19050">
            <a:solidFill>
              <a:srgbClr val="2E8B57"/>
            </a:solidFill>
            <a:prstDash val="solid"/>
          </a:ln>
        </p:spPr>
      </p:sp>
      <p:sp>
        <p:nvSpPr>
          <p:cNvPr id="34" name="Text 22"/>
          <p:cNvSpPr txBox="1"/>
          <p:nvPr/>
        </p:nvSpPr>
        <p:spPr>
          <a:xfrm>
            <a:off x="6126480" y="2916936"/>
            <a:ext cx="1143000" cy="182880"/>
          </a:xfrm>
          <a:prstGeom prst="rect">
            <a:avLst/>
          </a:prstGeom>
          <a:noFill/>
          <a:ln/>
        </p:spPr>
        <p:txBody>
          <a:bodyPr wrap="square" lIns="0" tIns="0" rIns="0" bIns="0" rtlCol="0" anchor="b"/>
          <a:lstStyle/>
          <a:p>
            <a:pPr indent="0" marL="0">
              <a:buNone/>
            </a:pPr>
            <a:r>
              <a:rPr lang="en-US" sz="900" b="1" dirty="0">
                <a:solidFill>
                  <a:srgbClr val="CC79A7"/>
                </a:solidFill>
                <a:latin typeface="Arial" pitchFamily="34" charset="0"/>
                <a:ea typeface="Arial" pitchFamily="34" charset="-122"/>
                <a:cs typeface="Arial" pitchFamily="34" charset="-120"/>
              </a:rPr>
              <a:t>Reuse aggressive</a:t>
            </a:r>
            <a:endParaRPr lang="en-US" sz="900" dirty="0"/>
          </a:p>
        </p:txBody>
      </p:sp>
      <p:pic>
        <p:nvPicPr>
          <p:cNvPr id="33" name="Media 10">
            <a:hlinkClick r:id="" action="ppaction://media"/>
          </p:cNvPr>
          <p:cNvPicPr>
            <a:picLocks noChangeAspect="1"/>
          </p:cNvPicPr>
          <p:nvPr>
            <a:videoFile r:link="rId31"/>
            <p:extLst>
              <p:ext uri="{DAA4B4D4-6D71-4841-9C94-3DE7FCFB9230}">
                <p14:media xmlns:p14="http://schemas.microsoft.com/office/powerpoint/2010/main" r:embed="rId32"/>
              </p:ext>
            </p:extLst>
          </p:nvPr>
        </p:nvPicPr>
        <p:blipFill>
          <a:blip r:embed="rId33"/>
          <a:stretch>
            <a:fillRect/>
          </a:stretch>
        </p:blipFill>
        <p:spPr>
          <a:xfrm>
            <a:off x="6126480" y="3099816"/>
            <a:ext cx="1143000" cy="1472184"/>
          </a:xfrm>
          <a:prstGeom prst="rect">
            <a:avLst/>
          </a:prstGeom>
        </p:spPr>
      </p:pic>
      <p:sp>
        <p:nvSpPr>
          <p:cNvPr id="36" name="Shape 23"/>
          <p:cNvSpPr/>
          <p:nvPr/>
        </p:nvSpPr>
        <p:spPr>
          <a:xfrm>
            <a:off x="6126480" y="3099816"/>
            <a:ext cx="1143000" cy="1472184"/>
          </a:xfrm>
          <a:prstGeom prst="rect">
            <a:avLst/>
          </a:prstGeom>
          <a:ln w="19050">
            <a:solidFill>
              <a:srgbClr val="2E8B57"/>
            </a:solidFill>
            <a:prstDash val="solid"/>
          </a:ln>
        </p:spPr>
      </p:sp>
      <p:sp>
        <p:nvSpPr>
          <p:cNvPr id="37" name="Text 24"/>
          <p:cNvSpPr txBox="1"/>
          <p:nvPr/>
        </p:nvSpPr>
        <p:spPr>
          <a:xfrm>
            <a:off x="7543800" y="2916936"/>
            <a:ext cx="1143000" cy="182880"/>
          </a:xfrm>
          <a:prstGeom prst="rect">
            <a:avLst/>
          </a:prstGeom>
          <a:noFill/>
          <a:ln/>
        </p:spPr>
        <p:txBody>
          <a:bodyPr wrap="square" lIns="0" tIns="0" rIns="0" bIns="0" rtlCol="0" anchor="b"/>
          <a:lstStyle/>
          <a:p>
            <a:pPr indent="0" marL="0">
              <a:buNone/>
            </a:pPr>
            <a:r>
              <a:rPr lang="en-US" sz="900" b="1" dirty="0">
                <a:solidFill>
                  <a:srgbClr val="8C650F"/>
                </a:solidFill>
                <a:latin typeface="Arial" pitchFamily="34" charset="0"/>
                <a:ea typeface="Arial" pitchFamily="34" charset="-122"/>
                <a:cs typeface="Arial" pitchFamily="34" charset="-120"/>
              </a:rPr>
              <a:t>Fusion motion/entropy</a:t>
            </a:r>
            <a:endParaRPr lang="en-US" sz="900" dirty="0"/>
          </a:p>
        </p:txBody>
      </p:sp>
      <p:pic>
        <p:nvPicPr>
          <p:cNvPr id="36" name="Media 11">
            <a:hlinkClick r:id="" action="ppaction://media"/>
          </p:cNvPr>
          <p:cNvPicPr>
            <a:picLocks noChangeAspect="1"/>
          </p:cNvPicPr>
          <p:nvPr>
            <a:videoFile r:link="rId34"/>
            <p:extLst>
              <p:ext uri="{DAA4B4D4-6D71-4841-9C94-3DE7FCFB9230}">
                <p14:media xmlns:p14="http://schemas.microsoft.com/office/powerpoint/2010/main" r:embed="rId35"/>
              </p:ext>
            </p:extLst>
          </p:nvPr>
        </p:nvPicPr>
        <p:blipFill>
          <a:blip r:embed="rId36"/>
          <a:stretch>
            <a:fillRect/>
          </a:stretch>
        </p:blipFill>
        <p:spPr>
          <a:xfrm>
            <a:off x="7543800" y="3099816"/>
            <a:ext cx="1143000" cy="1472184"/>
          </a:xfrm>
          <a:prstGeom prst="rect">
            <a:avLst/>
          </a:prstGeom>
        </p:spPr>
      </p:pic>
      <p:sp>
        <p:nvSpPr>
          <p:cNvPr id="39" name="Shape 25"/>
          <p:cNvSpPr/>
          <p:nvPr/>
        </p:nvSpPr>
        <p:spPr>
          <a:xfrm>
            <a:off x="7543800" y="3099816"/>
            <a:ext cx="1143000" cy="1472184"/>
          </a:xfrm>
          <a:prstGeom prst="rect">
            <a:avLst/>
          </a:prstGeom>
          <a:ln w="19050">
            <a:solidFill>
              <a:srgbClr val="2E8B57"/>
            </a:solidFill>
            <a:prstDash val="solid"/>
          </a:ln>
        </p:spPr>
      </p:sp>
    </p:spTree>
  </p:cSld>
  <p:clrMapOvr>
    <a:masterClrMapping/>
  </p:clrMapOvr>
  <p:transition advTm="8000">
    <p:fade/>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101" fill="hold">
                            <p:stCondLst>
                              <p:cond delay="0"/>
                            </p:stCondLst>
                            <p:childTnLst>
                              <p:par>
                                <p:cTn id="3" presetID="1" presetClass="mediacall" presetSubtype="0" fill="hold" nodeType="withEffect">
                                  <p:stCondLst>
                                    <p:cond delay="0"/>
                                  </p:stCondLst>
                                  <p:childTnLst>
                                    <p:cmd type="call" cmd="playFrom(0.0)">
                                      <p:cBhvr>
                                        <p:cTn id="4" dur="indefinite" fill="hold"/>
                                        <p:tgtEl>
                                          <p:spTgt spid="3"/>
                                        </p:tgtEl>
                                      </p:cBhvr>
                                    </p:cmd>
                                  </p:childTnLst>
                                </p:cTn>
                              </p:par>
                              <p:par>
                                <p:cTn id="5" presetID="1" presetClass="mediacall" presetSubtype="0" fill="hold" nodeType="withEffect">
                                  <p:stCondLst>
                                    <p:cond delay="0"/>
                                  </p:stCondLst>
                                  <p:childTnLst>
                                    <p:cmd type="call" cmd="playFrom(0.0)">
                                      <p:cBhvr>
                                        <p:cTn id="6" dur="indefinite" fill="hold"/>
                                        <p:tgtEl>
                                          <p:spTgt spid="6"/>
                                        </p:tgtEl>
                                      </p:cBhvr>
                                    </p:cmd>
                                  </p:childTnLst>
                                </p:cTn>
                              </p:par>
                              <p:par>
                                <p:cTn id="7" presetID="1" presetClass="mediacall" presetSubtype="0" fill="hold" nodeType="withEffect">
                                  <p:stCondLst>
                                    <p:cond delay="0"/>
                                  </p:stCondLst>
                                  <p:childTnLst>
                                    <p:cmd type="call" cmd="playFrom(0.0)">
                                      <p:cBhvr>
                                        <p:cTn id="8" dur="indefinite" fill="hold"/>
                                        <p:tgtEl>
                                          <p:spTgt spid="9"/>
                                        </p:tgtEl>
                                      </p:cBhvr>
                                    </p:cmd>
                                  </p:childTnLst>
                                </p:cTn>
                              </p:par>
                              <p:par>
                                <p:cTn id="9" presetID="1" presetClass="mediacall" presetSubtype="0" fill="hold" nodeType="withEffect">
                                  <p:stCondLst>
                                    <p:cond delay="0"/>
                                  </p:stCondLst>
                                  <p:childTnLst>
                                    <p:cmd type="call" cmd="playFrom(0.0)">
                                      <p:cBhvr>
                                        <p:cTn id="10" dur="indefinite" fill="hold"/>
                                        <p:tgtEl>
                                          <p:spTgt spid="12"/>
                                        </p:tgtEl>
                                      </p:cBhvr>
                                    </p:cmd>
                                  </p:childTnLst>
                                </p:cTn>
                              </p:par>
                              <p:par>
                                <p:cTn id="11" presetID="1" presetClass="mediacall" presetSubtype="0" fill="hold" nodeType="withEffect">
                                  <p:stCondLst>
                                    <p:cond delay="0"/>
                                  </p:stCondLst>
                                  <p:childTnLst>
                                    <p:cmd type="call" cmd="playFrom(0.0)">
                                      <p:cBhvr>
                                        <p:cTn id="12" dur="indefinite" fill="hold"/>
                                        <p:tgtEl>
                                          <p:spTgt spid="15"/>
                                        </p:tgtEl>
                                      </p:cBhvr>
                                    </p:cmd>
                                  </p:childTnLst>
                                </p:cTn>
                              </p:par>
                              <p:par>
                                <p:cTn id="13" presetID="1" presetClass="mediacall" presetSubtype="0" fill="hold" nodeType="withEffect">
                                  <p:stCondLst>
                                    <p:cond delay="0"/>
                                  </p:stCondLst>
                                  <p:childTnLst>
                                    <p:cmd type="call" cmd="playFrom(0.0)">
                                      <p:cBhvr>
                                        <p:cTn id="14" dur="indefinite" fill="hold"/>
                                        <p:tgtEl>
                                          <p:spTgt spid="18"/>
                                        </p:tgtEl>
                                      </p:cBhvr>
                                    </p:cmd>
                                  </p:childTnLst>
                                </p:cTn>
                              </p:par>
                              <p:par>
                                <p:cTn id="15" presetID="1" presetClass="mediacall" presetSubtype="0" fill="hold" nodeType="withEffect">
                                  <p:stCondLst>
                                    <p:cond delay="0"/>
                                  </p:stCondLst>
                                  <p:childTnLst>
                                    <p:cmd type="call" cmd="playFrom(0.0)">
                                      <p:cBhvr>
                                        <p:cTn id="16" dur="indefinite" fill="hold"/>
                                        <p:tgtEl>
                                          <p:spTgt spid="21"/>
                                        </p:tgtEl>
                                      </p:cBhvr>
                                    </p:cmd>
                                  </p:childTnLst>
                                </p:cTn>
                              </p:par>
                              <p:par>
                                <p:cTn id="17" presetID="1" presetClass="mediacall" presetSubtype="0" fill="hold" nodeType="withEffect">
                                  <p:stCondLst>
                                    <p:cond delay="0"/>
                                  </p:stCondLst>
                                  <p:childTnLst>
                                    <p:cmd type="call" cmd="playFrom(0.0)">
                                      <p:cBhvr>
                                        <p:cTn id="18" dur="indefinite" fill="hold"/>
                                        <p:tgtEl>
                                          <p:spTgt spid="24"/>
                                        </p:tgtEl>
                                      </p:cBhvr>
                                    </p:cmd>
                                  </p:childTnLst>
                                </p:cTn>
                              </p:par>
                              <p:par>
                                <p:cTn id="19" presetID="1" presetClass="mediacall" presetSubtype="0" fill="hold" nodeType="withEffect">
                                  <p:stCondLst>
                                    <p:cond delay="0"/>
                                  </p:stCondLst>
                                  <p:childTnLst>
                                    <p:cmd type="call" cmd="playFrom(0.0)">
                                      <p:cBhvr>
                                        <p:cTn id="20" dur="indefinite" fill="hold"/>
                                        <p:tgtEl>
                                          <p:spTgt spid="27"/>
                                        </p:tgtEl>
                                      </p:cBhvr>
                                    </p:cmd>
                                  </p:childTnLst>
                                </p:cTn>
                              </p:par>
                              <p:par>
                                <p:cTn id="21" presetID="1" presetClass="mediacall" presetSubtype="0" fill="hold" nodeType="withEffect">
                                  <p:stCondLst>
                                    <p:cond delay="0"/>
                                  </p:stCondLst>
                                  <p:childTnLst>
                                    <p:cmd type="call" cmd="playFrom(0.0)">
                                      <p:cBhvr>
                                        <p:cTn id="22" dur="indefinite" fill="hold"/>
                                        <p:tgtEl>
                                          <p:spTgt spid="30"/>
                                        </p:tgtEl>
                                      </p:cBhvr>
                                    </p:cmd>
                                  </p:childTnLst>
                                </p:cTn>
                              </p:par>
                              <p:par>
                                <p:cTn id="23" presetID="1" presetClass="mediacall" presetSubtype="0" fill="hold" nodeType="withEffect">
                                  <p:stCondLst>
                                    <p:cond delay="0"/>
                                  </p:stCondLst>
                                  <p:childTnLst>
                                    <p:cmd type="call" cmd="playFrom(0.0)">
                                      <p:cBhvr>
                                        <p:cTn id="24" dur="indefinite" fill="hold"/>
                                        <p:tgtEl>
                                          <p:spTgt spid="33"/>
                                        </p:tgtEl>
                                      </p:cBhvr>
                                    </p:cmd>
                                  </p:childTnLst>
                                </p:cTn>
                              </p:par>
                              <p:par>
                                <p:cTn id="25" presetID="1" presetClass="mediacall" presetSubtype="0" fill="hold" nodeType="withEffect">
                                  <p:stCondLst>
                                    <p:cond delay="0"/>
                                  </p:stCondLst>
                                  <p:childTnLst>
                                    <p:cmd type="call" cmd="playFrom(0.0)">
                                      <p:cBhvr>
                                        <p:cTn id="26" dur="indefinite"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fill="hold" display="0">
                  <p:stCondLst>
                    <p:cond delay="indefinite"/>
                  </p:stCondLst>
                </p:cTn>
                <p:tgtEl>
                  <p:spTgt spid="3"/>
                </p:tgtEl>
              </p:cMediaNode>
            </p:video>
            <p:video>
              <p:cMediaNode vol="80000">
                <p:cTn id="28" fill="hold" display="0">
                  <p:stCondLst>
                    <p:cond delay="indefinite"/>
                  </p:stCondLst>
                </p:cTn>
                <p:tgtEl>
                  <p:spTgt spid="6"/>
                </p:tgtEl>
              </p:cMediaNode>
            </p:video>
            <p:video>
              <p:cMediaNode vol="80000">
                <p:cTn id="29" fill="hold" display="0">
                  <p:stCondLst>
                    <p:cond delay="indefinite"/>
                  </p:stCondLst>
                </p:cTn>
                <p:tgtEl>
                  <p:spTgt spid="9"/>
                </p:tgtEl>
              </p:cMediaNode>
            </p:video>
            <p:video>
              <p:cMediaNode vol="80000">
                <p:cTn id="30" fill="hold" display="0">
                  <p:stCondLst>
                    <p:cond delay="indefinite"/>
                  </p:stCondLst>
                </p:cTn>
                <p:tgtEl>
                  <p:spTgt spid="12"/>
                </p:tgtEl>
              </p:cMediaNode>
            </p:video>
            <p:video>
              <p:cMediaNode vol="80000">
                <p:cTn id="31" fill="hold" display="0">
                  <p:stCondLst>
                    <p:cond delay="indefinite"/>
                  </p:stCondLst>
                </p:cTn>
                <p:tgtEl>
                  <p:spTgt spid="15"/>
                </p:tgtEl>
              </p:cMediaNode>
            </p:video>
            <p:video>
              <p:cMediaNode vol="80000">
                <p:cTn id="32" fill="hold" display="0">
                  <p:stCondLst>
                    <p:cond delay="indefinite"/>
                  </p:stCondLst>
                </p:cTn>
                <p:tgtEl>
                  <p:spTgt spid="18"/>
                </p:tgtEl>
              </p:cMediaNode>
            </p:video>
            <p:video>
              <p:cMediaNode vol="80000">
                <p:cTn id="33" fill="hold" display="0">
                  <p:stCondLst>
                    <p:cond delay="indefinite"/>
                  </p:stCondLst>
                </p:cTn>
                <p:tgtEl>
                  <p:spTgt spid="21"/>
                </p:tgtEl>
              </p:cMediaNode>
            </p:video>
            <p:video>
              <p:cMediaNode vol="80000">
                <p:cTn id="34" fill="hold" display="0">
                  <p:stCondLst>
                    <p:cond delay="indefinite"/>
                  </p:stCondLst>
                </p:cTn>
                <p:tgtEl>
                  <p:spTgt spid="24"/>
                </p:tgtEl>
              </p:cMediaNode>
            </p:video>
            <p:video>
              <p:cMediaNode vol="80000">
                <p:cTn id="35" fill="hold" display="0">
                  <p:stCondLst>
                    <p:cond delay="indefinite"/>
                  </p:stCondLst>
                </p:cTn>
                <p:tgtEl>
                  <p:spTgt spid="27"/>
                </p:tgtEl>
              </p:cMediaNode>
            </p:video>
            <p:video>
              <p:cMediaNode vol="80000">
                <p:cTn id="36" fill="hold" display="0">
                  <p:stCondLst>
                    <p:cond delay="indefinite"/>
                  </p:stCondLst>
                </p:cTn>
                <p:tgtEl>
                  <p:spTgt spid="30"/>
                </p:tgtEl>
              </p:cMediaNode>
            </p:video>
            <p:video>
              <p:cMediaNode vol="80000">
                <p:cTn id="37" fill="hold" display="0">
                  <p:stCondLst>
                    <p:cond delay="indefinite"/>
                  </p:stCondLst>
                </p:cTn>
                <p:tgtEl>
                  <p:spTgt spid="33"/>
                </p:tgtEl>
              </p:cMediaNode>
            </p:video>
            <p:video>
              <p:cMediaNode vol="80000">
                <p:cTn id="38" fill="hold" display="0">
                  <p:stCondLst>
                    <p:cond delay="indefinite"/>
                  </p:stCondLst>
                </p:cTn>
                <p:tgtEl>
                  <p:spTgt spid="36"/>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Which tricks preserve success?</a:t>
            </a:r>
            <a:endParaRPr lang="en-US" sz="2600" dirty="0"/>
          </a:p>
        </p:txBody>
      </p:sp>
      <p:pic>
        <p:nvPicPr>
          <p:cNvPr id="3" name="Image 0" descr="/tmp/claude-0/-home-user-BiVLA/4327cefa-ba5d-5e2e-9d87-c73dd3a8ccbb/scratchpad/video_ppt/assets/fig1_teaser_nolegend.png">    </p:cNvPr>
          <p:cNvPicPr>
            <a:picLocks noChangeAspect="1"/>
          </p:cNvPicPr>
          <p:nvPr/>
        </p:nvPicPr>
        <p:blipFill>
          <a:blip r:embed="rId1"/>
          <a:stretch>
            <a:fillRect/>
          </a:stretch>
        </p:blipFill>
        <p:spPr>
          <a:xfrm>
            <a:off x="457200" y="914400"/>
            <a:ext cx="3657600" cy="3630168"/>
          </a:xfrm>
          <a:prstGeom prst="rect">
            <a:avLst/>
          </a:prstGeom>
        </p:spPr>
      </p:pic>
      <p:sp>
        <p:nvSpPr>
          <p:cNvPr id="4" name="Shape 1"/>
          <p:cNvSpPr/>
          <p:nvPr/>
        </p:nvSpPr>
        <p:spPr>
          <a:xfrm>
            <a:off x="457200" y="4636008"/>
            <a:ext cx="146304" cy="146304"/>
          </a:xfrm>
          <a:prstGeom prst="rect">
            <a:avLst/>
          </a:prstGeom>
          <a:solidFill>
            <a:srgbClr val="222222"/>
          </a:solidFill>
          <a:ln w="12700">
            <a:solidFill>
              <a:srgbClr val="222222"/>
            </a:solidFill>
            <a:prstDash val="solid"/>
          </a:ln>
        </p:spPr>
      </p:sp>
      <p:sp>
        <p:nvSpPr>
          <p:cNvPr id="5" name="Text 2"/>
          <p:cNvSpPr txBox="1"/>
          <p:nvPr/>
        </p:nvSpPr>
        <p:spPr>
          <a:xfrm>
            <a:off x="658368" y="4590288"/>
            <a:ext cx="105156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Original</a:t>
            </a:r>
            <a:endParaRPr lang="en-US" sz="950" dirty="0"/>
          </a:p>
        </p:txBody>
      </p:sp>
      <p:sp>
        <p:nvSpPr>
          <p:cNvPr id="6" name="Shape 3"/>
          <p:cNvSpPr/>
          <p:nvPr/>
        </p:nvSpPr>
        <p:spPr>
          <a:xfrm>
            <a:off x="1737360" y="4636008"/>
            <a:ext cx="146304" cy="146304"/>
          </a:xfrm>
          <a:prstGeom prst="rect">
            <a:avLst/>
          </a:prstGeom>
          <a:solidFill>
            <a:srgbClr val="0072B2"/>
          </a:solidFill>
          <a:ln w="12700">
            <a:solidFill>
              <a:srgbClr val="0072B2"/>
            </a:solidFill>
            <a:prstDash val="solid"/>
          </a:ln>
        </p:spPr>
      </p:sp>
      <p:sp>
        <p:nvSpPr>
          <p:cNvPr id="7" name="Text 4"/>
          <p:cNvSpPr txBox="1"/>
          <p:nvPr/>
        </p:nvSpPr>
        <p:spPr>
          <a:xfrm>
            <a:off x="1938528" y="4590288"/>
            <a:ext cx="105156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Foveation</a:t>
            </a:r>
            <a:endParaRPr lang="en-US" sz="950" dirty="0"/>
          </a:p>
        </p:txBody>
      </p:sp>
      <p:sp>
        <p:nvSpPr>
          <p:cNvPr id="8" name="Shape 5"/>
          <p:cNvSpPr/>
          <p:nvPr/>
        </p:nvSpPr>
        <p:spPr>
          <a:xfrm>
            <a:off x="3017520" y="4636008"/>
            <a:ext cx="146304" cy="146304"/>
          </a:xfrm>
          <a:prstGeom prst="rect">
            <a:avLst/>
          </a:prstGeom>
          <a:solidFill>
            <a:srgbClr val="D55E00"/>
          </a:solidFill>
          <a:ln w="12700">
            <a:solidFill>
              <a:srgbClr val="D55E00"/>
            </a:solidFill>
            <a:prstDash val="solid"/>
          </a:ln>
        </p:spPr>
      </p:sp>
      <p:sp>
        <p:nvSpPr>
          <p:cNvPr id="9" name="Text 6"/>
          <p:cNvSpPr txBox="1"/>
          <p:nvPr/>
        </p:nvSpPr>
        <p:spPr>
          <a:xfrm>
            <a:off x="3218688" y="4590288"/>
            <a:ext cx="105156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Action repeat</a:t>
            </a:r>
            <a:endParaRPr lang="en-US" sz="950" dirty="0"/>
          </a:p>
        </p:txBody>
      </p:sp>
      <p:sp>
        <p:nvSpPr>
          <p:cNvPr id="10" name="Shape 7"/>
          <p:cNvSpPr/>
          <p:nvPr/>
        </p:nvSpPr>
        <p:spPr>
          <a:xfrm>
            <a:off x="457200" y="4864608"/>
            <a:ext cx="146304" cy="146304"/>
          </a:xfrm>
          <a:prstGeom prst="rect">
            <a:avLst/>
          </a:prstGeom>
          <a:solidFill>
            <a:srgbClr val="009E73"/>
          </a:solidFill>
          <a:ln w="12700">
            <a:solidFill>
              <a:srgbClr val="009E73"/>
            </a:solidFill>
            <a:prstDash val="solid"/>
          </a:ln>
        </p:spPr>
      </p:sp>
      <p:sp>
        <p:nvSpPr>
          <p:cNvPr id="11" name="Text 8"/>
          <p:cNvSpPr txBox="1"/>
          <p:nvPr/>
        </p:nvSpPr>
        <p:spPr>
          <a:xfrm>
            <a:off x="658368" y="4818888"/>
            <a:ext cx="105156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Depth pruning</a:t>
            </a:r>
            <a:endParaRPr lang="en-US" sz="950" dirty="0"/>
          </a:p>
        </p:txBody>
      </p:sp>
      <p:sp>
        <p:nvSpPr>
          <p:cNvPr id="12" name="Shape 9"/>
          <p:cNvSpPr/>
          <p:nvPr/>
        </p:nvSpPr>
        <p:spPr>
          <a:xfrm>
            <a:off x="1737360" y="4864608"/>
            <a:ext cx="146304" cy="146304"/>
          </a:xfrm>
          <a:prstGeom prst="rect">
            <a:avLst/>
          </a:prstGeom>
          <a:solidFill>
            <a:srgbClr val="CC79A7"/>
          </a:solidFill>
          <a:ln w="12700">
            <a:solidFill>
              <a:srgbClr val="CC79A7"/>
            </a:solidFill>
            <a:prstDash val="solid"/>
          </a:ln>
        </p:spPr>
      </p:sp>
      <p:sp>
        <p:nvSpPr>
          <p:cNvPr id="13" name="Text 10"/>
          <p:cNvSpPr txBox="1"/>
          <p:nvPr/>
        </p:nvSpPr>
        <p:spPr>
          <a:xfrm>
            <a:off x="1938528" y="4818888"/>
            <a:ext cx="105156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Guarded reuse</a:t>
            </a:r>
            <a:endParaRPr lang="en-US" sz="950" dirty="0"/>
          </a:p>
        </p:txBody>
      </p:sp>
      <p:sp>
        <p:nvSpPr>
          <p:cNvPr id="14" name="Shape 11"/>
          <p:cNvSpPr/>
          <p:nvPr/>
        </p:nvSpPr>
        <p:spPr>
          <a:xfrm>
            <a:off x="3017520" y="4864608"/>
            <a:ext cx="146304" cy="146304"/>
          </a:xfrm>
          <a:prstGeom prst="rect">
            <a:avLst/>
          </a:prstGeom>
          <a:solidFill>
            <a:srgbClr val="8C650F"/>
          </a:solidFill>
          <a:ln w="12700">
            <a:solidFill>
              <a:srgbClr val="8C650F"/>
            </a:solidFill>
            <a:prstDash val="solid"/>
          </a:ln>
        </p:spPr>
      </p:sp>
      <p:sp>
        <p:nvSpPr>
          <p:cNvPr id="15" name="Text 12"/>
          <p:cNvSpPr txBox="1"/>
          <p:nvPr/>
        </p:nvSpPr>
        <p:spPr>
          <a:xfrm>
            <a:off x="3218688" y="4818888"/>
            <a:ext cx="105156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Temporal fusion</a:t>
            </a:r>
            <a:endParaRPr lang="en-US" sz="950" dirty="0"/>
          </a:p>
        </p:txBody>
      </p:sp>
      <p:sp>
        <p:nvSpPr>
          <p:cNvPr id="16" name="Shape 13"/>
          <p:cNvSpPr/>
          <p:nvPr/>
        </p:nvSpPr>
        <p:spPr>
          <a:xfrm>
            <a:off x="4480560" y="1005840"/>
            <a:ext cx="1234440" cy="365760"/>
          </a:xfrm>
          <a:prstGeom prst="roundRect">
            <a:avLst>
              <a:gd name="adj" fmla="val 25000"/>
            </a:avLst>
          </a:prstGeom>
          <a:solidFill>
            <a:srgbClr val="16213A"/>
          </a:solidFill>
          <a:ln w="12700">
            <a:solidFill>
              <a:srgbClr val="16213A"/>
            </a:solidFill>
            <a:prstDash val="solid"/>
          </a:ln>
        </p:spPr>
      </p:sp>
      <p:sp>
        <p:nvSpPr>
          <p:cNvPr id="17" name="Text 14"/>
          <p:cNvSpPr txBox="1"/>
          <p:nvPr/>
        </p:nvSpPr>
        <p:spPr>
          <a:xfrm>
            <a:off x="4480560" y="1005840"/>
            <a:ext cx="1234440" cy="365760"/>
          </a:xfrm>
          <a:prstGeom prst="rect">
            <a:avLst/>
          </a:prstGeom>
          <a:noFill/>
          <a:ln/>
        </p:spPr>
        <p:txBody>
          <a:bodyPr wrap="square" lIns="0" tIns="0" rIns="0" bIns="0" rtlCol="0" anchor="ctr"/>
          <a:lstStyle/>
          <a:p>
            <a:pPr algn="ctr" indent="0" marL="0">
              <a:buNone/>
            </a:pPr>
            <a:r>
              <a:rPr lang="en-US" sz="1100" b="1" dirty="0">
                <a:solidFill>
                  <a:srgbClr val="F5F7FA"/>
                </a:solidFill>
                <a:latin typeface="Arial" pitchFamily="34" charset="0"/>
                <a:ea typeface="Arial" pitchFamily="34" charset="-122"/>
                <a:cs typeface="Arial" pitchFamily="34" charset="-120"/>
              </a:rPr>
              <a:t>Q1  Success</a:t>
            </a:r>
            <a:endParaRPr lang="en-US" sz="1100" dirty="0"/>
          </a:p>
        </p:txBody>
      </p:sp>
      <p:sp>
        <p:nvSpPr>
          <p:cNvPr id="18" name="Text 15"/>
          <p:cNvSpPr txBox="1"/>
          <p:nvPr/>
        </p:nvSpPr>
        <p:spPr>
          <a:xfrm>
            <a:off x="5806440" y="914400"/>
            <a:ext cx="2880360" cy="59436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Guarded reuse and temporal fusion are the safest for preserving success.</a:t>
            </a:r>
            <a:endParaRPr lang="en-US" sz="1350" dirty="0"/>
          </a:p>
        </p:txBody>
      </p:sp>
      <p:sp>
        <p:nvSpPr>
          <p:cNvPr id="19" name="Text 16"/>
          <p:cNvSpPr txBox="1"/>
          <p:nvPr/>
        </p:nvSpPr>
        <p:spPr>
          <a:xfrm>
            <a:off x="4480560" y="1691640"/>
            <a:ext cx="4206240" cy="274320"/>
          </a:xfrm>
          <a:prstGeom prst="rect">
            <a:avLst/>
          </a:prstGeom>
          <a:noFill/>
          <a:ln/>
        </p:spPr>
        <p:txBody>
          <a:bodyPr wrap="square" lIns="0" tIns="0" rIns="0" bIns="0" rtlCol="0" anchor="t"/>
          <a:lstStyle/>
          <a:p>
            <a:pPr algn="l" indent="0" marL="0">
              <a:buNone/>
            </a:pPr>
            <a:r>
              <a:rPr lang="en-US" sz="1150" dirty="0">
                <a:solidFill>
                  <a:srgbClr val="1F2933"/>
                </a:solidFill>
                <a:latin typeface="Arial" pitchFamily="34" charset="0"/>
                <a:ea typeface="Arial" pitchFamily="34" charset="-122"/>
                <a:cs typeface="Arial" pitchFamily="34" charset="-120"/>
              </a:rPr>
              <a:t>Selected backbones also gain:</a:t>
            </a:r>
            <a:endParaRPr lang="en-US" sz="1150" dirty="0"/>
          </a:p>
        </p:txBody>
      </p:sp>
      <p:sp>
        <p:nvSpPr>
          <p:cNvPr id="20" name="Shape 17"/>
          <p:cNvSpPr/>
          <p:nvPr/>
        </p:nvSpPr>
        <p:spPr>
          <a:xfrm>
            <a:off x="4480560" y="1965960"/>
            <a:ext cx="4206240" cy="384048"/>
          </a:xfrm>
          <a:prstGeom prst="roundRect">
            <a:avLst>
              <a:gd name="adj" fmla="val 23810"/>
            </a:avLst>
          </a:prstGeom>
          <a:solidFill>
            <a:srgbClr val="DFF1E6"/>
          </a:solidFill>
          <a:ln w="12700">
            <a:solidFill>
              <a:srgbClr val="DFF1E6"/>
            </a:solidFill>
            <a:prstDash val="solid"/>
          </a:ln>
        </p:spPr>
      </p:sp>
      <p:sp>
        <p:nvSpPr>
          <p:cNvPr id="21" name="Text 18"/>
          <p:cNvSpPr txBox="1"/>
          <p:nvPr/>
        </p:nvSpPr>
        <p:spPr>
          <a:xfrm>
            <a:off x="4480560" y="1965960"/>
            <a:ext cx="4206240" cy="384048"/>
          </a:xfrm>
          <a:prstGeom prst="rect">
            <a:avLst/>
          </a:prstGeom>
          <a:noFill/>
          <a:ln/>
        </p:spPr>
        <p:txBody>
          <a:bodyPr wrap="square" lIns="0" tIns="0" rIns="0" bIns="0" rtlCol="0" anchor="ctr"/>
          <a:lstStyle/>
          <a:p>
            <a:pPr algn="ctr" indent="0" marL="0">
              <a:buNone/>
            </a:pPr>
            <a:r>
              <a:rPr lang="en-US" sz="1050" b="1" dirty="0">
                <a:solidFill>
                  <a:srgbClr val="2E8B57"/>
                </a:solidFill>
                <a:latin typeface="Arial" pitchFamily="34" charset="0"/>
                <a:ea typeface="Arial" pitchFamily="34" charset="-122"/>
                <a:cs typeface="Arial" pitchFamily="34" charset="-120"/>
              </a:rPr>
              <a:t>Foveation, WidowX: CogACT +2.5 · SpatialVLA +5.0 · CronusVLA +2.5</a:t>
            </a:r>
            <a:endParaRPr lang="en-US" sz="1050" dirty="0"/>
          </a:p>
        </p:txBody>
      </p:sp>
      <p:sp>
        <p:nvSpPr>
          <p:cNvPr id="22" name="Shape 19"/>
          <p:cNvSpPr/>
          <p:nvPr/>
        </p:nvSpPr>
        <p:spPr>
          <a:xfrm>
            <a:off x="4480560" y="2423160"/>
            <a:ext cx="4206240" cy="384048"/>
          </a:xfrm>
          <a:prstGeom prst="roundRect">
            <a:avLst>
              <a:gd name="adj" fmla="val 23810"/>
            </a:avLst>
          </a:prstGeom>
          <a:solidFill>
            <a:srgbClr val="DFF1E6"/>
          </a:solidFill>
          <a:ln w="12700">
            <a:solidFill>
              <a:srgbClr val="DFF1E6"/>
            </a:solidFill>
            <a:prstDash val="solid"/>
          </a:ln>
        </p:spPr>
      </p:sp>
      <p:sp>
        <p:nvSpPr>
          <p:cNvPr id="23" name="Text 20"/>
          <p:cNvSpPr txBox="1"/>
          <p:nvPr/>
        </p:nvSpPr>
        <p:spPr>
          <a:xfrm>
            <a:off x="4480560" y="2423160"/>
            <a:ext cx="4206240" cy="384048"/>
          </a:xfrm>
          <a:prstGeom prst="rect">
            <a:avLst/>
          </a:prstGeom>
          <a:noFill/>
          <a:ln/>
        </p:spPr>
        <p:txBody>
          <a:bodyPr wrap="square" lIns="0" tIns="0" rIns="0" bIns="0" rtlCol="0" anchor="ctr"/>
          <a:lstStyle/>
          <a:p>
            <a:pPr algn="ctr" indent="0" marL="0">
              <a:buNone/>
            </a:pPr>
            <a:r>
              <a:rPr lang="en-US" sz="1100" b="1" dirty="0">
                <a:solidFill>
                  <a:srgbClr val="2E8B57"/>
                </a:solidFill>
                <a:latin typeface="Arial" pitchFamily="34" charset="0"/>
                <a:ea typeface="Arial" pitchFamily="34" charset="-122"/>
                <a:cs typeface="Arial" pitchFamily="34" charset="-120"/>
              </a:rPr>
              <a:t>Depth pruning, WidowX: CogACT +9.5</a:t>
            </a:r>
            <a:endParaRPr lang="en-US" sz="1100" dirty="0"/>
          </a:p>
        </p:txBody>
      </p:sp>
      <p:sp>
        <p:nvSpPr>
          <p:cNvPr id="24" name="Text 21"/>
          <p:cNvSpPr txBox="1"/>
          <p:nvPr/>
        </p:nvSpPr>
        <p:spPr>
          <a:xfrm>
            <a:off x="4480560" y="2926080"/>
            <a:ext cx="4206240" cy="274320"/>
          </a:xfrm>
          <a:prstGeom prst="rect">
            <a:avLst/>
          </a:prstGeom>
          <a:noFill/>
          <a:ln/>
        </p:spPr>
        <p:txBody>
          <a:bodyPr wrap="square" lIns="0" tIns="0" rIns="0" bIns="0" rtlCol="0" anchor="t"/>
          <a:lstStyle/>
          <a:p>
            <a:pPr algn="l" indent="0" marL="0">
              <a:buNone/>
            </a:pPr>
            <a:r>
              <a:rPr lang="en-US" sz="1150" dirty="0">
                <a:solidFill>
                  <a:srgbClr val="1F2933"/>
                </a:solidFill>
                <a:latin typeface="Arial" pitchFamily="34" charset="0"/>
                <a:ea typeface="Arial" pitchFamily="34" charset="-122"/>
                <a:cs typeface="Arial" pitchFamily="34" charset="-120"/>
              </a:rPr>
              <a:t>Backbone-dependent:</a:t>
            </a:r>
            <a:endParaRPr lang="en-US" sz="1150" dirty="0"/>
          </a:p>
        </p:txBody>
      </p:sp>
      <p:sp>
        <p:nvSpPr>
          <p:cNvPr id="25" name="Shape 22"/>
          <p:cNvSpPr/>
          <p:nvPr/>
        </p:nvSpPr>
        <p:spPr>
          <a:xfrm>
            <a:off x="4480560" y="3200400"/>
            <a:ext cx="4206240" cy="384048"/>
          </a:xfrm>
          <a:prstGeom prst="roundRect">
            <a:avLst>
              <a:gd name="adj" fmla="val 23810"/>
            </a:avLst>
          </a:prstGeom>
          <a:solidFill>
            <a:srgbClr val="F9E6D8"/>
          </a:solidFill>
          <a:ln w="12700">
            <a:solidFill>
              <a:srgbClr val="F9E6D8"/>
            </a:solidFill>
            <a:prstDash val="solid"/>
          </a:ln>
        </p:spPr>
      </p:sp>
      <p:sp>
        <p:nvSpPr>
          <p:cNvPr id="26" name="Text 23"/>
          <p:cNvSpPr txBox="1"/>
          <p:nvPr/>
        </p:nvSpPr>
        <p:spPr>
          <a:xfrm>
            <a:off x="4480560" y="3200400"/>
            <a:ext cx="4206240" cy="384048"/>
          </a:xfrm>
          <a:prstGeom prst="rect">
            <a:avLst/>
          </a:prstGeom>
          <a:noFill/>
          <a:ln/>
        </p:spPr>
        <p:txBody>
          <a:bodyPr wrap="square" lIns="0" tIns="0" rIns="0" bIns="0" rtlCol="0" anchor="ctr"/>
          <a:lstStyle/>
          <a:p>
            <a:pPr algn="ctr" indent="0" marL="0">
              <a:buNone/>
            </a:pPr>
            <a:r>
              <a:rPr lang="en-US" sz="1100" b="1" dirty="0">
                <a:solidFill>
                  <a:srgbClr val="C8641E"/>
                </a:solidFill>
                <a:latin typeface="Arial" pitchFamily="34" charset="0"/>
                <a:ea typeface="Arial" pitchFamily="34" charset="-122"/>
                <a:cs typeface="Arial" pitchFamily="34" charset="-120"/>
              </a:rPr>
              <a:t>Foveation, LIBERO Goal: UniVLA +7.0  vs  SmolVLA −13.0</a:t>
            </a:r>
            <a:endParaRPr lang="en-US" sz="1100" dirty="0"/>
          </a:p>
        </p:txBody>
      </p:sp>
      <p:sp>
        <p:nvSpPr>
          <p:cNvPr id="27" name="Shape 24"/>
          <p:cNvSpPr/>
          <p:nvPr/>
        </p:nvSpPr>
        <p:spPr>
          <a:xfrm>
            <a:off x="4480560" y="3657600"/>
            <a:ext cx="4206240" cy="384048"/>
          </a:xfrm>
          <a:prstGeom prst="roundRect">
            <a:avLst>
              <a:gd name="adj" fmla="val 23810"/>
            </a:avLst>
          </a:prstGeom>
          <a:solidFill>
            <a:srgbClr val="F3F5F7"/>
          </a:solidFill>
          <a:ln w="12700">
            <a:solidFill>
              <a:srgbClr val="F3F5F7"/>
            </a:solidFill>
            <a:prstDash val="solid"/>
          </a:ln>
        </p:spPr>
      </p:sp>
      <p:sp>
        <p:nvSpPr>
          <p:cNvPr id="28" name="Text 25"/>
          <p:cNvSpPr txBox="1"/>
          <p:nvPr/>
        </p:nvSpPr>
        <p:spPr>
          <a:xfrm>
            <a:off x="4480560" y="3657600"/>
            <a:ext cx="4206240" cy="384048"/>
          </a:xfrm>
          <a:prstGeom prst="rect">
            <a:avLst/>
          </a:prstGeom>
          <a:noFill/>
          <a:ln/>
        </p:spPr>
        <p:txBody>
          <a:bodyPr wrap="square" lIns="0" tIns="0" rIns="0" bIns="0" rtlCol="0" anchor="ctr"/>
          <a:lstStyle/>
          <a:p>
            <a:pPr algn="ctr" indent="0" marL="0">
              <a:buNone/>
            </a:pPr>
            <a:r>
              <a:rPr lang="en-US" sz="1100" b="1" dirty="0">
                <a:solidFill>
                  <a:srgbClr val="1F2933"/>
                </a:solidFill>
                <a:latin typeface="Arial" pitchFamily="34" charset="0"/>
                <a:ea typeface="Arial" pitchFamily="34" charset="-122"/>
                <a:cs typeface="Arial" pitchFamily="34" charset="-120"/>
              </a:rPr>
              <a:t>Action repeat: mainly a speed baseline</a:t>
            </a:r>
            <a:endParaRPr lang="en-US" sz="1100" dirty="0"/>
          </a:p>
        </p:txBody>
      </p:sp>
      <p:sp>
        <p:nvSpPr>
          <p:cNvPr id="29" name="Text 26"/>
          <p:cNvSpPr txBox="1"/>
          <p:nvPr/>
        </p:nvSpPr>
        <p:spPr>
          <a:xfrm>
            <a:off x="4480560" y="4160520"/>
            <a:ext cx="4206240" cy="640080"/>
          </a:xfrm>
          <a:prstGeom prst="rect">
            <a:avLst/>
          </a:prstGeom>
          <a:noFill/>
          <a:ln/>
        </p:spPr>
        <p:txBody>
          <a:bodyPr wrap="square" lIns="0" tIns="0" rIns="0" bIns="0" rtlCol="0" anchor="t"/>
          <a:lstStyle/>
          <a:p>
            <a:pPr algn="l" indent="0" marL="0">
              <a:buNone/>
            </a:pPr>
            <a:r>
              <a:rPr lang="en-US" sz="950" dirty="0">
                <a:solidFill>
                  <a:srgbClr val="5F6B7A"/>
                </a:solidFill>
                <a:latin typeface="Arial" pitchFamily="34" charset="0"/>
                <a:ea typeface="Arial" pitchFamily="34" charset="-122"/>
                <a:cs typeface="Arial" pitchFamily="34" charset="-120"/>
              </a:rPr>
              <a:t>Fig. 1: success per configuration, six WidowX backbones (14 bars each, darker to lighter within a trick). Dotted line = original policy, 0 = no successful episodes. Deltas from Tables I and II, best setting per trick.</a:t>
            </a:r>
            <a:endParaRPr lang="en-US" sz="950" dirty="0"/>
          </a:p>
        </p:txBody>
      </p:sp>
    </p:spTree>
  </p:cSld>
  <p:clrMapOvr>
    <a:masterClrMapping/>
  </p:clrMapOvr>
  <p:transition advTm="12000">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Which tricks are actually faster?</a:t>
            </a:r>
            <a:endParaRPr lang="en-US" sz="2600" dirty="0"/>
          </a:p>
        </p:txBody>
      </p:sp>
      <p:pic>
        <p:nvPicPr>
          <p:cNvPr id="3" name="Image 0" descr="/tmp/claude-0/-home-user-BiVLA/4327cefa-ba5d-5e2e-9d87-c73dd3a8ccbb/scratchpad/video_ppt/assets/fig4_paper_nolegend.png">    </p:cNvPr>
          <p:cNvPicPr>
            <a:picLocks noChangeAspect="1"/>
          </p:cNvPicPr>
          <p:nvPr/>
        </p:nvPicPr>
        <p:blipFill>
          <a:blip r:embed="rId1"/>
          <a:stretch>
            <a:fillRect/>
          </a:stretch>
        </p:blipFill>
        <p:spPr>
          <a:xfrm>
            <a:off x="365760" y="868680"/>
            <a:ext cx="4297680" cy="3520440"/>
          </a:xfrm>
          <a:prstGeom prst="rect">
            <a:avLst/>
          </a:prstGeom>
        </p:spPr>
      </p:pic>
      <p:sp>
        <p:nvSpPr>
          <p:cNvPr id="4" name="Shape 1"/>
          <p:cNvSpPr/>
          <p:nvPr/>
        </p:nvSpPr>
        <p:spPr>
          <a:xfrm>
            <a:off x="457200" y="4480560"/>
            <a:ext cx="146304" cy="146304"/>
          </a:xfrm>
          <a:prstGeom prst="rect">
            <a:avLst/>
          </a:prstGeom>
          <a:solidFill>
            <a:srgbClr val="222222"/>
          </a:solidFill>
          <a:ln w="12700">
            <a:solidFill>
              <a:srgbClr val="222222"/>
            </a:solidFill>
            <a:prstDash val="solid"/>
          </a:ln>
        </p:spPr>
      </p:sp>
      <p:sp>
        <p:nvSpPr>
          <p:cNvPr id="5" name="Text 2"/>
          <p:cNvSpPr txBox="1"/>
          <p:nvPr/>
        </p:nvSpPr>
        <p:spPr>
          <a:xfrm>
            <a:off x="658368" y="4434840"/>
            <a:ext cx="118872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Original</a:t>
            </a:r>
            <a:endParaRPr lang="en-US" sz="950" dirty="0"/>
          </a:p>
        </p:txBody>
      </p:sp>
      <p:sp>
        <p:nvSpPr>
          <p:cNvPr id="6" name="Shape 3"/>
          <p:cNvSpPr/>
          <p:nvPr/>
        </p:nvSpPr>
        <p:spPr>
          <a:xfrm>
            <a:off x="1874520" y="4480560"/>
            <a:ext cx="146304" cy="146304"/>
          </a:xfrm>
          <a:prstGeom prst="rect">
            <a:avLst/>
          </a:prstGeom>
          <a:solidFill>
            <a:srgbClr val="0072B2"/>
          </a:solidFill>
          <a:ln w="12700">
            <a:solidFill>
              <a:srgbClr val="0072B2"/>
            </a:solidFill>
            <a:prstDash val="solid"/>
          </a:ln>
        </p:spPr>
      </p:sp>
      <p:sp>
        <p:nvSpPr>
          <p:cNvPr id="7" name="Text 4"/>
          <p:cNvSpPr txBox="1"/>
          <p:nvPr/>
        </p:nvSpPr>
        <p:spPr>
          <a:xfrm>
            <a:off x="2075688" y="4434840"/>
            <a:ext cx="118872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Foveation</a:t>
            </a:r>
            <a:endParaRPr lang="en-US" sz="950" dirty="0"/>
          </a:p>
        </p:txBody>
      </p:sp>
      <p:sp>
        <p:nvSpPr>
          <p:cNvPr id="8" name="Shape 5"/>
          <p:cNvSpPr/>
          <p:nvPr/>
        </p:nvSpPr>
        <p:spPr>
          <a:xfrm>
            <a:off x="3291840" y="4480560"/>
            <a:ext cx="146304" cy="146304"/>
          </a:xfrm>
          <a:prstGeom prst="rect">
            <a:avLst/>
          </a:prstGeom>
          <a:solidFill>
            <a:srgbClr val="D55E00"/>
          </a:solidFill>
          <a:ln w="12700">
            <a:solidFill>
              <a:srgbClr val="D55E00"/>
            </a:solidFill>
            <a:prstDash val="solid"/>
          </a:ln>
        </p:spPr>
      </p:sp>
      <p:sp>
        <p:nvSpPr>
          <p:cNvPr id="9" name="Text 6"/>
          <p:cNvSpPr txBox="1"/>
          <p:nvPr/>
        </p:nvSpPr>
        <p:spPr>
          <a:xfrm>
            <a:off x="3493008" y="4434840"/>
            <a:ext cx="118872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Action repeat</a:t>
            </a:r>
            <a:endParaRPr lang="en-US" sz="950" dirty="0"/>
          </a:p>
        </p:txBody>
      </p:sp>
      <p:sp>
        <p:nvSpPr>
          <p:cNvPr id="10" name="Shape 7"/>
          <p:cNvSpPr/>
          <p:nvPr/>
        </p:nvSpPr>
        <p:spPr>
          <a:xfrm>
            <a:off x="457200" y="4709160"/>
            <a:ext cx="146304" cy="146304"/>
          </a:xfrm>
          <a:prstGeom prst="rect">
            <a:avLst/>
          </a:prstGeom>
          <a:solidFill>
            <a:srgbClr val="009E73"/>
          </a:solidFill>
          <a:ln w="12700">
            <a:solidFill>
              <a:srgbClr val="009E73"/>
            </a:solidFill>
            <a:prstDash val="solid"/>
          </a:ln>
        </p:spPr>
      </p:sp>
      <p:sp>
        <p:nvSpPr>
          <p:cNvPr id="11" name="Text 8"/>
          <p:cNvSpPr txBox="1"/>
          <p:nvPr/>
        </p:nvSpPr>
        <p:spPr>
          <a:xfrm>
            <a:off x="658368" y="4663440"/>
            <a:ext cx="118872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Depth pruning</a:t>
            </a:r>
            <a:endParaRPr lang="en-US" sz="950" dirty="0"/>
          </a:p>
        </p:txBody>
      </p:sp>
      <p:sp>
        <p:nvSpPr>
          <p:cNvPr id="12" name="Shape 9"/>
          <p:cNvSpPr/>
          <p:nvPr/>
        </p:nvSpPr>
        <p:spPr>
          <a:xfrm>
            <a:off x="1874520" y="4709160"/>
            <a:ext cx="146304" cy="146304"/>
          </a:xfrm>
          <a:prstGeom prst="rect">
            <a:avLst/>
          </a:prstGeom>
          <a:solidFill>
            <a:srgbClr val="CC79A7"/>
          </a:solidFill>
          <a:ln w="12700">
            <a:solidFill>
              <a:srgbClr val="CC79A7"/>
            </a:solidFill>
            <a:prstDash val="solid"/>
          </a:ln>
        </p:spPr>
      </p:sp>
      <p:sp>
        <p:nvSpPr>
          <p:cNvPr id="13" name="Text 10"/>
          <p:cNvSpPr txBox="1"/>
          <p:nvPr/>
        </p:nvSpPr>
        <p:spPr>
          <a:xfrm>
            <a:off x="2075688" y="4663440"/>
            <a:ext cx="118872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Guarded reuse</a:t>
            </a:r>
            <a:endParaRPr lang="en-US" sz="950" dirty="0"/>
          </a:p>
        </p:txBody>
      </p:sp>
      <p:sp>
        <p:nvSpPr>
          <p:cNvPr id="14" name="Shape 11"/>
          <p:cNvSpPr/>
          <p:nvPr/>
        </p:nvSpPr>
        <p:spPr>
          <a:xfrm>
            <a:off x="3291840" y="4709160"/>
            <a:ext cx="146304" cy="146304"/>
          </a:xfrm>
          <a:prstGeom prst="rect">
            <a:avLst/>
          </a:prstGeom>
          <a:solidFill>
            <a:srgbClr val="8C650F"/>
          </a:solidFill>
          <a:ln w="12700">
            <a:solidFill>
              <a:srgbClr val="8C650F"/>
            </a:solidFill>
            <a:prstDash val="solid"/>
          </a:ln>
        </p:spPr>
      </p:sp>
      <p:sp>
        <p:nvSpPr>
          <p:cNvPr id="15" name="Text 12"/>
          <p:cNvSpPr txBox="1"/>
          <p:nvPr/>
        </p:nvSpPr>
        <p:spPr>
          <a:xfrm>
            <a:off x="3493008" y="4663440"/>
            <a:ext cx="118872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Temporal fusion</a:t>
            </a:r>
            <a:endParaRPr lang="en-US" sz="950" dirty="0"/>
          </a:p>
        </p:txBody>
      </p:sp>
      <p:sp>
        <p:nvSpPr>
          <p:cNvPr id="16" name="Text 13"/>
          <p:cNvSpPr txBox="1"/>
          <p:nvPr/>
        </p:nvSpPr>
        <p:spPr>
          <a:xfrm>
            <a:off x="4937760" y="868680"/>
            <a:ext cx="3749040" cy="64008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Fig. 4, SimplerEnv WidowX. Star = original, shaded = faster and no worse. Colour = trick; circle, square, triangle = first, second, third setting of that trick.</a:t>
            </a:r>
            <a:endParaRPr lang="en-US" sz="1000" dirty="0"/>
          </a:p>
        </p:txBody>
      </p:sp>
      <p:sp>
        <p:nvSpPr>
          <p:cNvPr id="17" name="Shape 14"/>
          <p:cNvSpPr/>
          <p:nvPr/>
        </p:nvSpPr>
        <p:spPr>
          <a:xfrm>
            <a:off x="4937760" y="1600200"/>
            <a:ext cx="1234440" cy="365760"/>
          </a:xfrm>
          <a:prstGeom prst="roundRect">
            <a:avLst>
              <a:gd name="adj" fmla="val 25000"/>
            </a:avLst>
          </a:prstGeom>
          <a:solidFill>
            <a:srgbClr val="16213A"/>
          </a:solidFill>
          <a:ln w="12700">
            <a:solidFill>
              <a:srgbClr val="16213A"/>
            </a:solidFill>
            <a:prstDash val="solid"/>
          </a:ln>
        </p:spPr>
      </p:sp>
      <p:sp>
        <p:nvSpPr>
          <p:cNvPr id="18" name="Text 15"/>
          <p:cNvSpPr txBox="1"/>
          <p:nvPr/>
        </p:nvSpPr>
        <p:spPr>
          <a:xfrm>
            <a:off x="4937760" y="1600200"/>
            <a:ext cx="1234440" cy="365760"/>
          </a:xfrm>
          <a:prstGeom prst="rect">
            <a:avLst/>
          </a:prstGeom>
          <a:noFill/>
          <a:ln/>
        </p:spPr>
        <p:txBody>
          <a:bodyPr wrap="square" lIns="0" tIns="0" rIns="0" bIns="0" rtlCol="0" anchor="ctr"/>
          <a:lstStyle/>
          <a:p>
            <a:pPr algn="ctr" indent="0" marL="0">
              <a:buNone/>
            </a:pPr>
            <a:r>
              <a:rPr lang="en-US" sz="1100" b="1" dirty="0">
                <a:solidFill>
                  <a:srgbClr val="F5F7FA"/>
                </a:solidFill>
                <a:latin typeface="Arial" pitchFamily="34" charset="0"/>
                <a:ea typeface="Arial" pitchFamily="34" charset="-122"/>
                <a:cs typeface="Arial" pitchFamily="34" charset="-120"/>
              </a:rPr>
              <a:t>Q2  Speed</a:t>
            </a:r>
            <a:endParaRPr lang="en-US" sz="1100" dirty="0"/>
          </a:p>
        </p:txBody>
      </p:sp>
      <p:sp>
        <p:nvSpPr>
          <p:cNvPr id="19" name="Text 16"/>
          <p:cNvSpPr txBox="1"/>
          <p:nvPr/>
        </p:nvSpPr>
        <p:spPr>
          <a:xfrm>
            <a:off x="4937760" y="2057400"/>
            <a:ext cx="3749040" cy="822960"/>
          </a:xfrm>
          <a:prstGeom prst="rect">
            <a:avLst/>
          </a:prstGeom>
          <a:noFill/>
          <a:ln/>
        </p:spPr>
        <p:txBody>
          <a:bodyPr wrap="square" lIns="0" tIns="0" rIns="0" bIns="0" rtlCol="0" anchor="t"/>
          <a:lstStyle/>
          <a:p>
            <a:pPr indent="0" marL="0">
              <a:buNone/>
            </a:pPr>
            <a:r>
              <a:rPr lang="en-US" sz="1200" b="1" dirty="0">
                <a:solidFill>
                  <a:srgbClr val="1F2933"/>
                </a:solidFill>
                <a:latin typeface="Arial" pitchFamily="34" charset="0"/>
                <a:ea typeface="Arial" pitchFamily="34" charset="-122"/>
                <a:cs typeface="Arial" pitchFamily="34" charset="-120"/>
              </a:rPr>
              <a:t>Action repeat gives the largest speedup, depth pruning gives decoder-level savings, guarded reuse gives the safest trade-off.</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937760" y="3063240"/>
          <a:ext cx="3749040" cy="914400"/>
        </p:xfrm>
        <a:graphic>
          <a:graphicData uri="http://schemas.openxmlformats.org/drawingml/2006/table">
            <a:tbl>
              <a:tblPr/>
              <a:tblGrid>
                <a:gridCol w="2331720"/>
                <a:gridCol w="1417320"/>
              </a:tblGrid>
              <a:tr h="274320">
                <a:tc>
                  <a:txBody>
                    <a:bodyPr/>
                    <a:lstStyle/>
                    <a:p>
                      <a:pPr indent="0" marL="0">
                        <a:buNone/>
                      </a:pPr>
                      <a:r>
                        <a:rPr lang="en-US" sz="1000" b="1" dirty="0">
                          <a:solidFill>
                            <a:srgbClr val="FFFFFF"/>
                          </a:solidFill>
                          <a:latin typeface="Arial" pitchFamily="34" charset="0"/>
                          <a:ea typeface="Arial" pitchFamily="34" charset="-122"/>
                          <a:cs typeface="Arial" pitchFamily="34" charset="-120"/>
                        </a:rPr>
                        <a:t>Latency, ms per step</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Original → trick</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r>
              <a:tr h="274320">
                <a:tc>
                  <a:txBody>
                    <a:bodyPr/>
                    <a:lstStyle/>
                    <a:p>
                      <a:pPr indent="0" marL="0">
                        <a:buNone/>
                      </a:pPr>
                      <a:r>
                        <a:rPr lang="en-US" sz="1000" dirty="0">
                          <a:solidFill>
                            <a:srgbClr val="1F2933"/>
                          </a:solidFill>
                          <a:latin typeface="Arial" pitchFamily="34" charset="0"/>
                          <a:ea typeface="Arial" pitchFamily="34" charset="-122"/>
                          <a:cs typeface="Arial" pitchFamily="34" charset="-120"/>
                        </a:rPr>
                        <a:t>Repeat · SpatialVLA WidowX</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1000" b="1" dirty="0">
                          <a:solidFill>
                            <a:srgbClr val="C8641E"/>
                          </a:solidFill>
                          <a:latin typeface="Arial" pitchFamily="34" charset="0"/>
                          <a:ea typeface="Arial" pitchFamily="34" charset="-122"/>
                          <a:cs typeface="Arial" pitchFamily="34" charset="-120"/>
                        </a:rPr>
                        <a:t>423.5 → 235.1</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r h="274320">
                <a:tc>
                  <a:txBody>
                    <a:bodyPr/>
                    <a:lstStyle/>
                    <a:p>
                      <a:pPr indent="0" marL="0">
                        <a:buNone/>
                      </a:pPr>
                      <a:r>
                        <a:rPr lang="en-US" sz="1000" dirty="0">
                          <a:solidFill>
                            <a:srgbClr val="1F2933"/>
                          </a:solidFill>
                          <a:latin typeface="Arial" pitchFamily="34" charset="0"/>
                          <a:ea typeface="Arial" pitchFamily="34" charset="-122"/>
                          <a:cs typeface="Arial" pitchFamily="34" charset="-120"/>
                        </a:rPr>
                        <a:t>Repeat · OpenVLA LIBERO Long</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1000" b="1" dirty="0">
                          <a:solidFill>
                            <a:srgbClr val="C8641E"/>
                          </a:solidFill>
                          <a:latin typeface="Arial" pitchFamily="34" charset="0"/>
                          <a:ea typeface="Arial" pitchFamily="34" charset="-122"/>
                          <a:cs typeface="Arial" pitchFamily="34" charset="-120"/>
                        </a:rPr>
                        <a:t>171.6 → 93.2</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r h="274320">
                <a:tc>
                  <a:txBody>
                    <a:bodyPr/>
                    <a:lstStyle/>
                    <a:p>
                      <a:pPr indent="0" marL="0">
                        <a:buNone/>
                      </a:pPr>
                      <a:r>
                        <a:rPr lang="en-US" sz="1000" dirty="0">
                          <a:solidFill>
                            <a:srgbClr val="1F2933"/>
                          </a:solidFill>
                          <a:latin typeface="Arial" pitchFamily="34" charset="0"/>
                          <a:ea typeface="Arial" pitchFamily="34" charset="-122"/>
                          <a:cs typeface="Arial" pitchFamily="34" charset="-120"/>
                        </a:rPr>
                        <a:t>Pruning · OpenVLA WidowX</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1000" b="1" dirty="0">
                          <a:solidFill>
                            <a:srgbClr val="1B7F79"/>
                          </a:solidFill>
                          <a:latin typeface="Arial" pitchFamily="34" charset="0"/>
                          <a:ea typeface="Arial" pitchFamily="34" charset="-122"/>
                          <a:cs typeface="Arial" pitchFamily="34" charset="-120"/>
                        </a:rPr>
                        <a:t>210.2 → 199.4</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r h="274320">
                <a:tc>
                  <a:txBody>
                    <a:bodyPr/>
                    <a:lstStyle/>
                    <a:p>
                      <a:pPr indent="0" marL="0">
                        <a:buNone/>
                      </a:pPr>
                      <a:r>
                        <a:rPr lang="en-US" sz="1000" dirty="0">
                          <a:solidFill>
                            <a:srgbClr val="1F2933"/>
                          </a:solidFill>
                          <a:latin typeface="Arial" pitchFamily="34" charset="0"/>
                          <a:ea typeface="Arial" pitchFamily="34" charset="-122"/>
                          <a:cs typeface="Arial" pitchFamily="34" charset="-120"/>
                        </a:rPr>
                        <a:t>Reuse · SmolVLA LIBERO Long</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1000" b="1" dirty="0">
                          <a:solidFill>
                            <a:srgbClr val="1B7F79"/>
                          </a:solidFill>
                          <a:latin typeface="Arial" pitchFamily="34" charset="0"/>
                          <a:ea typeface="Arial" pitchFamily="34" charset="-122"/>
                          <a:cs typeface="Arial" pitchFamily="34" charset="-120"/>
                        </a:rPr>
                        <a:t>289.5 → 268.9</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bl>
          </a:graphicData>
        </a:graphic>
      </p:graphicFrame>
    </p:spTree>
  </p:cSld>
  <p:clrMapOvr>
    <a:masterClrMapping/>
  </p:clrMapOvr>
  <p:transition advTm="13000">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Does the effect transfer across models?</a:t>
            </a:r>
            <a:endParaRPr lang="en-US" sz="2600" dirty="0"/>
          </a:p>
        </p:txBody>
      </p:sp>
      <p:pic>
        <p:nvPicPr>
          <p:cNvPr id="3" name="Image 0" descr="/tmp/claude-0/-home-user-BiVLA/4327cefa-ba5d-5e2e-9d87-c73dd3a8ccbb/scratchpad/video_ppt/assets/consistency.png">    </p:cNvPr>
          <p:cNvPicPr>
            <a:picLocks noChangeAspect="1"/>
          </p:cNvPicPr>
          <p:nvPr/>
        </p:nvPicPr>
        <p:blipFill>
          <a:blip r:embed="rId1"/>
          <a:stretch>
            <a:fillRect/>
          </a:stretch>
        </p:blipFill>
        <p:spPr>
          <a:xfrm>
            <a:off x="457200" y="914400"/>
            <a:ext cx="5120640" cy="2523744"/>
          </a:xfrm>
          <a:prstGeom prst="rect">
            <a:avLst/>
          </a:prstGeom>
        </p:spPr>
      </p:pic>
      <p:sp>
        <p:nvSpPr>
          <p:cNvPr id="4" name="Text 1"/>
          <p:cNvSpPr txBox="1"/>
          <p:nvPr/>
        </p:nvSpPr>
        <p:spPr>
          <a:xfrm>
            <a:off x="457200" y="3474720"/>
            <a:ext cx="5120640" cy="45720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For each setting: how many of 13 backbone and environment pairs got lower, unchanged, or higher success. LIBERO episodes are pooled over the four suites, so 13 pairs stand for the 22.</a:t>
            </a:r>
            <a:endParaRPr lang="en-US" sz="1000" dirty="0"/>
          </a:p>
        </p:txBody>
      </p:sp>
      <p:sp>
        <p:nvSpPr>
          <p:cNvPr id="5" name="Shape 2"/>
          <p:cNvSpPr/>
          <p:nvPr/>
        </p:nvSpPr>
        <p:spPr>
          <a:xfrm>
            <a:off x="5852160" y="1005840"/>
            <a:ext cx="1234440" cy="365760"/>
          </a:xfrm>
          <a:prstGeom prst="roundRect">
            <a:avLst>
              <a:gd name="adj" fmla="val 25000"/>
            </a:avLst>
          </a:prstGeom>
          <a:solidFill>
            <a:srgbClr val="16213A"/>
          </a:solidFill>
          <a:ln w="12700">
            <a:solidFill>
              <a:srgbClr val="16213A"/>
            </a:solidFill>
            <a:prstDash val="solid"/>
          </a:ln>
        </p:spPr>
      </p:sp>
      <p:sp>
        <p:nvSpPr>
          <p:cNvPr id="6" name="Text 3"/>
          <p:cNvSpPr txBox="1"/>
          <p:nvPr/>
        </p:nvSpPr>
        <p:spPr>
          <a:xfrm>
            <a:off x="5852160" y="1005840"/>
            <a:ext cx="1234440" cy="365760"/>
          </a:xfrm>
          <a:prstGeom prst="rect">
            <a:avLst/>
          </a:prstGeom>
          <a:noFill/>
          <a:ln/>
        </p:spPr>
        <p:txBody>
          <a:bodyPr wrap="square" lIns="0" tIns="0" rIns="0" bIns="0" rtlCol="0" anchor="ctr"/>
          <a:lstStyle/>
          <a:p>
            <a:pPr algn="ctr" indent="0" marL="0">
              <a:buNone/>
            </a:pPr>
            <a:r>
              <a:rPr lang="en-US" sz="1100" b="1" dirty="0">
                <a:solidFill>
                  <a:srgbClr val="F5F7FA"/>
                </a:solidFill>
                <a:latin typeface="Arial" pitchFamily="34" charset="0"/>
                <a:ea typeface="Arial" pitchFamily="34" charset="-122"/>
                <a:cs typeface="Arial" pitchFamily="34" charset="-120"/>
              </a:rPr>
              <a:t>Q3  Transfer</a:t>
            </a:r>
            <a:endParaRPr lang="en-US" sz="1100" dirty="0"/>
          </a:p>
        </p:txBody>
      </p:sp>
      <p:sp>
        <p:nvSpPr>
          <p:cNvPr id="7" name="Text 4"/>
          <p:cNvSpPr txBox="1"/>
          <p:nvPr/>
        </p:nvSpPr>
        <p:spPr>
          <a:xfrm>
            <a:off x="5852160" y="1417320"/>
            <a:ext cx="2834640" cy="502920"/>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Effects are a joint property of the trick, the backbone, and the task distribution.</a:t>
            </a:r>
            <a:endParaRPr lang="en-US" sz="1200" dirty="0"/>
          </a:p>
        </p:txBody>
      </p:sp>
      <p:sp>
        <p:nvSpPr>
          <p:cNvPr id="8" name="Shape 5"/>
          <p:cNvSpPr/>
          <p:nvPr/>
        </p:nvSpPr>
        <p:spPr>
          <a:xfrm>
            <a:off x="5852160" y="2011680"/>
            <a:ext cx="2834640" cy="502920"/>
          </a:xfrm>
          <a:prstGeom prst="roundRect">
            <a:avLst>
              <a:gd name="adj" fmla="val 18182"/>
            </a:avLst>
          </a:prstGeom>
          <a:solidFill>
            <a:srgbClr val="F9E6D8"/>
          </a:solidFill>
          <a:ln w="12700">
            <a:solidFill>
              <a:srgbClr val="F9E6D8"/>
            </a:solidFill>
            <a:prstDash val="solid"/>
          </a:ln>
        </p:spPr>
      </p:sp>
      <p:sp>
        <p:nvSpPr>
          <p:cNvPr id="9" name="Text 6"/>
          <p:cNvSpPr txBox="1"/>
          <p:nvPr/>
        </p:nvSpPr>
        <p:spPr>
          <a:xfrm>
            <a:off x="5852160" y="2011680"/>
            <a:ext cx="2834640" cy="502920"/>
          </a:xfrm>
          <a:prstGeom prst="rect">
            <a:avLst/>
          </a:prstGeom>
          <a:noFill/>
          <a:ln/>
        </p:spPr>
        <p:txBody>
          <a:bodyPr wrap="square" lIns="0" tIns="0" rIns="0" bIns="0" rtlCol="0" anchor="ctr"/>
          <a:lstStyle/>
          <a:p>
            <a:pPr algn="ctr" indent="0" marL="0">
              <a:buNone/>
            </a:pPr>
            <a:r>
              <a:rPr lang="en-US" sz="1050" b="1" dirty="0">
                <a:solidFill>
                  <a:srgbClr val="C8641E"/>
                </a:solidFill>
                <a:latin typeface="Arial" pitchFamily="34" charset="0"/>
                <a:ea typeface="Arial" pitchFamily="34" charset="-122"/>
                <a:cs typeface="Arial" pitchFamily="34" charset="-120"/>
              </a:rPr>
              <a:t>Depth pruning, WidowX: CogACT +9.5 · MiniVLA −17.5</a:t>
            </a:r>
            <a:endParaRPr lang="en-US" sz="1050" dirty="0"/>
          </a:p>
        </p:txBody>
      </p:sp>
      <p:sp>
        <p:nvSpPr>
          <p:cNvPr id="10" name="Shape 7"/>
          <p:cNvSpPr/>
          <p:nvPr/>
        </p:nvSpPr>
        <p:spPr>
          <a:xfrm>
            <a:off x="5852160" y="2606040"/>
            <a:ext cx="2834640" cy="502920"/>
          </a:xfrm>
          <a:prstGeom prst="roundRect">
            <a:avLst>
              <a:gd name="adj" fmla="val 18182"/>
            </a:avLst>
          </a:prstGeom>
          <a:solidFill>
            <a:srgbClr val="F9E6D8"/>
          </a:solidFill>
          <a:ln w="12700">
            <a:solidFill>
              <a:srgbClr val="F9E6D8"/>
            </a:solidFill>
            <a:prstDash val="solid"/>
          </a:ln>
        </p:spPr>
      </p:sp>
      <p:sp>
        <p:nvSpPr>
          <p:cNvPr id="11" name="Text 8"/>
          <p:cNvSpPr txBox="1"/>
          <p:nvPr/>
        </p:nvSpPr>
        <p:spPr>
          <a:xfrm>
            <a:off x="5852160" y="2606040"/>
            <a:ext cx="2834640" cy="502920"/>
          </a:xfrm>
          <a:prstGeom prst="rect">
            <a:avLst/>
          </a:prstGeom>
          <a:noFill/>
          <a:ln/>
        </p:spPr>
        <p:txBody>
          <a:bodyPr wrap="square" lIns="0" tIns="0" rIns="0" bIns="0" rtlCol="0" anchor="ctr"/>
          <a:lstStyle/>
          <a:p>
            <a:pPr algn="ctr" indent="0" marL="0">
              <a:buNone/>
            </a:pPr>
            <a:r>
              <a:rPr lang="en-US" sz="1050" b="1" dirty="0">
                <a:solidFill>
                  <a:srgbClr val="C8641E"/>
                </a:solidFill>
                <a:latin typeface="Arial" pitchFamily="34" charset="0"/>
                <a:ea typeface="Arial" pitchFamily="34" charset="-122"/>
                <a:cs typeface="Arial" pitchFamily="34" charset="-120"/>
              </a:rPr>
              <a:t>Foveation, LIBERO Goal: UniVLA +7.0 · SmolVLA −13.0</a:t>
            </a:r>
            <a:endParaRPr lang="en-US" sz="1050" dirty="0"/>
          </a:p>
        </p:txBody>
      </p:sp>
      <p:sp>
        <p:nvSpPr>
          <p:cNvPr id="12" name="Shape 9"/>
          <p:cNvSpPr/>
          <p:nvPr/>
        </p:nvSpPr>
        <p:spPr>
          <a:xfrm>
            <a:off x="5852160" y="3200400"/>
            <a:ext cx="2834640" cy="566928"/>
          </a:xfrm>
          <a:prstGeom prst="roundRect">
            <a:avLst>
              <a:gd name="adj" fmla="val 16129"/>
            </a:avLst>
          </a:prstGeom>
          <a:solidFill>
            <a:srgbClr val="F9E6D8"/>
          </a:solidFill>
          <a:ln w="12700">
            <a:solidFill>
              <a:srgbClr val="F9E6D8"/>
            </a:solidFill>
            <a:prstDash val="solid"/>
          </a:ln>
        </p:spPr>
      </p:sp>
      <p:sp>
        <p:nvSpPr>
          <p:cNvPr id="13" name="Text 10"/>
          <p:cNvSpPr txBox="1"/>
          <p:nvPr/>
        </p:nvSpPr>
        <p:spPr>
          <a:xfrm>
            <a:off x="5852160" y="3200400"/>
            <a:ext cx="2834640" cy="566928"/>
          </a:xfrm>
          <a:prstGeom prst="rect">
            <a:avLst/>
          </a:prstGeom>
          <a:noFill/>
          <a:ln/>
        </p:spPr>
        <p:txBody>
          <a:bodyPr wrap="square" lIns="0" tIns="0" rIns="0" bIns="0" rtlCol="0" anchor="ctr"/>
          <a:lstStyle/>
          <a:p>
            <a:pPr algn="ctr" indent="0" marL="0">
              <a:buNone/>
            </a:pPr>
            <a:r>
              <a:rPr lang="en-US" sz="1050" b="1" dirty="0">
                <a:solidFill>
                  <a:srgbClr val="C8641E"/>
                </a:solidFill>
                <a:latin typeface="Arial" pitchFamily="34" charset="0"/>
                <a:ea typeface="Arial" pitchFamily="34" charset="-122"/>
                <a:cs typeface="Arial" pitchFamily="34" charset="-120"/>
              </a:rPr>
              <a:t>Action repeat: often harmful on WidowX, milder on Fractal for some backbones</a:t>
            </a:r>
            <a:endParaRPr lang="en-US" sz="1050" dirty="0"/>
          </a:p>
        </p:txBody>
      </p:sp>
      <p:sp>
        <p:nvSpPr>
          <p:cNvPr id="14" name="Shape 11"/>
          <p:cNvSpPr/>
          <p:nvPr/>
        </p:nvSpPr>
        <p:spPr>
          <a:xfrm>
            <a:off x="457200" y="4069080"/>
            <a:ext cx="8229600" cy="548640"/>
          </a:xfrm>
          <a:prstGeom prst="roundRect">
            <a:avLst>
              <a:gd name="adj" fmla="val 16667"/>
            </a:avLst>
          </a:prstGeom>
          <a:solidFill>
            <a:srgbClr val="16213A"/>
          </a:solidFill>
          <a:ln w="12700">
            <a:solidFill>
              <a:srgbClr val="16213A"/>
            </a:solidFill>
            <a:prstDash val="solid"/>
          </a:ln>
        </p:spPr>
      </p:sp>
      <p:sp>
        <p:nvSpPr>
          <p:cNvPr id="15" name="Text 12"/>
          <p:cNvSpPr txBox="1"/>
          <p:nvPr/>
        </p:nvSpPr>
        <p:spPr>
          <a:xfrm>
            <a:off x="548640" y="4069080"/>
            <a:ext cx="8046720" cy="54864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No trick is plug-and-play: each one needs matched evaluation under the target backbone and environment.</a:t>
            </a:r>
            <a:endParaRPr lang="en-US" sz="1400" dirty="0"/>
          </a:p>
        </p:txBody>
      </p:sp>
    </p:spTree>
  </p:cSld>
  <p:clrMapOvr>
    <a:masterClrMapping/>
  </p:clrMapOvr>
  <p:transition advTm="12000">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Takeaways</a:t>
            </a:r>
            <a:endParaRPr lang="en-US" sz="2600" dirty="0"/>
          </a:p>
        </p:txBody>
      </p:sp>
      <p:sp>
        <p:nvSpPr>
          <p:cNvPr id="3" name="Shape 1"/>
          <p:cNvSpPr/>
          <p:nvPr/>
        </p:nvSpPr>
        <p:spPr>
          <a:xfrm>
            <a:off x="457200" y="1005840"/>
            <a:ext cx="4023360" cy="1188720"/>
          </a:xfrm>
          <a:prstGeom prst="roundRect">
            <a:avLst>
              <a:gd name="adj" fmla="val 9231"/>
            </a:avLst>
          </a:prstGeom>
          <a:solidFill>
            <a:srgbClr val="DFF1E6"/>
          </a:solidFill>
          <a:ln w="9525">
            <a:solidFill>
              <a:srgbClr val="DFF1E6"/>
            </a:solidFill>
            <a:prstDash val="solid"/>
          </a:ln>
        </p:spPr>
      </p:sp>
      <p:sp>
        <p:nvSpPr>
          <p:cNvPr id="4" name="Text 2"/>
          <p:cNvSpPr txBox="1"/>
          <p:nvPr/>
        </p:nvSpPr>
        <p:spPr>
          <a:xfrm>
            <a:off x="640080" y="1115568"/>
            <a:ext cx="3657600" cy="365760"/>
          </a:xfrm>
          <a:prstGeom prst="rect">
            <a:avLst/>
          </a:prstGeom>
          <a:noFill/>
          <a:ln/>
        </p:spPr>
        <p:txBody>
          <a:bodyPr wrap="square" lIns="0" tIns="0" rIns="0" bIns="0" rtlCol="0" anchor="ctr"/>
          <a:lstStyle/>
          <a:p>
            <a:pPr indent="0" marL="0">
              <a:buNone/>
            </a:pPr>
            <a:r>
              <a:rPr lang="en-US" sz="1600" b="1" dirty="0">
                <a:solidFill>
                  <a:srgbClr val="2E8B57"/>
                </a:solidFill>
                <a:latin typeface="Arial" pitchFamily="34" charset="0"/>
                <a:ea typeface="Arial" pitchFamily="34" charset="-122"/>
                <a:cs typeface="Arial" pitchFamily="34" charset="-120"/>
              </a:rPr>
              <a:t>Guarded reuse</a:t>
            </a:r>
            <a:endParaRPr lang="en-US" sz="1600" dirty="0"/>
          </a:p>
        </p:txBody>
      </p:sp>
      <p:sp>
        <p:nvSpPr>
          <p:cNvPr id="5" name="Text 3"/>
          <p:cNvSpPr txBox="1"/>
          <p:nvPr/>
        </p:nvSpPr>
        <p:spPr>
          <a:xfrm>
            <a:off x="640080" y="14813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Most reliable. Preserves success, modest speedup when the gates open.</a:t>
            </a:r>
            <a:endParaRPr lang="en-US" sz="1250" dirty="0"/>
          </a:p>
        </p:txBody>
      </p:sp>
      <p:sp>
        <p:nvSpPr>
          <p:cNvPr id="6" name="Shape 4"/>
          <p:cNvSpPr/>
          <p:nvPr/>
        </p:nvSpPr>
        <p:spPr>
          <a:xfrm>
            <a:off x="4663440" y="1005840"/>
            <a:ext cx="4023360" cy="1188720"/>
          </a:xfrm>
          <a:prstGeom prst="roundRect">
            <a:avLst>
              <a:gd name="adj" fmla="val 9231"/>
            </a:avLst>
          </a:prstGeom>
          <a:solidFill>
            <a:srgbClr val="F9E6D8"/>
          </a:solidFill>
          <a:ln w="9525">
            <a:solidFill>
              <a:srgbClr val="F9E6D8"/>
            </a:solidFill>
            <a:prstDash val="solid"/>
          </a:ln>
        </p:spPr>
      </p:sp>
      <p:sp>
        <p:nvSpPr>
          <p:cNvPr id="7" name="Text 5"/>
          <p:cNvSpPr txBox="1"/>
          <p:nvPr/>
        </p:nvSpPr>
        <p:spPr>
          <a:xfrm>
            <a:off x="4846320" y="1115568"/>
            <a:ext cx="3657600" cy="365760"/>
          </a:xfrm>
          <a:prstGeom prst="rect">
            <a:avLst/>
          </a:prstGeom>
          <a:noFill/>
          <a:ln/>
        </p:spPr>
        <p:txBody>
          <a:bodyPr wrap="square" lIns="0" tIns="0" rIns="0" bIns="0" rtlCol="0" anchor="ctr"/>
          <a:lstStyle/>
          <a:p>
            <a:pPr indent="0" marL="0">
              <a:buNone/>
            </a:pPr>
            <a:r>
              <a:rPr lang="en-US" sz="1600" b="1" dirty="0">
                <a:solidFill>
                  <a:srgbClr val="C8641E"/>
                </a:solidFill>
                <a:latin typeface="Arial" pitchFamily="34" charset="0"/>
                <a:ea typeface="Arial" pitchFamily="34" charset="-122"/>
                <a:cs typeface="Arial" pitchFamily="34" charset="-120"/>
              </a:rPr>
              <a:t>Action repeat</a:t>
            </a:r>
            <a:endParaRPr lang="en-US" sz="1600" dirty="0"/>
          </a:p>
        </p:txBody>
      </p:sp>
      <p:sp>
        <p:nvSpPr>
          <p:cNvPr id="8" name="Text 6"/>
          <p:cNvSpPr txBox="1"/>
          <p:nvPr/>
        </p:nvSpPr>
        <p:spPr>
          <a:xfrm>
            <a:off x="4846320" y="14813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Largest speedup, but the risk of long open-loop execution.</a:t>
            </a:r>
            <a:endParaRPr lang="en-US" sz="1250" dirty="0"/>
          </a:p>
        </p:txBody>
      </p:sp>
      <p:sp>
        <p:nvSpPr>
          <p:cNvPr id="9" name="Shape 7"/>
          <p:cNvSpPr/>
          <p:nvPr/>
        </p:nvSpPr>
        <p:spPr>
          <a:xfrm>
            <a:off x="457200" y="2377440"/>
            <a:ext cx="4023360" cy="1188720"/>
          </a:xfrm>
          <a:prstGeom prst="roundRect">
            <a:avLst>
              <a:gd name="adj" fmla="val 9231"/>
            </a:avLst>
          </a:prstGeom>
          <a:solidFill>
            <a:srgbClr val="DDEFEC"/>
          </a:solidFill>
          <a:ln w="9525">
            <a:solidFill>
              <a:srgbClr val="DDEFEC"/>
            </a:solidFill>
            <a:prstDash val="solid"/>
          </a:ln>
        </p:spPr>
      </p:sp>
      <p:sp>
        <p:nvSpPr>
          <p:cNvPr id="10" name="Text 8"/>
          <p:cNvSpPr txBox="1"/>
          <p:nvPr/>
        </p:nvSpPr>
        <p:spPr>
          <a:xfrm>
            <a:off x="640080" y="2487168"/>
            <a:ext cx="3657600" cy="365760"/>
          </a:xfrm>
          <a:prstGeom prst="rect">
            <a:avLst/>
          </a:prstGeom>
          <a:noFill/>
          <a:ln/>
        </p:spPr>
        <p:txBody>
          <a:bodyPr wrap="square" lIns="0" tIns="0" rIns="0" bIns="0" rtlCol="0" anchor="ctr"/>
          <a:lstStyle/>
          <a:p>
            <a:pPr indent="0" marL="0">
              <a:buNone/>
            </a:pPr>
            <a:r>
              <a:rPr lang="en-US" sz="1600" b="1" dirty="0">
                <a:solidFill>
                  <a:srgbClr val="1B7F79"/>
                </a:solidFill>
                <a:latin typeface="Arial" pitchFamily="34" charset="0"/>
                <a:ea typeface="Arial" pitchFamily="34" charset="-122"/>
                <a:cs typeface="Arial" pitchFamily="34" charset="-120"/>
              </a:rPr>
              <a:t>Depth pruning</a:t>
            </a:r>
            <a:endParaRPr lang="en-US" sz="1600" dirty="0"/>
          </a:p>
        </p:txBody>
      </p:sp>
      <p:sp>
        <p:nvSpPr>
          <p:cNvPr id="11" name="Text 9"/>
          <p:cNvSpPr txBox="1"/>
          <p:nvPr/>
        </p:nvSpPr>
        <p:spPr>
          <a:xfrm>
            <a:off x="640080" y="28529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Decoder-level savings, benefit depends on the backbone.</a:t>
            </a:r>
            <a:endParaRPr lang="en-US" sz="1250" dirty="0"/>
          </a:p>
        </p:txBody>
      </p:sp>
      <p:sp>
        <p:nvSpPr>
          <p:cNvPr id="12" name="Shape 10"/>
          <p:cNvSpPr/>
          <p:nvPr/>
        </p:nvSpPr>
        <p:spPr>
          <a:xfrm>
            <a:off x="4663440" y="2377440"/>
            <a:ext cx="4023360" cy="1188720"/>
          </a:xfrm>
          <a:prstGeom prst="roundRect">
            <a:avLst>
              <a:gd name="adj" fmla="val 9231"/>
            </a:avLst>
          </a:prstGeom>
          <a:solidFill>
            <a:srgbClr val="E1EAF7"/>
          </a:solidFill>
          <a:ln w="9525">
            <a:solidFill>
              <a:srgbClr val="E1EAF7"/>
            </a:solidFill>
            <a:prstDash val="solid"/>
          </a:ln>
        </p:spPr>
      </p:sp>
      <p:sp>
        <p:nvSpPr>
          <p:cNvPr id="13" name="Text 11"/>
          <p:cNvSpPr txBox="1"/>
          <p:nvPr/>
        </p:nvSpPr>
        <p:spPr>
          <a:xfrm>
            <a:off x="4846320" y="2487168"/>
            <a:ext cx="3657600" cy="365760"/>
          </a:xfrm>
          <a:prstGeom prst="rect">
            <a:avLst/>
          </a:prstGeom>
          <a:noFill/>
          <a:ln/>
        </p:spPr>
        <p:txBody>
          <a:bodyPr wrap="square" lIns="0" tIns="0" rIns="0" bIns="0" rtlCol="0" anchor="ctr"/>
          <a:lstStyle/>
          <a:p>
            <a:pPr indent="0" marL="0">
              <a:buNone/>
            </a:pPr>
            <a:r>
              <a:rPr lang="en-US" sz="1600" b="1" dirty="0">
                <a:solidFill>
                  <a:srgbClr val="2F6DB5"/>
                </a:solidFill>
                <a:latin typeface="Arial" pitchFamily="34" charset="0"/>
                <a:ea typeface="Arial" pitchFamily="34" charset="-122"/>
                <a:cs typeface="Arial" pitchFamily="34" charset="-120"/>
              </a:rPr>
              <a:t>Foveation · Temporal fusion</a:t>
            </a:r>
            <a:endParaRPr lang="en-US" sz="1600" dirty="0"/>
          </a:p>
        </p:txBody>
      </p:sp>
      <p:sp>
        <p:nvSpPr>
          <p:cNvPr id="14" name="Text 12"/>
          <p:cNvSpPr txBox="1"/>
          <p:nvPr/>
        </p:nvSpPr>
        <p:spPr>
          <a:xfrm>
            <a:off x="4846320" y="28529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Test how much the visual representation can change while the policy stays stable.</a:t>
            </a:r>
            <a:endParaRPr lang="en-US" sz="1250" dirty="0"/>
          </a:p>
        </p:txBody>
      </p:sp>
      <p:sp>
        <p:nvSpPr>
          <p:cNvPr id="15" name="Shape 13"/>
          <p:cNvSpPr/>
          <p:nvPr/>
        </p:nvSpPr>
        <p:spPr>
          <a:xfrm>
            <a:off x="457200" y="3886200"/>
            <a:ext cx="8229600" cy="731520"/>
          </a:xfrm>
          <a:prstGeom prst="roundRect">
            <a:avLst>
              <a:gd name="adj" fmla="val 12500"/>
            </a:avLst>
          </a:prstGeom>
          <a:solidFill>
            <a:srgbClr val="16213A"/>
          </a:solidFill>
          <a:ln w="12700">
            <a:solidFill>
              <a:srgbClr val="16213A"/>
            </a:solidFill>
            <a:prstDash val="solid"/>
          </a:ln>
        </p:spPr>
      </p:sp>
      <p:sp>
        <p:nvSpPr>
          <p:cNvPr id="16" name="Text 14"/>
          <p:cNvSpPr txBox="1"/>
          <p:nvPr/>
        </p:nvSpPr>
        <p:spPr>
          <a:xfrm>
            <a:off x="640080" y="3886200"/>
            <a:ext cx="7863840" cy="73152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VLA efficiency is policy- and environment-dependent. Evaluate every trick under the target backbone and environment before applying it.</a:t>
            </a:r>
            <a:endParaRPr lang="en-US" sz="1400" dirty="0"/>
          </a:p>
        </p:txBody>
      </p:sp>
    </p:spTree>
  </p:cSld>
  <p:clrMapOvr>
    <a:masterClrMapping/>
  </p:clrMapOvr>
  <p:transition advTm="120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Bag of Tricks for Training-Free VLA Models, accompanying video (v2)</dc:title>
  <dc:subject>PptxGenJS Presentation</dc:subject>
  <dc:creator>PptxGenJS</dc:creator>
  <cp:lastModifiedBy>PptxGenJS</cp:lastModifiedBy>
  <cp:revision>1</cp:revision>
  <dcterms:created xsi:type="dcterms:W3CDTF">2026-09-20T10:31:44Z</dcterms:created>
  <dcterms:modified xsi:type="dcterms:W3CDTF">2026-09-20T10:31:44Z</dcterms:modified>
</cp:coreProperties>
</file>