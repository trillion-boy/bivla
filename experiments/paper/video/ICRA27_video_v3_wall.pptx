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13 s  |  36 words (2.8 w/s)
NARRATION:
Vision-language-action models are capable but slow. Every policy call runs a vision encoder and a language backbone. Training-free tricks promise cheaper inference, but gains are typically reported for one backbone and one benchmark. Do they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32 words (2.9 w/s)
NARRATION:
Trick one, visual foveation. The observation keeps a sharp central disc and blurs the periphery. The token count is unchanged, so this changes what the policy sees, not how much it computes.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12 s  |  32 words (2.7 w/s)
NARRATION:
Trick three, depth pruning. Decoder blocks that barely change their hidden states are removed, one, two, or four of them, keeping the early and final blocks.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8 s  |  13 words (1.6 w/s)
NARRATION:
Now every configuration on one episode. CogACT on WidowX, 12 of 14 succeed.
VISUAL / PRODUCTION NOTE:
Video wall, 14 clips at 3x,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6 s  |  6 words (1.0 w/s)
NARRATION:
Stack cube: 11 of 14 succeed.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6 s  |  7 words (1.2 w/s)
NARRATION:
Spoon on towel: 6 of 14 succeed.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8 s  |  13 words (1.6 w/s)
NARRATION:
OpenVLA on Fractal, same episode for every configuration shown. 10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8 s  |  7 words (0.9 w/s)
NARRATION:
Pick coke can: 11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8 s  |  6 words (0.8 w/s)
NARRATION:
Open drawer: 6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13 s  |  31 words (2.4 w/s)
NARRATION:
Across seven backbones and three environments,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13 s  |  32 words (2.5 w/s)
NARRATION:
Second, speed. Action repeat gives the largest speedup. SpatialVLA on WidowX drops from about 424 to 235 milliseconds per step. Depth pruning gives smaller decoder-level savings, and guarded reuse the safest trade-off.
VISUAL / PRODUCTION NOTE:
Paper Fig. 4 with a native colour legend.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13 s  |  37 words (2.8 w/s)
NARRATION:
The same trick helps one backbone, leaves another unchanged, and hurts a third. Guarded reuse is most reliable, action repeat fastest but risky, depth pruning backbone-dependent. Evaluate every trick under the target backbone and environment.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video" Target="../media/media-2-2.mp4"/><Relationship Id="rId3" Type="http://schemas.microsoft.com/office/2007/relationships/media" Target="../media/media-2-2.mp4"/><Relationship Id="rId4" Type="http://schemas.openxmlformats.org/officeDocument/2006/relationships/image" Target="../media/image-2-4.png"/><Relationship Id="rId5" Type="http://schemas.openxmlformats.org/officeDocument/2006/relationships/video" Target="../media/media-2-5.mp4"/><Relationship Id="rId6" Type="http://schemas.microsoft.com/office/2007/relationships/media" Target="../media/media-2-5.mp4"/><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video" Target="../media/media-3-2.mp4"/><Relationship Id="rId3" Type="http://schemas.microsoft.com/office/2007/relationships/media" Target="../media/media-3-2.mp4"/><Relationship Id="rId4" Type="http://schemas.openxmlformats.org/officeDocument/2006/relationships/image" Target="../media/image-3-4.png"/><Relationship Id="rId5" Type="http://schemas.openxmlformats.org/officeDocument/2006/relationships/video" Target="../media/media-3-5.mp4"/><Relationship Id="rId6" Type="http://schemas.microsoft.com/office/2007/relationships/media" Target="../media/media-3-5.mp4"/><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video" Target="../media/media-4-2.mp4"/><Relationship Id="rId3" Type="http://schemas.microsoft.com/office/2007/relationships/media" Target="../media/media-4-2.mp4"/><Relationship Id="rId4" Type="http://schemas.openxmlformats.org/officeDocument/2006/relationships/image" Target="../media/image-4-4.png"/><Relationship Id="rId5" Type="http://schemas.openxmlformats.org/officeDocument/2006/relationships/video" Target="../media/media-4-5.mp4"/><Relationship Id="rId6" Type="http://schemas.microsoft.com/office/2007/relationships/media" Target="../media/media-4-5.mp4"/><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video" Target="../media/media-5-2.mp4"/><Relationship Id="rId3" Type="http://schemas.microsoft.com/office/2007/relationships/media" Target="../media/media-5-2.mp4"/><Relationship Id="rId4" Type="http://schemas.openxmlformats.org/officeDocument/2006/relationships/image" Target="../media/image-5-4.png"/><Relationship Id="rId5" Type="http://schemas.openxmlformats.org/officeDocument/2006/relationships/video" Target="../media/media-5-5.mp4"/><Relationship Id="rId6" Type="http://schemas.microsoft.com/office/2007/relationships/media" Target="../media/media-5-5.mp4"/><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video" Target="../media/media-6-3.mp4"/><Relationship Id="rId4" Type="http://schemas.microsoft.com/office/2007/relationships/media" Target="../media/media-6-3.mp4"/><Relationship Id="rId5" Type="http://schemas.openxmlformats.org/officeDocument/2006/relationships/image" Target="../media/image-6-5.png"/><Relationship Id="rId6" Type="http://schemas.openxmlformats.org/officeDocument/2006/relationships/video" Target="../media/media-6-6.mp4"/><Relationship Id="rId7" Type="http://schemas.microsoft.com/office/2007/relationships/media" Target="../media/media-6-6.mp4"/><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video" Target="../media/media-7-4.mp4"/><Relationship Id="rId5" Type="http://schemas.microsoft.com/office/2007/relationships/media" Target="../media/media-7-4.mp4"/><Relationship Id="rId6" Type="http://schemas.openxmlformats.org/officeDocument/2006/relationships/image" Target="../media/image-7-6.png"/><Relationship Id="rId7" Type="http://schemas.openxmlformats.org/officeDocument/2006/relationships/video" Target="../media/media-7-7.mp4"/><Relationship Id="rId8" Type="http://schemas.microsoft.com/office/2007/relationships/media" Target="../media/media-7-7.mp4"/><Relationship Id="rId9" Type="http://schemas.openxmlformats.org/officeDocument/2006/relationships/image" Target="../media/image-7-9.png"/><Relationship Id="rId10" Type="http://schemas.openxmlformats.org/officeDocument/2006/relationships/video" Target="../media/media-7-10.mp4"/><Relationship Id="rId11" Type="http://schemas.microsoft.com/office/2007/relationships/media" Target="../media/media-7-10.mp4"/><Relationship Id="rId12" Type="http://schemas.openxmlformats.org/officeDocument/2006/relationships/image" Target="../media/image-7-12.png"/><Relationship Id="rId13" Type="http://schemas.openxmlformats.org/officeDocument/2006/relationships/video" Target="../media/media-7-13.mp4"/><Relationship Id="rId14" Type="http://schemas.microsoft.com/office/2007/relationships/media" Target="../media/media-7-13.mp4"/><Relationship Id="rId15" Type="http://schemas.openxmlformats.org/officeDocument/2006/relationships/image" Target="../media/image-7-15.png"/><Relationship Id="rId16" Type="http://schemas.openxmlformats.org/officeDocument/2006/relationships/video" Target="../media/media-7-16.mp4"/><Relationship Id="rId17" Type="http://schemas.microsoft.com/office/2007/relationships/media" Target="../media/media-7-16.mp4"/><Relationship Id="rId18" Type="http://schemas.openxmlformats.org/officeDocument/2006/relationships/image" Target="../media/image-7-18.png"/><Relationship Id="rId19" Type="http://schemas.openxmlformats.org/officeDocument/2006/relationships/video" Target="../media/media-7-19.mp4"/><Relationship Id="rId20" Type="http://schemas.microsoft.com/office/2007/relationships/media" Target="../media/media-7-19.mp4"/><Relationship Id="rId21" Type="http://schemas.openxmlformats.org/officeDocument/2006/relationships/image" Target="../media/image-7-21.png"/><Relationship Id="rId22" Type="http://schemas.openxmlformats.org/officeDocument/2006/relationships/video" Target="../media/media-7-22.mp4"/><Relationship Id="rId23" Type="http://schemas.microsoft.com/office/2007/relationships/media" Target="../media/media-7-22.mp4"/><Relationship Id="rId24" Type="http://schemas.openxmlformats.org/officeDocument/2006/relationships/image" Target="../media/image-7-24.png"/><Relationship Id="rId25" Type="http://schemas.openxmlformats.org/officeDocument/2006/relationships/video" Target="../media/media-7-25.mp4"/><Relationship Id="rId26" Type="http://schemas.microsoft.com/office/2007/relationships/media" Target="../media/media-7-25.mp4"/><Relationship Id="rId27" Type="http://schemas.openxmlformats.org/officeDocument/2006/relationships/image" Target="../media/image-7-27.png"/><Relationship Id="rId28" Type="http://schemas.openxmlformats.org/officeDocument/2006/relationships/video" Target="../media/media-7-28.mp4"/><Relationship Id="rId29" Type="http://schemas.microsoft.com/office/2007/relationships/media" Target="../media/media-7-28.mp4"/><Relationship Id="rId30" Type="http://schemas.openxmlformats.org/officeDocument/2006/relationships/image" Target="../media/image-7-30.png"/><Relationship Id="rId31" Type="http://schemas.openxmlformats.org/officeDocument/2006/relationships/video" Target="../media/media-7-31.mp4"/><Relationship Id="rId32" Type="http://schemas.microsoft.com/office/2007/relationships/media" Target="../media/media-7-31.mp4"/><Relationship Id="rId33" Type="http://schemas.openxmlformats.org/officeDocument/2006/relationships/image" Target="../media/image-7-33.png"/><Relationship Id="rId34" Type="http://schemas.openxmlformats.org/officeDocument/2006/relationships/video" Target="../media/media-7-34.mp4"/><Relationship Id="rId35" Type="http://schemas.microsoft.com/office/2007/relationships/media" Target="../media/media-7-34.mp4"/><Relationship Id="rId36" Type="http://schemas.openxmlformats.org/officeDocument/2006/relationships/image" Target="../media/image-7-36.png"/><Relationship Id="rId37" Type="http://schemas.openxmlformats.org/officeDocument/2006/relationships/video" Target="../media/media-7-37.mp4"/><Relationship Id="rId38" Type="http://schemas.microsoft.com/office/2007/relationships/media" Target="../media/media-7-37.mp4"/><Relationship Id="rId39" Type="http://schemas.openxmlformats.org/officeDocument/2006/relationships/image" Target="../media/image-7-39.png"/><Relationship Id="rId40" Type="http://schemas.openxmlformats.org/officeDocument/2006/relationships/video" Target="../media/media-7-40.mp4"/><Relationship Id="rId41" Type="http://schemas.microsoft.com/office/2007/relationships/media" Target="../media/media-7-40.mp4"/><Relationship Id="rId42" Type="http://schemas.openxmlformats.org/officeDocument/2006/relationships/image" Target="../media/image-7-42.png"/><Relationship Id="rId43" Type="http://schemas.openxmlformats.org/officeDocument/2006/relationships/slideLayout" Target="../slideLayouts/slideLayout1.xml"/><Relationship Id="rId4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video" Target="../media/media-8-4.mp4"/><Relationship Id="rId5" Type="http://schemas.microsoft.com/office/2007/relationships/media" Target="../media/media-8-4.mp4"/><Relationship Id="rId6" Type="http://schemas.openxmlformats.org/officeDocument/2006/relationships/image" Target="../media/image-8-6.png"/><Relationship Id="rId7" Type="http://schemas.openxmlformats.org/officeDocument/2006/relationships/video" Target="../media/media-8-7.mp4"/><Relationship Id="rId8" Type="http://schemas.microsoft.com/office/2007/relationships/media" Target="../media/media-8-7.mp4"/><Relationship Id="rId9" Type="http://schemas.openxmlformats.org/officeDocument/2006/relationships/image" Target="../media/image-8-9.png"/><Relationship Id="rId10" Type="http://schemas.openxmlformats.org/officeDocument/2006/relationships/video" Target="../media/media-8-10.mp4"/><Relationship Id="rId11" Type="http://schemas.microsoft.com/office/2007/relationships/media" Target="../media/media-8-10.mp4"/><Relationship Id="rId12" Type="http://schemas.openxmlformats.org/officeDocument/2006/relationships/image" Target="../media/image-8-12.png"/><Relationship Id="rId13" Type="http://schemas.openxmlformats.org/officeDocument/2006/relationships/video" Target="../media/media-8-13.mp4"/><Relationship Id="rId14" Type="http://schemas.microsoft.com/office/2007/relationships/media" Target="../media/media-8-13.mp4"/><Relationship Id="rId15" Type="http://schemas.openxmlformats.org/officeDocument/2006/relationships/image" Target="../media/image-8-15.png"/><Relationship Id="rId16" Type="http://schemas.openxmlformats.org/officeDocument/2006/relationships/video" Target="../media/media-8-16.mp4"/><Relationship Id="rId17" Type="http://schemas.microsoft.com/office/2007/relationships/media" Target="../media/media-8-16.mp4"/><Relationship Id="rId18" Type="http://schemas.openxmlformats.org/officeDocument/2006/relationships/image" Target="../media/image-8-18.png"/><Relationship Id="rId19" Type="http://schemas.openxmlformats.org/officeDocument/2006/relationships/video" Target="../media/media-8-19.mp4"/><Relationship Id="rId20" Type="http://schemas.microsoft.com/office/2007/relationships/media" Target="../media/media-8-19.mp4"/><Relationship Id="rId21" Type="http://schemas.openxmlformats.org/officeDocument/2006/relationships/image" Target="../media/image-8-21.png"/><Relationship Id="rId22" Type="http://schemas.openxmlformats.org/officeDocument/2006/relationships/video" Target="../media/media-8-22.mp4"/><Relationship Id="rId23" Type="http://schemas.microsoft.com/office/2007/relationships/media" Target="../media/media-8-22.mp4"/><Relationship Id="rId24" Type="http://schemas.openxmlformats.org/officeDocument/2006/relationships/image" Target="../media/image-8-24.png"/><Relationship Id="rId25" Type="http://schemas.openxmlformats.org/officeDocument/2006/relationships/video" Target="../media/media-8-25.mp4"/><Relationship Id="rId26" Type="http://schemas.microsoft.com/office/2007/relationships/media" Target="../media/media-8-25.mp4"/><Relationship Id="rId27" Type="http://schemas.openxmlformats.org/officeDocument/2006/relationships/image" Target="../media/image-8-27.png"/><Relationship Id="rId28" Type="http://schemas.openxmlformats.org/officeDocument/2006/relationships/video" Target="../media/media-8-28.mp4"/><Relationship Id="rId29" Type="http://schemas.microsoft.com/office/2007/relationships/media" Target="../media/media-8-28.mp4"/><Relationship Id="rId30" Type="http://schemas.openxmlformats.org/officeDocument/2006/relationships/image" Target="../media/image-8-30.png"/><Relationship Id="rId31" Type="http://schemas.openxmlformats.org/officeDocument/2006/relationships/video" Target="../media/media-8-31.mp4"/><Relationship Id="rId32" Type="http://schemas.microsoft.com/office/2007/relationships/media" Target="../media/media-8-31.mp4"/><Relationship Id="rId33" Type="http://schemas.openxmlformats.org/officeDocument/2006/relationships/image" Target="../media/image-8-33.png"/><Relationship Id="rId34" Type="http://schemas.openxmlformats.org/officeDocument/2006/relationships/video" Target="../media/media-8-34.mp4"/><Relationship Id="rId35" Type="http://schemas.microsoft.com/office/2007/relationships/media" Target="../media/media-8-34.mp4"/><Relationship Id="rId36" Type="http://schemas.openxmlformats.org/officeDocument/2006/relationships/image" Target="../media/image-8-36.png"/><Relationship Id="rId37" Type="http://schemas.openxmlformats.org/officeDocument/2006/relationships/video" Target="../media/media-8-37.mp4"/><Relationship Id="rId38" Type="http://schemas.microsoft.com/office/2007/relationships/media" Target="../media/media-8-37.mp4"/><Relationship Id="rId39" Type="http://schemas.openxmlformats.org/officeDocument/2006/relationships/image" Target="../media/image-8-39.png"/><Relationship Id="rId40" Type="http://schemas.openxmlformats.org/officeDocument/2006/relationships/video" Target="../media/media-8-40.mp4"/><Relationship Id="rId41" Type="http://schemas.microsoft.com/office/2007/relationships/media" Target="../media/media-8-40.mp4"/><Relationship Id="rId42" Type="http://schemas.openxmlformats.org/officeDocument/2006/relationships/image" Target="../media/image-8-42.png"/><Relationship Id="rId43" Type="http://schemas.openxmlformats.org/officeDocument/2006/relationships/slideLayout" Target="../slideLayouts/slideLayout1.xml"/><Relationship Id="rId4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video" Target="../media/media-9-4.mp4"/><Relationship Id="rId5" Type="http://schemas.microsoft.com/office/2007/relationships/media" Target="../media/media-9-4.mp4"/><Relationship Id="rId6" Type="http://schemas.openxmlformats.org/officeDocument/2006/relationships/image" Target="../media/image-9-6.png"/><Relationship Id="rId7" Type="http://schemas.openxmlformats.org/officeDocument/2006/relationships/video" Target="../media/media-9-7.mp4"/><Relationship Id="rId8" Type="http://schemas.microsoft.com/office/2007/relationships/media" Target="../media/media-9-7.mp4"/><Relationship Id="rId9" Type="http://schemas.openxmlformats.org/officeDocument/2006/relationships/image" Target="../media/image-9-9.png"/><Relationship Id="rId10" Type="http://schemas.openxmlformats.org/officeDocument/2006/relationships/video" Target="../media/media-9-10.mp4"/><Relationship Id="rId11" Type="http://schemas.microsoft.com/office/2007/relationships/media" Target="../media/media-9-10.mp4"/><Relationship Id="rId12" Type="http://schemas.openxmlformats.org/officeDocument/2006/relationships/image" Target="../media/image-9-12.png"/><Relationship Id="rId13" Type="http://schemas.openxmlformats.org/officeDocument/2006/relationships/video" Target="../media/media-9-13.mp4"/><Relationship Id="rId14" Type="http://schemas.microsoft.com/office/2007/relationships/media" Target="../media/media-9-13.mp4"/><Relationship Id="rId15" Type="http://schemas.openxmlformats.org/officeDocument/2006/relationships/image" Target="../media/image-9-15.png"/><Relationship Id="rId16" Type="http://schemas.openxmlformats.org/officeDocument/2006/relationships/video" Target="../media/media-9-16.mp4"/><Relationship Id="rId17" Type="http://schemas.microsoft.com/office/2007/relationships/media" Target="../media/media-9-16.mp4"/><Relationship Id="rId18" Type="http://schemas.openxmlformats.org/officeDocument/2006/relationships/image" Target="../media/image-9-18.png"/><Relationship Id="rId19" Type="http://schemas.openxmlformats.org/officeDocument/2006/relationships/video" Target="../media/media-9-19.mp4"/><Relationship Id="rId20" Type="http://schemas.microsoft.com/office/2007/relationships/media" Target="../media/media-9-19.mp4"/><Relationship Id="rId21" Type="http://schemas.openxmlformats.org/officeDocument/2006/relationships/image" Target="../media/image-9-21.png"/><Relationship Id="rId22" Type="http://schemas.openxmlformats.org/officeDocument/2006/relationships/video" Target="../media/media-9-22.mp4"/><Relationship Id="rId23" Type="http://schemas.microsoft.com/office/2007/relationships/media" Target="../media/media-9-22.mp4"/><Relationship Id="rId24" Type="http://schemas.openxmlformats.org/officeDocument/2006/relationships/image" Target="../media/image-9-24.png"/><Relationship Id="rId25" Type="http://schemas.openxmlformats.org/officeDocument/2006/relationships/video" Target="../media/media-9-25.mp4"/><Relationship Id="rId26" Type="http://schemas.microsoft.com/office/2007/relationships/media" Target="../media/media-9-25.mp4"/><Relationship Id="rId27" Type="http://schemas.openxmlformats.org/officeDocument/2006/relationships/image" Target="../media/image-9-27.png"/><Relationship Id="rId28" Type="http://schemas.openxmlformats.org/officeDocument/2006/relationships/video" Target="../media/media-9-28.mp4"/><Relationship Id="rId29" Type="http://schemas.microsoft.com/office/2007/relationships/media" Target="../media/media-9-28.mp4"/><Relationship Id="rId30" Type="http://schemas.openxmlformats.org/officeDocument/2006/relationships/image" Target="../media/image-9-30.png"/><Relationship Id="rId31" Type="http://schemas.openxmlformats.org/officeDocument/2006/relationships/video" Target="../media/media-9-31.mp4"/><Relationship Id="rId32" Type="http://schemas.microsoft.com/office/2007/relationships/media" Target="../media/media-9-31.mp4"/><Relationship Id="rId33" Type="http://schemas.openxmlformats.org/officeDocument/2006/relationships/image" Target="../media/image-9-33.png"/><Relationship Id="rId34" Type="http://schemas.openxmlformats.org/officeDocument/2006/relationships/video" Target="../media/media-9-34.mp4"/><Relationship Id="rId35" Type="http://schemas.microsoft.com/office/2007/relationships/media" Target="../media/media-9-34.mp4"/><Relationship Id="rId36" Type="http://schemas.openxmlformats.org/officeDocument/2006/relationships/image" Target="../media/image-9-36.png"/><Relationship Id="rId37" Type="http://schemas.openxmlformats.org/officeDocument/2006/relationships/video" Target="../media/media-9-37.mp4"/><Relationship Id="rId38" Type="http://schemas.microsoft.com/office/2007/relationships/media" Target="../media/media-9-37.mp4"/><Relationship Id="rId39" Type="http://schemas.openxmlformats.org/officeDocument/2006/relationships/image" Target="../media/image-9-39.png"/><Relationship Id="rId40" Type="http://schemas.openxmlformats.org/officeDocument/2006/relationships/video" Target="../media/media-9-40.mp4"/><Relationship Id="rId41" Type="http://schemas.microsoft.com/office/2007/relationships/media" Target="../media/media-9-40.mp4"/><Relationship Id="rId42" Type="http://schemas.openxmlformats.org/officeDocument/2006/relationships/image" Target="../media/image-9-42.png"/><Relationship Id="rId43" Type="http://schemas.openxmlformats.org/officeDocument/2006/relationships/slideLayout" Target="../slideLayouts/slideLayout1.xml"/><Relationship Id="rId4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video" Target="../media/media-10-4.mp4"/><Relationship Id="rId5" Type="http://schemas.microsoft.com/office/2007/relationships/media" Target="../media/media-10-4.mp4"/><Relationship Id="rId6" Type="http://schemas.openxmlformats.org/officeDocument/2006/relationships/image" Target="../media/image-10-6.png"/><Relationship Id="rId7" Type="http://schemas.openxmlformats.org/officeDocument/2006/relationships/video" Target="../media/media-10-7.mp4"/><Relationship Id="rId8" Type="http://schemas.microsoft.com/office/2007/relationships/media" Target="../media/media-10-7.mp4"/><Relationship Id="rId9" Type="http://schemas.openxmlformats.org/officeDocument/2006/relationships/image" Target="../media/image-10-9.png"/><Relationship Id="rId10" Type="http://schemas.openxmlformats.org/officeDocument/2006/relationships/video" Target="../media/media-10-10.mp4"/><Relationship Id="rId11" Type="http://schemas.microsoft.com/office/2007/relationships/media" Target="../media/media-10-10.mp4"/><Relationship Id="rId12" Type="http://schemas.openxmlformats.org/officeDocument/2006/relationships/image" Target="../media/image-10-12.png"/><Relationship Id="rId13" Type="http://schemas.openxmlformats.org/officeDocument/2006/relationships/video" Target="../media/media-10-13.mp4"/><Relationship Id="rId14" Type="http://schemas.microsoft.com/office/2007/relationships/media" Target="../media/media-10-13.mp4"/><Relationship Id="rId15" Type="http://schemas.openxmlformats.org/officeDocument/2006/relationships/image" Target="../media/image-10-15.png"/><Relationship Id="rId16" Type="http://schemas.openxmlformats.org/officeDocument/2006/relationships/video" Target="../media/media-10-16.mp4"/><Relationship Id="rId17" Type="http://schemas.microsoft.com/office/2007/relationships/media" Target="../media/media-10-16.mp4"/><Relationship Id="rId18" Type="http://schemas.openxmlformats.org/officeDocument/2006/relationships/image" Target="../media/image-10-18.png"/><Relationship Id="rId19" Type="http://schemas.openxmlformats.org/officeDocument/2006/relationships/video" Target="../media/media-10-19.mp4"/><Relationship Id="rId20" Type="http://schemas.microsoft.com/office/2007/relationships/media" Target="../media/media-10-19.mp4"/><Relationship Id="rId21" Type="http://schemas.openxmlformats.org/officeDocument/2006/relationships/image" Target="../media/image-10-21.png"/><Relationship Id="rId22" Type="http://schemas.openxmlformats.org/officeDocument/2006/relationships/video" Target="../media/media-10-22.mp4"/><Relationship Id="rId23" Type="http://schemas.microsoft.com/office/2007/relationships/media" Target="../media/media-10-22.mp4"/><Relationship Id="rId24" Type="http://schemas.openxmlformats.org/officeDocument/2006/relationships/image" Target="../media/image-10-24.png"/><Relationship Id="rId25" Type="http://schemas.openxmlformats.org/officeDocument/2006/relationships/video" Target="../media/media-10-25.mp4"/><Relationship Id="rId26" Type="http://schemas.microsoft.com/office/2007/relationships/media" Target="../media/media-10-25.mp4"/><Relationship Id="rId27" Type="http://schemas.openxmlformats.org/officeDocument/2006/relationships/image" Target="../media/image-10-27.png"/><Relationship Id="rId28" Type="http://schemas.openxmlformats.org/officeDocument/2006/relationships/video" Target="../media/media-10-28.mp4"/><Relationship Id="rId29" Type="http://schemas.microsoft.com/office/2007/relationships/media" Target="../media/media-10-28.mp4"/><Relationship Id="rId30" Type="http://schemas.openxmlformats.org/officeDocument/2006/relationships/image" Target="../media/image-10-30.png"/><Relationship Id="rId31" Type="http://schemas.openxmlformats.org/officeDocument/2006/relationships/video" Target="../media/media-10-31.mp4"/><Relationship Id="rId32" Type="http://schemas.microsoft.com/office/2007/relationships/media" Target="../media/media-10-31.mp4"/><Relationship Id="rId33" Type="http://schemas.openxmlformats.org/officeDocument/2006/relationships/image" Target="../media/image-10-33.png"/><Relationship Id="rId34" Type="http://schemas.openxmlformats.org/officeDocument/2006/relationships/video" Target="../media/media-10-34.mp4"/><Relationship Id="rId35" Type="http://schemas.microsoft.com/office/2007/relationships/media" Target="../media/media-10-34.mp4"/><Relationship Id="rId36" Type="http://schemas.openxmlformats.org/officeDocument/2006/relationships/image" Target="../media/image-10-36.png"/><Relationship Id="rId37" Type="http://schemas.openxmlformats.org/officeDocument/2006/relationships/slideLayout" Target="../slideLayouts/slideLayout1.xml"/><Relationship Id="rId3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video" Target="../media/media-11-4.mp4"/><Relationship Id="rId5" Type="http://schemas.microsoft.com/office/2007/relationships/media" Target="../media/media-11-4.mp4"/><Relationship Id="rId6" Type="http://schemas.openxmlformats.org/officeDocument/2006/relationships/image" Target="../media/image-11-6.png"/><Relationship Id="rId7" Type="http://schemas.openxmlformats.org/officeDocument/2006/relationships/video" Target="../media/media-11-7.mp4"/><Relationship Id="rId8" Type="http://schemas.microsoft.com/office/2007/relationships/media" Target="../media/media-11-7.mp4"/><Relationship Id="rId9" Type="http://schemas.openxmlformats.org/officeDocument/2006/relationships/image" Target="../media/image-11-9.png"/><Relationship Id="rId10" Type="http://schemas.openxmlformats.org/officeDocument/2006/relationships/video" Target="../media/media-11-10.mp4"/><Relationship Id="rId11" Type="http://schemas.microsoft.com/office/2007/relationships/media" Target="../media/media-11-10.mp4"/><Relationship Id="rId12" Type="http://schemas.openxmlformats.org/officeDocument/2006/relationships/image" Target="../media/image-11-12.png"/><Relationship Id="rId13" Type="http://schemas.openxmlformats.org/officeDocument/2006/relationships/video" Target="../media/media-11-13.mp4"/><Relationship Id="rId14" Type="http://schemas.microsoft.com/office/2007/relationships/media" Target="../media/media-11-13.mp4"/><Relationship Id="rId15" Type="http://schemas.openxmlformats.org/officeDocument/2006/relationships/image" Target="../media/image-11-15.png"/><Relationship Id="rId16" Type="http://schemas.openxmlformats.org/officeDocument/2006/relationships/video" Target="../media/media-11-16.mp4"/><Relationship Id="rId17" Type="http://schemas.microsoft.com/office/2007/relationships/media" Target="../media/media-11-16.mp4"/><Relationship Id="rId18" Type="http://schemas.openxmlformats.org/officeDocument/2006/relationships/image" Target="../media/image-11-18.png"/><Relationship Id="rId19" Type="http://schemas.openxmlformats.org/officeDocument/2006/relationships/video" Target="../media/media-11-19.mp4"/><Relationship Id="rId20" Type="http://schemas.microsoft.com/office/2007/relationships/media" Target="../media/media-11-19.mp4"/><Relationship Id="rId21" Type="http://schemas.openxmlformats.org/officeDocument/2006/relationships/image" Target="../media/image-11-21.png"/><Relationship Id="rId22" Type="http://schemas.openxmlformats.org/officeDocument/2006/relationships/video" Target="../media/media-11-22.mp4"/><Relationship Id="rId23" Type="http://schemas.microsoft.com/office/2007/relationships/media" Target="../media/media-11-22.mp4"/><Relationship Id="rId24" Type="http://schemas.openxmlformats.org/officeDocument/2006/relationships/image" Target="../media/image-11-24.png"/><Relationship Id="rId25" Type="http://schemas.openxmlformats.org/officeDocument/2006/relationships/video" Target="../media/media-11-25.mp4"/><Relationship Id="rId26" Type="http://schemas.microsoft.com/office/2007/relationships/media" Target="../media/media-11-25.mp4"/><Relationship Id="rId27" Type="http://schemas.openxmlformats.org/officeDocument/2006/relationships/image" Target="../media/image-11-27.png"/><Relationship Id="rId28" Type="http://schemas.openxmlformats.org/officeDocument/2006/relationships/video" Target="../media/media-11-28.mp4"/><Relationship Id="rId29" Type="http://schemas.microsoft.com/office/2007/relationships/media" Target="../media/media-11-28.mp4"/><Relationship Id="rId30" Type="http://schemas.openxmlformats.org/officeDocument/2006/relationships/image" Target="../media/image-11-30.png"/><Relationship Id="rId31" Type="http://schemas.openxmlformats.org/officeDocument/2006/relationships/video" Target="../media/media-11-31.mp4"/><Relationship Id="rId32" Type="http://schemas.microsoft.com/office/2007/relationships/media" Target="../media/media-11-31.mp4"/><Relationship Id="rId33" Type="http://schemas.openxmlformats.org/officeDocument/2006/relationships/image" Target="../media/image-11-33.png"/><Relationship Id="rId34" Type="http://schemas.openxmlformats.org/officeDocument/2006/relationships/video" Target="../media/media-11-34.mp4"/><Relationship Id="rId35" Type="http://schemas.microsoft.com/office/2007/relationships/media" Target="../media/media-11-34.mp4"/><Relationship Id="rId36" Type="http://schemas.openxmlformats.org/officeDocument/2006/relationships/image" Target="../media/image-11-36.png"/><Relationship Id="rId37" Type="http://schemas.openxmlformats.org/officeDocument/2006/relationships/slideLayout" Target="../slideLayouts/slideLayout1.xml"/><Relationship Id="rId3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video" Target="../media/media-12-4.mp4"/><Relationship Id="rId5" Type="http://schemas.microsoft.com/office/2007/relationships/media" Target="../media/media-12-4.mp4"/><Relationship Id="rId6" Type="http://schemas.openxmlformats.org/officeDocument/2006/relationships/image" Target="../media/image-12-6.png"/><Relationship Id="rId7" Type="http://schemas.openxmlformats.org/officeDocument/2006/relationships/video" Target="../media/media-12-7.mp4"/><Relationship Id="rId8" Type="http://schemas.microsoft.com/office/2007/relationships/media" Target="../media/media-12-7.mp4"/><Relationship Id="rId9" Type="http://schemas.openxmlformats.org/officeDocument/2006/relationships/image" Target="../media/image-12-9.png"/><Relationship Id="rId10" Type="http://schemas.openxmlformats.org/officeDocument/2006/relationships/video" Target="../media/media-12-10.mp4"/><Relationship Id="rId11" Type="http://schemas.microsoft.com/office/2007/relationships/media" Target="../media/media-12-10.mp4"/><Relationship Id="rId12" Type="http://schemas.openxmlformats.org/officeDocument/2006/relationships/image" Target="../media/image-12-12.png"/><Relationship Id="rId13" Type="http://schemas.openxmlformats.org/officeDocument/2006/relationships/video" Target="../media/media-12-13.mp4"/><Relationship Id="rId14" Type="http://schemas.microsoft.com/office/2007/relationships/media" Target="../media/media-12-13.mp4"/><Relationship Id="rId15" Type="http://schemas.openxmlformats.org/officeDocument/2006/relationships/image" Target="../media/image-12-15.png"/><Relationship Id="rId16" Type="http://schemas.openxmlformats.org/officeDocument/2006/relationships/video" Target="../media/media-12-16.mp4"/><Relationship Id="rId17" Type="http://schemas.microsoft.com/office/2007/relationships/media" Target="../media/media-12-16.mp4"/><Relationship Id="rId18" Type="http://schemas.openxmlformats.org/officeDocument/2006/relationships/image" Target="../media/image-12-18.png"/><Relationship Id="rId19" Type="http://schemas.openxmlformats.org/officeDocument/2006/relationships/video" Target="../media/media-12-19.mp4"/><Relationship Id="rId20" Type="http://schemas.microsoft.com/office/2007/relationships/media" Target="../media/media-12-19.mp4"/><Relationship Id="rId21" Type="http://schemas.openxmlformats.org/officeDocument/2006/relationships/image" Target="../media/image-12-21.png"/><Relationship Id="rId22" Type="http://schemas.openxmlformats.org/officeDocument/2006/relationships/video" Target="../media/media-12-22.mp4"/><Relationship Id="rId23" Type="http://schemas.microsoft.com/office/2007/relationships/media" Target="../media/media-12-22.mp4"/><Relationship Id="rId24" Type="http://schemas.openxmlformats.org/officeDocument/2006/relationships/image" Target="../media/image-12-24.png"/><Relationship Id="rId25" Type="http://schemas.openxmlformats.org/officeDocument/2006/relationships/video" Target="../media/media-12-25.mp4"/><Relationship Id="rId26" Type="http://schemas.microsoft.com/office/2007/relationships/media" Target="../media/media-12-25.mp4"/><Relationship Id="rId27" Type="http://schemas.openxmlformats.org/officeDocument/2006/relationships/image" Target="../media/image-12-27.png"/><Relationship Id="rId28" Type="http://schemas.openxmlformats.org/officeDocument/2006/relationships/video" Target="../media/media-12-28.mp4"/><Relationship Id="rId29" Type="http://schemas.microsoft.com/office/2007/relationships/media" Target="../media/media-12-28.mp4"/><Relationship Id="rId30" Type="http://schemas.openxmlformats.org/officeDocument/2006/relationships/image" Target="../media/image-12-30.png"/><Relationship Id="rId31" Type="http://schemas.openxmlformats.org/officeDocument/2006/relationships/video" Target="../media/media-12-31.mp4"/><Relationship Id="rId32" Type="http://schemas.microsoft.com/office/2007/relationships/media" Target="../media/media-12-31.mp4"/><Relationship Id="rId33" Type="http://schemas.openxmlformats.org/officeDocument/2006/relationships/image" Target="../media/image-12-33.png"/><Relationship Id="rId34" Type="http://schemas.openxmlformats.org/officeDocument/2006/relationships/video" Target="../media/media-12-34.mp4"/><Relationship Id="rId35" Type="http://schemas.microsoft.com/office/2007/relationships/media" Target="../media/media-12-34.mp4"/><Relationship Id="rId36" Type="http://schemas.openxmlformats.org/officeDocument/2006/relationships/image" Target="../media/image-12-36.png"/><Relationship Id="rId37" Type="http://schemas.openxmlformats.org/officeDocument/2006/relationships/slideLayout" Target="../slideLayouts/slideLayout1.xml"/><Relationship Id="rId3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5"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6"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7" name="Text 2"/>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Green, orange, purple, and blue boxes mark where the five tricks enter; Redundancy Control is action repeat.</a:t>
            </a:r>
            <a:endParaRPr lang="en-US" sz="1100" dirty="0"/>
          </a:p>
        </p:txBody>
      </p:sp>
      <p:sp>
        <p:nvSpPr>
          <p:cNvPr id="8" name="Text 3"/>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Tens to hundreds of milliseconds per step (60 to 450 ms in our runs), which limits how often the policy can observe, decide, and correct.</a:t>
            </a:r>
            <a:endParaRPr lang="en-US" sz="1400" dirty="0"/>
          </a:p>
        </p:txBody>
      </p:sp>
      <p:sp>
        <p:nvSpPr>
          <p:cNvPr id="9" name="Text 4"/>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Gains are reported in isolation. </a:t>
            </a:r>
            <a:pPr indent="0" marL="0">
              <a:buNone/>
            </a:pPr>
            <a:r>
              <a:rPr lang="en-US" sz="1400" dirty="0">
                <a:solidFill>
                  <a:srgbClr val="1F2933"/>
                </a:solidFill>
                <a:latin typeface="Arial" pitchFamily="34" charset="0"/>
                <a:ea typeface="Arial" pitchFamily="34" charset="-122"/>
                <a:cs typeface="Arial" pitchFamily="34" charset="-120"/>
              </a:rPr>
              <a:t>Training-free tricks are typically evaluated for a specific trick, backbone, benchmark, and implementation, so transfer across models is unknown.</a:t>
            </a:r>
            <a:endParaRPr lang="en-US" sz="1400" dirty="0"/>
          </a:p>
        </p:txBody>
      </p:sp>
      <p:sp>
        <p:nvSpPr>
          <p:cNvPr id="10" name="Shape 5"/>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11" name="Text 6"/>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transition spd="fast" advTm="13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5" name="Shape 1"/>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7"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8"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 no latency saving</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B03A2E"/>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Foveation 20%</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Spoon on towel,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5"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7"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8" name="Text 3"/>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about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2E8B57"/>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Action repeat 2</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B03A2E"/>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Carrot on plate,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5"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7"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8" name="Text 3"/>
          <p:cNvSpPr txBox="1"/>
          <p:nvPr/>
        </p:nvSpPr>
        <p:spPr>
          <a:xfrm>
            <a:off x="3108960" y="1005840"/>
            <a:ext cx="1371600" cy="35661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Score each decoder block by Block Influence</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Remove 1, 2, or 4 low-influence blocks; none adjacent, early blocks and the final block kept</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Fixed once from calibration data, not adapted at test time</a:t>
            </a:r>
            <a:endParaRPr lang="en-US" sz="110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B03A2E"/>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Depth pruning 2</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Carrot on plate, same episode, 2× speed. Green border = success, red = failure.</a:t>
            </a:r>
            <a:endParaRPr lang="en-US" sz="1000" dirty="0"/>
          </a:p>
        </p:txBody>
      </p:sp>
    </p:spTree>
  </p:cSld>
  <p:clrMapOvr>
    <a:masterClrMapping/>
  </p:clrMapOvr>
  <p:transition spd="fast" advTm="12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5"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7"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8"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9"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0"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11" name="Shape 5"/>
          <p:cNvSpPr/>
          <p:nvPr/>
        </p:nvSpPr>
        <p:spPr>
          <a:xfrm>
            <a:off x="4754880" y="1024128"/>
            <a:ext cx="1901952" cy="1426464"/>
          </a:xfrm>
          <a:prstGeom prst="rect">
            <a:avLst/>
          </a:prstGeom>
          <a:ln w="19050">
            <a:solidFill>
              <a:srgbClr val="2E8B57"/>
            </a:solidFill>
            <a:prstDash val="solid"/>
          </a:ln>
        </p:spPr>
      </p:sp>
      <p:sp>
        <p:nvSpPr>
          <p:cNvPr id="12"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Reuse aggressive</a:t>
            </a:r>
            <a:endParaRPr lang="en-US" sz="950" dirty="0"/>
          </a:p>
        </p:txBody>
      </p:sp>
      <p:pic>
        <p:nvPicPr>
          <p:cNvPr id="13"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4" name="Shape 7"/>
          <p:cNvSpPr/>
          <p:nvPr/>
        </p:nvSpPr>
        <p:spPr>
          <a:xfrm>
            <a:off x="6784848" y="1024128"/>
            <a:ext cx="1901952" cy="1426464"/>
          </a:xfrm>
          <a:prstGeom prst="rect">
            <a:avLst/>
          </a:prstGeom>
          <a:ln w="19050">
            <a:solidFill>
              <a:srgbClr val="2E8B57"/>
            </a:solidFill>
            <a:prstDash val="solid"/>
          </a:ln>
        </p:spPr>
      </p:sp>
      <p:sp>
        <p:nvSpPr>
          <p:cNvPr id="15"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Stack cube, same episode, 2× speed. Green border = success, red = failure.</a:t>
            </a:r>
            <a:endParaRPr lang="en-US" sz="1000" dirty="0"/>
          </a:p>
        </p:txBody>
      </p:sp>
    </p:spTree>
  </p:cSld>
  <p:clrMapOvr>
    <a:masterClrMapping/>
  </p:clrMapOvr>
  <p:transition spd="fast" advTm="1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0"/>
                                        </p:tgtEl>
                                      </p:cBhvr>
                                    </p:cmd>
                                  </p:childTnLst>
                                </p:cTn>
                              </p:par>
                              <p:par>
                                <p:cTn id="7" presetID="1" presetClass="mediacall" presetSubtype="0" fill="hold" nodeType="withEffect">
                                  <p:stCondLst>
                                    <p:cond delay="0"/>
                                  </p:stCondLst>
                                  <p:childTnLst>
                                    <p:cmd type="call" cmd="playFrom(0.0)">
                                      <p:cBhvr>
                                        <p:cTn id="8" dur="10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0"/>
                </p:tgtEl>
              </p:cMediaNode>
            </p:video>
            <p:video>
              <p:cMediaNode vol="80000">
                <p:cTn id="10" fill="hold" display="0">
                  <p:stCondLst>
                    <p:cond delay="indefinite"/>
                  </p:stCondLst>
                </p:cTn>
                <p:tgtEl>
                  <p:spTgt spid="1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5"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6"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7"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8" name="Text 3"/>
          <p:cNvSpPr txBox="1"/>
          <p:nvPr/>
        </p:nvSpPr>
        <p:spPr>
          <a:xfrm>
            <a:off x="2926080" y="960120"/>
            <a:ext cx="1554480" cy="32918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Reuse visual tokens of stable patches from the previous call</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Recompute patches with motion, local structure, language attention, or in the interaction region</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Presets: motion-entropy, task-aware, conservative-adaptive</a:t>
            </a:r>
            <a:endParaRPr lang="en-US" sz="1100" dirty="0"/>
          </a:p>
        </p:txBody>
      </p:sp>
      <p:pic>
        <p:nvPicPr>
          <p:cNvPr id="9" name="Image 1" descr="/tmp/claude-0/-home-user-BiVLA/4327cefa-ba5d-5e2e-9d87-c73dd3a8ccbb/scratchpad/video_ppt/assets/m_cache.png">    </p:cNvPr>
          <p:cNvPicPr>
            <a:picLocks noChangeAspect="1"/>
          </p:cNvPicPr>
          <p:nvPr/>
        </p:nvPicPr>
        <p:blipFill>
          <a:blip r:embed="rId2"/>
          <a:stretch>
            <a:fillRect/>
          </a:stretch>
        </p:blipFill>
        <p:spPr>
          <a:xfrm>
            <a:off x="457200" y="2944368"/>
            <a:ext cx="2331720" cy="1426464"/>
          </a:xfrm>
          <a:prstGeom prst="rect">
            <a:avLst/>
          </a:prstGeom>
        </p:spPr>
      </p:pic>
      <p:sp>
        <p:nvSpPr>
          <p:cNvPr id="10" name="Text 4"/>
          <p:cNvSpPr txBox="1"/>
          <p:nvPr/>
        </p:nvSpPr>
        <p:spPr>
          <a:xfrm>
            <a:off x="457200" y="4480560"/>
            <a:ext cx="2560320" cy="32004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a:t>
            </a:r>
            <a:endParaRPr lang="en-US" sz="950" dirty="0"/>
          </a:p>
        </p:txBody>
      </p:sp>
      <p:sp>
        <p:nvSpPr>
          <p:cNvPr id="11" name="Text 5"/>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12"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4754880" y="1024128"/>
            <a:ext cx="1901952" cy="1426464"/>
          </a:xfrm>
          <a:prstGeom prst="rect">
            <a:avLst/>
          </a:prstGeom>
        </p:spPr>
      </p:pic>
      <p:sp>
        <p:nvSpPr>
          <p:cNvPr id="13" name="Shape 6"/>
          <p:cNvSpPr/>
          <p:nvPr/>
        </p:nvSpPr>
        <p:spPr>
          <a:xfrm>
            <a:off x="4754880" y="1024128"/>
            <a:ext cx="1901952" cy="1426464"/>
          </a:xfrm>
          <a:prstGeom prst="rect">
            <a:avLst/>
          </a:prstGeom>
          <a:ln w="19050">
            <a:solidFill>
              <a:srgbClr val="B03A2E"/>
            </a:solidFill>
            <a:prstDash val="solid"/>
          </a:ln>
        </p:spPr>
      </p:sp>
      <p:sp>
        <p:nvSpPr>
          <p:cNvPr id="14" name="Text 7"/>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Fusion motion</a:t>
            </a:r>
            <a:endParaRPr lang="en-US" sz="950" dirty="0"/>
          </a:p>
        </p:txBody>
      </p:sp>
      <p:pic>
        <p:nvPicPr>
          <p:cNvPr id="15" name="Media 1">
            <a:hlinkClick r:id="" action="ppaction://media"/>
          </p:cNvPr>
          <p:cNvPicPr>
            <a:picLocks noChangeAspect="1"/>
          </p:cNvPicPr>
          <p:nvPr>
            <a:videoFile r:link="rId6"/>
            <p:extLst>
              <p:ext uri="{DAA4B4D4-6D71-4841-9C94-3DE7FCFB9230}">
                <p14:media xmlns:p14="http://schemas.microsoft.com/office/powerpoint/2010/main" r:embed="rId7"/>
              </p:ext>
            </p:extLst>
          </p:nvPr>
        </p:nvPicPr>
        <p:blipFill>
          <a:blip r:embed="rId8"/>
          <a:stretch>
            <a:fillRect/>
          </a:stretch>
        </p:blipFill>
        <p:spPr>
          <a:xfrm>
            <a:off x="6784848" y="1024128"/>
            <a:ext cx="1901952" cy="1426464"/>
          </a:xfrm>
          <a:prstGeom prst="rect">
            <a:avLst/>
          </a:prstGeom>
        </p:spPr>
      </p:pic>
      <p:sp>
        <p:nvSpPr>
          <p:cNvPr id="16" name="Shape 8"/>
          <p:cNvSpPr/>
          <p:nvPr/>
        </p:nvSpPr>
        <p:spPr>
          <a:xfrm>
            <a:off x="6784848" y="1024128"/>
            <a:ext cx="1901952" cy="1426464"/>
          </a:xfrm>
          <a:prstGeom prst="rect">
            <a:avLst/>
          </a:prstGeom>
          <a:ln w="19050">
            <a:solidFill>
              <a:srgbClr val="2E8B57"/>
            </a:solidFill>
            <a:prstDash val="solid"/>
          </a:ln>
        </p:spPr>
      </p:sp>
      <p:sp>
        <p:nvSpPr>
          <p:cNvPr id="17" name="Text 9"/>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on WidowX, Spoon on towel, same episode, 2× speed. Green border = success, red = failure.</a:t>
            </a:r>
            <a:endParaRPr lang="en-US" sz="1000" dirty="0"/>
          </a:p>
        </p:txBody>
      </p:sp>
    </p:spTree>
  </p:cSld>
  <p:clrMapOvr>
    <a:masterClrMapping/>
  </p:clrMapOvr>
  <p:transition spd="fast" advTm="12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12"/>
                                        </p:tgtEl>
                                      </p:cBhvr>
                                    </p:cmd>
                                  </p:childTnLst>
                                </p:cTn>
                              </p:par>
                              <p:par>
                                <p:cTn id="7" presetID="1" presetClass="mediacall" presetSubtype="0" fill="hold" nodeType="withEffect">
                                  <p:stCondLst>
                                    <p:cond delay="0"/>
                                  </p:stCondLst>
                                  <p:childTnLst>
                                    <p:cmd type="call" cmd="playFrom(0.0)">
                                      <p:cBhvr>
                                        <p:cTn id="8" dur="100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2"/>
                </p:tgtEl>
              </p:cMediaNode>
            </p:video>
            <p:video>
              <p:cMediaNode vol="80000">
                <p:cTn id="10" fill="hold" display="0">
                  <p:stCondLst>
                    <p:cond delay="indefinite"/>
                  </p:stCondLst>
                </p:cTn>
                <p:tgtEl>
                  <p:spTgt spid="15"/>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Eggplant in basket</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3×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2E8B57"/>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2E8B57"/>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2E8B57"/>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2E8B57"/>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2E8B57"/>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2E8B57"/>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Stack cube</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2×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2E8B57"/>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2E8B57"/>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B03A2E"/>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2E8B57"/>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2E8B57"/>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2E8B57"/>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6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CogACT, WidowX: Spoon on towel</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All 14 configurations on the same episode (same initial state), 2× speed. Green border = success, red = failure.</a:t>
            </a:r>
            <a:endParaRPr lang="en-US" sz="1050" dirty="0"/>
          </a:p>
        </p:txBody>
      </p:sp>
      <p:sp>
        <p:nvSpPr>
          <p:cNvPr id="6" name="Text 2"/>
          <p:cNvSpPr txBox="1"/>
          <p:nvPr/>
        </p:nvSpPr>
        <p:spPr>
          <a:xfrm>
            <a:off x="457200" y="1188720"/>
            <a:ext cx="1426464"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71600"/>
            <a:ext cx="1426464" cy="1069848"/>
          </a:xfrm>
          <a:prstGeom prst="rect">
            <a:avLst/>
          </a:prstGeom>
        </p:spPr>
      </p:pic>
      <p:sp>
        <p:nvSpPr>
          <p:cNvPr id="8" name="Shape 3"/>
          <p:cNvSpPr/>
          <p:nvPr/>
        </p:nvSpPr>
        <p:spPr>
          <a:xfrm>
            <a:off x="457200" y="1371600"/>
            <a:ext cx="1426464" cy="1069848"/>
          </a:xfrm>
          <a:prstGeom prst="rect">
            <a:avLst/>
          </a:prstGeom>
          <a:ln w="19050">
            <a:solidFill>
              <a:srgbClr val="B03A2E"/>
            </a:solidFill>
            <a:prstDash val="solid"/>
          </a:ln>
        </p:spPr>
      </p:sp>
      <p:sp>
        <p:nvSpPr>
          <p:cNvPr id="9" name="Text 4"/>
          <p:cNvSpPr txBox="1"/>
          <p:nvPr/>
        </p:nvSpPr>
        <p:spPr>
          <a:xfrm>
            <a:off x="2157984"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371600"/>
            <a:ext cx="1426464" cy="1069848"/>
          </a:xfrm>
          <a:prstGeom prst="rect">
            <a:avLst/>
          </a:prstGeom>
        </p:spPr>
      </p:pic>
      <p:sp>
        <p:nvSpPr>
          <p:cNvPr id="11" name="Shape 5"/>
          <p:cNvSpPr/>
          <p:nvPr/>
        </p:nvSpPr>
        <p:spPr>
          <a:xfrm>
            <a:off x="2157984" y="1371600"/>
            <a:ext cx="1426464" cy="1069848"/>
          </a:xfrm>
          <a:prstGeom prst="rect">
            <a:avLst/>
          </a:prstGeom>
          <a:ln w="19050">
            <a:solidFill>
              <a:srgbClr val="B03A2E"/>
            </a:solidFill>
            <a:prstDash val="solid"/>
          </a:ln>
        </p:spPr>
      </p:sp>
      <p:sp>
        <p:nvSpPr>
          <p:cNvPr id="12" name="Text 6"/>
          <p:cNvSpPr txBox="1"/>
          <p:nvPr/>
        </p:nvSpPr>
        <p:spPr>
          <a:xfrm>
            <a:off x="3858768" y="1188720"/>
            <a:ext cx="1426464"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371600"/>
            <a:ext cx="1426464" cy="1069848"/>
          </a:xfrm>
          <a:prstGeom prst="rect">
            <a:avLst/>
          </a:prstGeom>
        </p:spPr>
      </p:pic>
      <p:sp>
        <p:nvSpPr>
          <p:cNvPr id="14" name="Shape 7"/>
          <p:cNvSpPr/>
          <p:nvPr/>
        </p:nvSpPr>
        <p:spPr>
          <a:xfrm>
            <a:off x="3858768" y="1371600"/>
            <a:ext cx="1426464" cy="1069848"/>
          </a:xfrm>
          <a:prstGeom prst="rect">
            <a:avLst/>
          </a:prstGeom>
          <a:ln w="19050">
            <a:solidFill>
              <a:srgbClr val="B03A2E"/>
            </a:solidFill>
            <a:prstDash val="solid"/>
          </a:ln>
        </p:spPr>
      </p:sp>
      <p:sp>
        <p:nvSpPr>
          <p:cNvPr id="15" name="Text 8"/>
          <p:cNvSpPr txBox="1"/>
          <p:nvPr/>
        </p:nvSpPr>
        <p:spPr>
          <a:xfrm>
            <a:off x="5559552"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371600"/>
            <a:ext cx="1426464" cy="1069848"/>
          </a:xfrm>
          <a:prstGeom prst="rect">
            <a:avLst/>
          </a:prstGeom>
        </p:spPr>
      </p:pic>
      <p:sp>
        <p:nvSpPr>
          <p:cNvPr id="17" name="Shape 9"/>
          <p:cNvSpPr/>
          <p:nvPr/>
        </p:nvSpPr>
        <p:spPr>
          <a:xfrm>
            <a:off x="5559552" y="1371600"/>
            <a:ext cx="1426464" cy="1069848"/>
          </a:xfrm>
          <a:prstGeom prst="rect">
            <a:avLst/>
          </a:prstGeom>
          <a:ln w="19050">
            <a:solidFill>
              <a:srgbClr val="B03A2E"/>
            </a:solidFill>
            <a:prstDash val="solid"/>
          </a:ln>
        </p:spPr>
      </p:sp>
      <p:sp>
        <p:nvSpPr>
          <p:cNvPr id="18" name="Text 10"/>
          <p:cNvSpPr txBox="1"/>
          <p:nvPr/>
        </p:nvSpPr>
        <p:spPr>
          <a:xfrm>
            <a:off x="7260336" y="1188720"/>
            <a:ext cx="1426464"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371600"/>
            <a:ext cx="1426464" cy="1069848"/>
          </a:xfrm>
          <a:prstGeom prst="rect">
            <a:avLst/>
          </a:prstGeom>
        </p:spPr>
      </p:pic>
      <p:sp>
        <p:nvSpPr>
          <p:cNvPr id="20" name="Shape 11"/>
          <p:cNvSpPr/>
          <p:nvPr/>
        </p:nvSpPr>
        <p:spPr>
          <a:xfrm>
            <a:off x="7260336" y="1371600"/>
            <a:ext cx="1426464" cy="1069848"/>
          </a:xfrm>
          <a:prstGeom prst="rect">
            <a:avLst/>
          </a:prstGeom>
          <a:ln w="19050">
            <a:solidFill>
              <a:srgbClr val="B03A2E"/>
            </a:solidFill>
            <a:prstDash val="solid"/>
          </a:ln>
        </p:spPr>
      </p:sp>
      <p:sp>
        <p:nvSpPr>
          <p:cNvPr id="21" name="Text 12"/>
          <p:cNvSpPr txBox="1"/>
          <p:nvPr/>
        </p:nvSpPr>
        <p:spPr>
          <a:xfrm>
            <a:off x="457200"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660904"/>
            <a:ext cx="1426464" cy="1069848"/>
          </a:xfrm>
          <a:prstGeom prst="rect">
            <a:avLst/>
          </a:prstGeom>
        </p:spPr>
      </p:pic>
      <p:sp>
        <p:nvSpPr>
          <p:cNvPr id="23" name="Shape 13"/>
          <p:cNvSpPr/>
          <p:nvPr/>
        </p:nvSpPr>
        <p:spPr>
          <a:xfrm>
            <a:off x="457200" y="2660904"/>
            <a:ext cx="1426464" cy="1069848"/>
          </a:xfrm>
          <a:prstGeom prst="rect">
            <a:avLst/>
          </a:prstGeom>
          <a:ln w="19050">
            <a:solidFill>
              <a:srgbClr val="2E8B57"/>
            </a:solidFill>
            <a:prstDash val="solid"/>
          </a:ln>
        </p:spPr>
      </p:sp>
      <p:sp>
        <p:nvSpPr>
          <p:cNvPr id="24" name="Text 14"/>
          <p:cNvSpPr txBox="1"/>
          <p:nvPr/>
        </p:nvSpPr>
        <p:spPr>
          <a:xfrm>
            <a:off x="2157984"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660904"/>
            <a:ext cx="1426464" cy="1069848"/>
          </a:xfrm>
          <a:prstGeom prst="rect">
            <a:avLst/>
          </a:prstGeom>
        </p:spPr>
      </p:pic>
      <p:sp>
        <p:nvSpPr>
          <p:cNvPr id="26" name="Shape 15"/>
          <p:cNvSpPr/>
          <p:nvPr/>
        </p:nvSpPr>
        <p:spPr>
          <a:xfrm>
            <a:off x="2157984" y="2660904"/>
            <a:ext cx="1426464" cy="1069848"/>
          </a:xfrm>
          <a:prstGeom prst="rect">
            <a:avLst/>
          </a:prstGeom>
          <a:ln w="19050">
            <a:solidFill>
              <a:srgbClr val="2E8B57"/>
            </a:solidFill>
            <a:prstDash val="solid"/>
          </a:ln>
        </p:spPr>
      </p:sp>
      <p:sp>
        <p:nvSpPr>
          <p:cNvPr id="27" name="Text 16"/>
          <p:cNvSpPr txBox="1"/>
          <p:nvPr/>
        </p:nvSpPr>
        <p:spPr>
          <a:xfrm>
            <a:off x="3858768" y="2478024"/>
            <a:ext cx="1426464"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660904"/>
            <a:ext cx="1426464" cy="1069848"/>
          </a:xfrm>
          <a:prstGeom prst="rect">
            <a:avLst/>
          </a:prstGeom>
        </p:spPr>
      </p:pic>
      <p:sp>
        <p:nvSpPr>
          <p:cNvPr id="29" name="Shape 17"/>
          <p:cNvSpPr/>
          <p:nvPr/>
        </p:nvSpPr>
        <p:spPr>
          <a:xfrm>
            <a:off x="3858768" y="2660904"/>
            <a:ext cx="1426464" cy="1069848"/>
          </a:xfrm>
          <a:prstGeom prst="rect">
            <a:avLst/>
          </a:prstGeom>
          <a:ln w="19050">
            <a:solidFill>
              <a:srgbClr val="2E8B57"/>
            </a:solidFill>
            <a:prstDash val="solid"/>
          </a:ln>
        </p:spPr>
      </p:sp>
      <p:sp>
        <p:nvSpPr>
          <p:cNvPr id="30" name="Text 18"/>
          <p:cNvSpPr txBox="1"/>
          <p:nvPr/>
        </p:nvSpPr>
        <p:spPr>
          <a:xfrm>
            <a:off x="5559552"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660904"/>
            <a:ext cx="1426464" cy="1069848"/>
          </a:xfrm>
          <a:prstGeom prst="rect">
            <a:avLst/>
          </a:prstGeom>
        </p:spPr>
      </p:pic>
      <p:sp>
        <p:nvSpPr>
          <p:cNvPr id="32" name="Shape 19"/>
          <p:cNvSpPr/>
          <p:nvPr/>
        </p:nvSpPr>
        <p:spPr>
          <a:xfrm>
            <a:off x="5559552" y="2660904"/>
            <a:ext cx="1426464" cy="1069848"/>
          </a:xfrm>
          <a:prstGeom prst="rect">
            <a:avLst/>
          </a:prstGeom>
          <a:ln w="19050">
            <a:solidFill>
              <a:srgbClr val="B03A2E"/>
            </a:solidFill>
            <a:prstDash val="solid"/>
          </a:ln>
        </p:spPr>
      </p:sp>
      <p:sp>
        <p:nvSpPr>
          <p:cNvPr id="33" name="Text 20"/>
          <p:cNvSpPr txBox="1"/>
          <p:nvPr/>
        </p:nvSpPr>
        <p:spPr>
          <a:xfrm>
            <a:off x="7260336" y="2478024"/>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660904"/>
            <a:ext cx="1426464" cy="1069848"/>
          </a:xfrm>
          <a:prstGeom prst="rect">
            <a:avLst/>
          </a:prstGeom>
        </p:spPr>
      </p:pic>
      <p:sp>
        <p:nvSpPr>
          <p:cNvPr id="35" name="Shape 21"/>
          <p:cNvSpPr/>
          <p:nvPr/>
        </p:nvSpPr>
        <p:spPr>
          <a:xfrm>
            <a:off x="7260336" y="2660904"/>
            <a:ext cx="1426464" cy="1069848"/>
          </a:xfrm>
          <a:prstGeom prst="rect">
            <a:avLst/>
          </a:prstGeom>
          <a:ln w="19050">
            <a:solidFill>
              <a:srgbClr val="B03A2E"/>
            </a:solidFill>
            <a:prstDash val="solid"/>
          </a:ln>
        </p:spPr>
      </p:sp>
      <p:sp>
        <p:nvSpPr>
          <p:cNvPr id="36" name="Text 22"/>
          <p:cNvSpPr txBox="1"/>
          <p:nvPr/>
        </p:nvSpPr>
        <p:spPr>
          <a:xfrm>
            <a:off x="457200" y="3767328"/>
            <a:ext cx="1426464"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950208"/>
            <a:ext cx="1426464" cy="1069848"/>
          </a:xfrm>
          <a:prstGeom prst="rect">
            <a:avLst/>
          </a:prstGeom>
        </p:spPr>
      </p:pic>
      <p:sp>
        <p:nvSpPr>
          <p:cNvPr id="38" name="Shape 23"/>
          <p:cNvSpPr/>
          <p:nvPr/>
        </p:nvSpPr>
        <p:spPr>
          <a:xfrm>
            <a:off x="457200" y="3950208"/>
            <a:ext cx="1426464" cy="1069848"/>
          </a:xfrm>
          <a:prstGeom prst="rect">
            <a:avLst/>
          </a:prstGeom>
          <a:ln w="19050">
            <a:solidFill>
              <a:srgbClr val="B03A2E"/>
            </a:solidFill>
            <a:prstDash val="solid"/>
          </a:ln>
        </p:spPr>
      </p:sp>
      <p:sp>
        <p:nvSpPr>
          <p:cNvPr id="39" name="Text 24"/>
          <p:cNvSpPr txBox="1"/>
          <p:nvPr/>
        </p:nvSpPr>
        <p:spPr>
          <a:xfrm>
            <a:off x="2157984"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950208"/>
            <a:ext cx="1426464" cy="1069848"/>
          </a:xfrm>
          <a:prstGeom prst="rect">
            <a:avLst/>
          </a:prstGeom>
        </p:spPr>
      </p:pic>
      <p:sp>
        <p:nvSpPr>
          <p:cNvPr id="41" name="Shape 25"/>
          <p:cNvSpPr/>
          <p:nvPr/>
        </p:nvSpPr>
        <p:spPr>
          <a:xfrm>
            <a:off x="2157984" y="3950208"/>
            <a:ext cx="1426464" cy="1069848"/>
          </a:xfrm>
          <a:prstGeom prst="rect">
            <a:avLst/>
          </a:prstGeom>
          <a:ln w="19050">
            <a:solidFill>
              <a:srgbClr val="2E8B57"/>
            </a:solidFill>
            <a:prstDash val="solid"/>
          </a:ln>
        </p:spPr>
      </p:sp>
      <p:sp>
        <p:nvSpPr>
          <p:cNvPr id="42" name="Text 26"/>
          <p:cNvSpPr txBox="1"/>
          <p:nvPr/>
        </p:nvSpPr>
        <p:spPr>
          <a:xfrm>
            <a:off x="3858768"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43"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950208"/>
            <a:ext cx="1426464" cy="1069848"/>
          </a:xfrm>
          <a:prstGeom prst="rect">
            <a:avLst/>
          </a:prstGeom>
        </p:spPr>
      </p:pic>
      <p:sp>
        <p:nvSpPr>
          <p:cNvPr id="44" name="Shape 27"/>
          <p:cNvSpPr/>
          <p:nvPr/>
        </p:nvSpPr>
        <p:spPr>
          <a:xfrm>
            <a:off x="3858768" y="3950208"/>
            <a:ext cx="1426464" cy="1069848"/>
          </a:xfrm>
          <a:prstGeom prst="rect">
            <a:avLst/>
          </a:prstGeom>
          <a:ln w="19050">
            <a:solidFill>
              <a:srgbClr val="2E8B57"/>
            </a:solidFill>
            <a:prstDash val="solid"/>
          </a:ln>
        </p:spPr>
      </p:sp>
      <p:sp>
        <p:nvSpPr>
          <p:cNvPr id="45" name="Text 28"/>
          <p:cNvSpPr txBox="1"/>
          <p:nvPr/>
        </p:nvSpPr>
        <p:spPr>
          <a:xfrm>
            <a:off x="5559552" y="3767328"/>
            <a:ext cx="1426464"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
            </a:r>
            <a:endParaRPr lang="en-US" sz="900" dirty="0"/>
          </a:p>
        </p:txBody>
      </p:sp>
      <p:pic>
        <p:nvPicPr>
          <p:cNvPr id="46"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950208"/>
            <a:ext cx="1426464" cy="1069848"/>
          </a:xfrm>
          <a:prstGeom prst="rect">
            <a:avLst/>
          </a:prstGeom>
        </p:spPr>
      </p:pic>
      <p:sp>
        <p:nvSpPr>
          <p:cNvPr id="47" name="Shape 29"/>
          <p:cNvSpPr/>
          <p:nvPr/>
        </p:nvSpPr>
        <p:spPr>
          <a:xfrm>
            <a:off x="5559552" y="3950208"/>
            <a:ext cx="1426464" cy="1069848"/>
          </a:xfrm>
          <a:prstGeom prst="rect">
            <a:avLst/>
          </a:prstGeom>
          <a:ln w="19050">
            <a:solidFill>
              <a:srgbClr val="2E8B57"/>
            </a:solidFill>
            <a:prstDash val="solid"/>
          </a:ln>
        </p:spPr>
      </p:sp>
    </p:spTree>
  </p:cSld>
  <p:clrMapOvr>
    <a:masterClrMapping/>
  </p:clrMapOvr>
  <p:transition spd="fast" advTm="6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par>
                                <p:cTn id="29" presetID="1" presetClass="mediacall" presetSubtype="0" fill="hold" nodeType="withEffect">
                                  <p:stCondLst>
                                    <p:cond delay="0"/>
                                  </p:stCondLst>
                                  <p:childTnLst>
                                    <p:cmd type="call" cmd="playFrom(0.0)">
                                      <p:cBhvr>
                                        <p:cTn id="30" dur="1000" fill="hold"/>
                                        <p:tgtEl>
                                          <p:spTgt spid="43"/>
                                        </p:tgtEl>
                                      </p:cBhvr>
                                    </p:cmd>
                                  </p:childTnLst>
                                </p:cTn>
                              </p:par>
                              <p:par>
                                <p:cTn id="31" presetID="1" presetClass="mediacall" presetSubtype="0" fill="hold" nodeType="withEffect">
                                  <p:stCondLst>
                                    <p:cond delay="0"/>
                                  </p:stCondLst>
                                  <p:childTnLst>
                                    <p:cmd type="call" cmd="playFrom(0.0)">
                                      <p:cBhvr>
                                        <p:cTn id="32" dur="1000" fill="hold"/>
                                        <p:tgtEl>
                                          <p:spTgt spid="4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3" fill="hold" display="0">
                  <p:stCondLst>
                    <p:cond delay="indefinite"/>
                  </p:stCondLst>
                </p:cTn>
                <p:tgtEl>
                  <p:spTgt spid="7"/>
                </p:tgtEl>
              </p:cMediaNode>
            </p:video>
            <p:video>
              <p:cMediaNode vol="80000">
                <p:cTn id="34" fill="hold" display="0">
                  <p:stCondLst>
                    <p:cond delay="indefinite"/>
                  </p:stCondLst>
                </p:cTn>
                <p:tgtEl>
                  <p:spTgt spid="10"/>
                </p:tgtEl>
              </p:cMediaNode>
            </p:video>
            <p:video>
              <p:cMediaNode vol="80000">
                <p:cTn id="35" fill="hold" display="0">
                  <p:stCondLst>
                    <p:cond delay="indefinite"/>
                  </p:stCondLst>
                </p:cTn>
                <p:tgtEl>
                  <p:spTgt spid="13"/>
                </p:tgtEl>
              </p:cMediaNode>
            </p:video>
            <p:video>
              <p:cMediaNode vol="80000">
                <p:cTn id="36" fill="hold" display="0">
                  <p:stCondLst>
                    <p:cond delay="indefinite"/>
                  </p:stCondLst>
                </p:cTn>
                <p:tgtEl>
                  <p:spTgt spid="16"/>
                </p:tgtEl>
              </p:cMediaNode>
            </p:video>
            <p:video>
              <p:cMediaNode vol="80000">
                <p:cTn id="37" fill="hold" display="0">
                  <p:stCondLst>
                    <p:cond delay="indefinite"/>
                  </p:stCondLst>
                </p:cTn>
                <p:tgtEl>
                  <p:spTgt spid="19"/>
                </p:tgtEl>
              </p:cMediaNode>
            </p:video>
            <p:video>
              <p:cMediaNode vol="80000">
                <p:cTn id="38" fill="hold" display="0">
                  <p:stCondLst>
                    <p:cond delay="indefinite"/>
                  </p:stCondLst>
                </p:cTn>
                <p:tgtEl>
                  <p:spTgt spid="22"/>
                </p:tgtEl>
              </p:cMediaNode>
            </p:video>
            <p:video>
              <p:cMediaNode vol="80000">
                <p:cTn id="39" fill="hold" display="0">
                  <p:stCondLst>
                    <p:cond delay="indefinite"/>
                  </p:stCondLst>
                </p:cTn>
                <p:tgtEl>
                  <p:spTgt spid="25"/>
                </p:tgtEl>
              </p:cMediaNode>
            </p:video>
            <p:video>
              <p:cMediaNode vol="80000">
                <p:cTn id="40" fill="hold" display="0">
                  <p:stCondLst>
                    <p:cond delay="indefinite"/>
                  </p:stCondLst>
                </p:cTn>
                <p:tgtEl>
                  <p:spTgt spid="28"/>
                </p:tgtEl>
              </p:cMediaNode>
            </p:video>
            <p:video>
              <p:cMediaNode vol="80000">
                <p:cTn id="41" fill="hold" display="0">
                  <p:stCondLst>
                    <p:cond delay="indefinite"/>
                  </p:stCondLst>
                </p:cTn>
                <p:tgtEl>
                  <p:spTgt spid="31"/>
                </p:tgtEl>
              </p:cMediaNode>
            </p:video>
            <p:video>
              <p:cMediaNode vol="80000">
                <p:cTn id="42" fill="hold" display="0">
                  <p:stCondLst>
                    <p:cond delay="indefinite"/>
                  </p:stCondLst>
                </p:cTn>
                <p:tgtEl>
                  <p:spTgt spid="34"/>
                </p:tgtEl>
              </p:cMediaNode>
            </p:video>
            <p:video>
              <p:cMediaNode vol="80000">
                <p:cTn id="43" fill="hold" display="0">
                  <p:stCondLst>
                    <p:cond delay="indefinite"/>
                  </p:stCondLst>
                </p:cTn>
                <p:tgtEl>
                  <p:spTgt spid="37"/>
                </p:tgtEl>
              </p:cMediaNode>
            </p:video>
            <p:video>
              <p:cMediaNode vol="80000">
                <p:cTn id="44" fill="hold" display="0">
                  <p:stCondLst>
                    <p:cond delay="indefinite"/>
                  </p:stCondLst>
                </p:cTn>
                <p:tgtEl>
                  <p:spTgt spid="40"/>
                </p:tgtEl>
              </p:cMediaNode>
            </p:video>
            <p:video>
              <p:cMediaNode vol="80000">
                <p:cTn id="45" fill="hold" display="0">
                  <p:stCondLst>
                    <p:cond delay="indefinite"/>
                  </p:stCondLst>
                </p:cTn>
                <p:tgtEl>
                  <p:spTgt spid="43"/>
                </p:tgtEl>
              </p:cMediaNode>
            </p:video>
            <p:video>
              <p:cMediaNode vol="80000">
                <p:cTn id="46" fill="hold" display="0">
                  <p:stCondLst>
                    <p:cond delay="indefinite"/>
                  </p:stCondLst>
                </p:cTn>
                <p:tgtEl>
                  <p:spTgt spid="46"/>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Move near</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12 of the 14 configurations on the same episode (two temporal-fusion presets not rendered),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2E8B57"/>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B03A2E"/>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2E8B57"/>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2E8B57"/>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2E8B57"/>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Pick coke can</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12 of the 14 configurations on the same episode (two temporal-fusion presets not rendered),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2E8B57"/>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2E8B57"/>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2E8B57"/>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2E8B57"/>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2E8B57"/>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400" b="1" dirty="0">
                <a:solidFill>
                  <a:srgbClr val="1F2933"/>
                </a:solidFill>
                <a:latin typeface="Arial" pitchFamily="34" charset="0"/>
                <a:ea typeface="Arial" pitchFamily="34" charset="-122"/>
                <a:cs typeface="Arial" pitchFamily="34" charset="-120"/>
              </a:rPr>
              <a:t>OpenVLA, Fractal: Open drawer</a:t>
            </a:r>
            <a:endParaRPr lang="en-US" sz="2400" dirty="0"/>
          </a:p>
        </p:txBody>
      </p:sp>
      <p:sp>
        <p:nvSpPr>
          <p:cNvPr id="5" name="Text 1"/>
          <p:cNvSpPr txBox="1"/>
          <p:nvPr/>
        </p:nvSpPr>
        <p:spPr>
          <a:xfrm>
            <a:off x="457200" y="868680"/>
            <a:ext cx="8229600" cy="256032"/>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12 of the 14 configurations on the same episode (two temporal-fusion presets not rendered), 2× speed. Green border = success, red = failure.</a:t>
            </a:r>
            <a:endParaRPr lang="en-US" sz="1050" dirty="0"/>
          </a:p>
        </p:txBody>
      </p:sp>
      <p:sp>
        <p:nvSpPr>
          <p:cNvPr id="6" name="Text 2"/>
          <p:cNvSpPr txBox="1"/>
          <p:nvPr/>
        </p:nvSpPr>
        <p:spPr>
          <a:xfrm>
            <a:off x="457200" y="1234440"/>
            <a:ext cx="1115568"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7"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417320"/>
            <a:ext cx="1115568" cy="1435608"/>
          </a:xfrm>
          <a:prstGeom prst="rect">
            <a:avLst/>
          </a:prstGeom>
        </p:spPr>
      </p:pic>
      <p:sp>
        <p:nvSpPr>
          <p:cNvPr id="8" name="Shape 3"/>
          <p:cNvSpPr/>
          <p:nvPr/>
        </p:nvSpPr>
        <p:spPr>
          <a:xfrm>
            <a:off x="457200" y="1417320"/>
            <a:ext cx="1115568" cy="1435608"/>
          </a:xfrm>
          <a:prstGeom prst="rect">
            <a:avLst/>
          </a:prstGeom>
          <a:ln w="19050">
            <a:solidFill>
              <a:srgbClr val="B03A2E"/>
            </a:solidFill>
            <a:prstDash val="solid"/>
          </a:ln>
        </p:spPr>
      </p:sp>
      <p:sp>
        <p:nvSpPr>
          <p:cNvPr id="9" name="Text 4"/>
          <p:cNvSpPr txBox="1"/>
          <p:nvPr/>
        </p:nvSpPr>
        <p:spPr>
          <a:xfrm>
            <a:off x="1880006"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10"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80006" y="1417320"/>
            <a:ext cx="1115568" cy="1435608"/>
          </a:xfrm>
          <a:prstGeom prst="rect">
            <a:avLst/>
          </a:prstGeom>
        </p:spPr>
      </p:pic>
      <p:sp>
        <p:nvSpPr>
          <p:cNvPr id="11" name="Shape 5"/>
          <p:cNvSpPr/>
          <p:nvPr/>
        </p:nvSpPr>
        <p:spPr>
          <a:xfrm>
            <a:off x="1880006" y="1417320"/>
            <a:ext cx="1115568" cy="1435608"/>
          </a:xfrm>
          <a:prstGeom prst="rect">
            <a:avLst/>
          </a:prstGeom>
          <a:ln w="19050">
            <a:solidFill>
              <a:srgbClr val="B03A2E"/>
            </a:solidFill>
            <a:prstDash val="solid"/>
          </a:ln>
        </p:spPr>
      </p:sp>
      <p:sp>
        <p:nvSpPr>
          <p:cNvPr id="12" name="Text 6"/>
          <p:cNvSpPr txBox="1"/>
          <p:nvPr/>
        </p:nvSpPr>
        <p:spPr>
          <a:xfrm>
            <a:off x="3302813" y="1234440"/>
            <a:ext cx="1115568"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13"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302813" y="1417320"/>
            <a:ext cx="1115568" cy="1435608"/>
          </a:xfrm>
          <a:prstGeom prst="rect">
            <a:avLst/>
          </a:prstGeom>
        </p:spPr>
      </p:pic>
      <p:sp>
        <p:nvSpPr>
          <p:cNvPr id="14" name="Shape 7"/>
          <p:cNvSpPr/>
          <p:nvPr/>
        </p:nvSpPr>
        <p:spPr>
          <a:xfrm>
            <a:off x="3302813" y="1417320"/>
            <a:ext cx="1115568" cy="1435608"/>
          </a:xfrm>
          <a:prstGeom prst="rect">
            <a:avLst/>
          </a:prstGeom>
          <a:ln w="19050">
            <a:solidFill>
              <a:srgbClr val="B03A2E"/>
            </a:solidFill>
            <a:prstDash val="solid"/>
          </a:ln>
        </p:spPr>
      </p:sp>
      <p:sp>
        <p:nvSpPr>
          <p:cNvPr id="15" name="Text 8"/>
          <p:cNvSpPr txBox="1"/>
          <p:nvPr/>
        </p:nvSpPr>
        <p:spPr>
          <a:xfrm>
            <a:off x="4725619"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6"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25619" y="1417320"/>
            <a:ext cx="1115568" cy="1435608"/>
          </a:xfrm>
          <a:prstGeom prst="rect">
            <a:avLst/>
          </a:prstGeom>
        </p:spPr>
      </p:pic>
      <p:sp>
        <p:nvSpPr>
          <p:cNvPr id="17" name="Shape 9"/>
          <p:cNvSpPr/>
          <p:nvPr/>
        </p:nvSpPr>
        <p:spPr>
          <a:xfrm>
            <a:off x="4725619" y="1417320"/>
            <a:ext cx="1115568" cy="1435608"/>
          </a:xfrm>
          <a:prstGeom prst="rect">
            <a:avLst/>
          </a:prstGeom>
          <a:ln w="19050">
            <a:solidFill>
              <a:srgbClr val="2E8B57"/>
            </a:solidFill>
            <a:prstDash val="solid"/>
          </a:ln>
        </p:spPr>
      </p:sp>
      <p:sp>
        <p:nvSpPr>
          <p:cNvPr id="18" name="Text 10"/>
          <p:cNvSpPr txBox="1"/>
          <p:nvPr/>
        </p:nvSpPr>
        <p:spPr>
          <a:xfrm>
            <a:off x="6148426" y="1234440"/>
            <a:ext cx="1115568"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9"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48426" y="1417320"/>
            <a:ext cx="1115568" cy="1435608"/>
          </a:xfrm>
          <a:prstGeom prst="rect">
            <a:avLst/>
          </a:prstGeom>
        </p:spPr>
      </p:pic>
      <p:sp>
        <p:nvSpPr>
          <p:cNvPr id="20" name="Shape 11"/>
          <p:cNvSpPr/>
          <p:nvPr/>
        </p:nvSpPr>
        <p:spPr>
          <a:xfrm>
            <a:off x="6148426" y="1417320"/>
            <a:ext cx="1115568" cy="1435608"/>
          </a:xfrm>
          <a:prstGeom prst="rect">
            <a:avLst/>
          </a:prstGeom>
          <a:ln w="19050">
            <a:solidFill>
              <a:srgbClr val="2E8B57"/>
            </a:solidFill>
            <a:prstDash val="solid"/>
          </a:ln>
        </p:spPr>
      </p:sp>
      <p:sp>
        <p:nvSpPr>
          <p:cNvPr id="21" name="Text 12"/>
          <p:cNvSpPr txBox="1"/>
          <p:nvPr/>
        </p:nvSpPr>
        <p:spPr>
          <a:xfrm>
            <a:off x="7571232" y="1234440"/>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22"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71232" y="1417320"/>
            <a:ext cx="1115568" cy="1435608"/>
          </a:xfrm>
          <a:prstGeom prst="rect">
            <a:avLst/>
          </a:prstGeom>
        </p:spPr>
      </p:pic>
      <p:sp>
        <p:nvSpPr>
          <p:cNvPr id="23" name="Shape 13"/>
          <p:cNvSpPr/>
          <p:nvPr/>
        </p:nvSpPr>
        <p:spPr>
          <a:xfrm>
            <a:off x="7571232" y="1417320"/>
            <a:ext cx="1115568" cy="1435608"/>
          </a:xfrm>
          <a:prstGeom prst="rect">
            <a:avLst/>
          </a:prstGeom>
          <a:ln w="19050">
            <a:solidFill>
              <a:srgbClr val="B03A2E"/>
            </a:solidFill>
            <a:prstDash val="solid"/>
          </a:ln>
        </p:spPr>
      </p:sp>
      <p:sp>
        <p:nvSpPr>
          <p:cNvPr id="24" name="Text 14"/>
          <p:cNvSpPr txBox="1"/>
          <p:nvPr/>
        </p:nvSpPr>
        <p:spPr>
          <a:xfrm>
            <a:off x="457200"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5"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127248"/>
            <a:ext cx="1115568" cy="1435608"/>
          </a:xfrm>
          <a:prstGeom prst="rect">
            <a:avLst/>
          </a:prstGeom>
        </p:spPr>
      </p:pic>
      <p:sp>
        <p:nvSpPr>
          <p:cNvPr id="26" name="Shape 15"/>
          <p:cNvSpPr/>
          <p:nvPr/>
        </p:nvSpPr>
        <p:spPr>
          <a:xfrm>
            <a:off x="457200" y="3127248"/>
            <a:ext cx="1115568" cy="1435608"/>
          </a:xfrm>
          <a:prstGeom prst="rect">
            <a:avLst/>
          </a:prstGeom>
          <a:ln w="19050">
            <a:solidFill>
              <a:srgbClr val="2E8B57"/>
            </a:solidFill>
            <a:prstDash val="solid"/>
          </a:ln>
        </p:spPr>
      </p:sp>
      <p:sp>
        <p:nvSpPr>
          <p:cNvPr id="27" name="Text 16"/>
          <p:cNvSpPr txBox="1"/>
          <p:nvPr/>
        </p:nvSpPr>
        <p:spPr>
          <a:xfrm>
            <a:off x="1880006" y="2944368"/>
            <a:ext cx="1115568"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8"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80006" y="3127248"/>
            <a:ext cx="1115568" cy="1435608"/>
          </a:xfrm>
          <a:prstGeom prst="rect">
            <a:avLst/>
          </a:prstGeom>
        </p:spPr>
      </p:pic>
      <p:sp>
        <p:nvSpPr>
          <p:cNvPr id="29" name="Shape 17"/>
          <p:cNvSpPr/>
          <p:nvPr/>
        </p:nvSpPr>
        <p:spPr>
          <a:xfrm>
            <a:off x="1880006" y="3127248"/>
            <a:ext cx="1115568" cy="1435608"/>
          </a:xfrm>
          <a:prstGeom prst="rect">
            <a:avLst/>
          </a:prstGeom>
          <a:ln w="19050">
            <a:solidFill>
              <a:srgbClr val="2E8B57"/>
            </a:solidFill>
            <a:prstDash val="solid"/>
          </a:ln>
        </p:spPr>
      </p:sp>
      <p:sp>
        <p:nvSpPr>
          <p:cNvPr id="30" name="Text 18"/>
          <p:cNvSpPr txBox="1"/>
          <p:nvPr/>
        </p:nvSpPr>
        <p:spPr>
          <a:xfrm>
            <a:off x="3302813"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31"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302813" y="3127248"/>
            <a:ext cx="1115568" cy="1435608"/>
          </a:xfrm>
          <a:prstGeom prst="rect">
            <a:avLst/>
          </a:prstGeom>
        </p:spPr>
      </p:pic>
      <p:sp>
        <p:nvSpPr>
          <p:cNvPr id="32" name="Shape 19"/>
          <p:cNvSpPr/>
          <p:nvPr/>
        </p:nvSpPr>
        <p:spPr>
          <a:xfrm>
            <a:off x="3302813" y="3127248"/>
            <a:ext cx="1115568" cy="1435608"/>
          </a:xfrm>
          <a:prstGeom prst="rect">
            <a:avLst/>
          </a:prstGeom>
          <a:ln w="19050">
            <a:solidFill>
              <a:srgbClr val="B03A2E"/>
            </a:solidFill>
            <a:prstDash val="solid"/>
          </a:ln>
        </p:spPr>
      </p:sp>
      <p:sp>
        <p:nvSpPr>
          <p:cNvPr id="33" name="Text 20"/>
          <p:cNvSpPr txBox="1"/>
          <p:nvPr/>
        </p:nvSpPr>
        <p:spPr>
          <a:xfrm>
            <a:off x="4725619"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4"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25619" y="3127248"/>
            <a:ext cx="1115568" cy="1435608"/>
          </a:xfrm>
          <a:prstGeom prst="rect">
            <a:avLst/>
          </a:prstGeom>
        </p:spPr>
      </p:pic>
      <p:sp>
        <p:nvSpPr>
          <p:cNvPr id="35" name="Shape 21"/>
          <p:cNvSpPr/>
          <p:nvPr/>
        </p:nvSpPr>
        <p:spPr>
          <a:xfrm>
            <a:off x="4725619" y="3127248"/>
            <a:ext cx="1115568" cy="1435608"/>
          </a:xfrm>
          <a:prstGeom prst="rect">
            <a:avLst/>
          </a:prstGeom>
          <a:ln w="19050">
            <a:solidFill>
              <a:srgbClr val="B03A2E"/>
            </a:solidFill>
            <a:prstDash val="solid"/>
          </a:ln>
        </p:spPr>
      </p:sp>
      <p:sp>
        <p:nvSpPr>
          <p:cNvPr id="36" name="Text 22"/>
          <p:cNvSpPr txBox="1"/>
          <p:nvPr/>
        </p:nvSpPr>
        <p:spPr>
          <a:xfrm>
            <a:off x="6148426" y="2944368"/>
            <a:ext cx="1115568"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7"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48426" y="3127248"/>
            <a:ext cx="1115568" cy="1435608"/>
          </a:xfrm>
          <a:prstGeom prst="rect">
            <a:avLst/>
          </a:prstGeom>
        </p:spPr>
      </p:pic>
      <p:sp>
        <p:nvSpPr>
          <p:cNvPr id="38" name="Shape 23"/>
          <p:cNvSpPr/>
          <p:nvPr/>
        </p:nvSpPr>
        <p:spPr>
          <a:xfrm>
            <a:off x="6148426" y="3127248"/>
            <a:ext cx="1115568" cy="1435608"/>
          </a:xfrm>
          <a:prstGeom prst="rect">
            <a:avLst/>
          </a:prstGeom>
          <a:ln w="19050">
            <a:solidFill>
              <a:srgbClr val="2E8B57"/>
            </a:solidFill>
            <a:prstDash val="solid"/>
          </a:ln>
        </p:spPr>
      </p:sp>
      <p:sp>
        <p:nvSpPr>
          <p:cNvPr id="39" name="Text 24"/>
          <p:cNvSpPr txBox="1"/>
          <p:nvPr/>
        </p:nvSpPr>
        <p:spPr>
          <a:xfrm>
            <a:off x="7571232" y="2944368"/>
            <a:ext cx="1115568"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a:t>
            </a:r>
            <a:endParaRPr lang="en-US" sz="900" dirty="0"/>
          </a:p>
        </p:txBody>
      </p:sp>
      <p:pic>
        <p:nvPicPr>
          <p:cNvPr id="40"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71232" y="3127248"/>
            <a:ext cx="1115568" cy="1435608"/>
          </a:xfrm>
          <a:prstGeom prst="rect">
            <a:avLst/>
          </a:prstGeom>
        </p:spPr>
      </p:pic>
      <p:sp>
        <p:nvSpPr>
          <p:cNvPr id="41" name="Shape 25"/>
          <p:cNvSpPr/>
          <p:nvPr/>
        </p:nvSpPr>
        <p:spPr>
          <a:xfrm>
            <a:off x="7571232" y="3127248"/>
            <a:ext cx="1115568" cy="1435608"/>
          </a:xfrm>
          <a:prstGeom prst="rect">
            <a:avLst/>
          </a:prstGeom>
          <a:ln w="19050">
            <a:solidFill>
              <a:srgbClr val="2E8B57"/>
            </a:solidFill>
            <a:prstDash val="solid"/>
          </a:ln>
        </p:spPr>
      </p:sp>
    </p:spTree>
  </p:cSld>
  <p:clrMapOvr>
    <a:masterClrMapping/>
  </p:clrMapOvr>
  <p:transition spd="fast" advTm="8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0" fill="hold"/>
                                        <p:tgtEl>
                                          <p:spTgt spid="7"/>
                                        </p:tgtEl>
                                      </p:cBhvr>
                                    </p:cmd>
                                  </p:childTnLst>
                                </p:cTn>
                              </p:par>
                              <p:par>
                                <p:cTn id="7" presetID="1" presetClass="mediacall" presetSubtype="0" fill="hold" nodeType="withEffect">
                                  <p:stCondLst>
                                    <p:cond delay="0"/>
                                  </p:stCondLst>
                                  <p:childTnLst>
                                    <p:cmd type="call" cmd="playFrom(0.0)">
                                      <p:cBhvr>
                                        <p:cTn id="8" dur="1000" fill="hold"/>
                                        <p:tgtEl>
                                          <p:spTgt spid="10"/>
                                        </p:tgtEl>
                                      </p:cBhvr>
                                    </p:cmd>
                                  </p:childTnLst>
                                </p:cTn>
                              </p:par>
                              <p:par>
                                <p:cTn id="9" presetID="1" presetClass="mediacall" presetSubtype="0" fill="hold" nodeType="withEffect">
                                  <p:stCondLst>
                                    <p:cond delay="0"/>
                                  </p:stCondLst>
                                  <p:childTnLst>
                                    <p:cmd type="call" cmd="playFrom(0.0)">
                                      <p:cBhvr>
                                        <p:cTn id="10" dur="1000" fill="hold"/>
                                        <p:tgtEl>
                                          <p:spTgt spid="13"/>
                                        </p:tgtEl>
                                      </p:cBhvr>
                                    </p:cmd>
                                  </p:childTnLst>
                                </p:cTn>
                              </p:par>
                              <p:par>
                                <p:cTn id="11" presetID="1" presetClass="mediacall" presetSubtype="0" fill="hold" nodeType="withEffect">
                                  <p:stCondLst>
                                    <p:cond delay="0"/>
                                  </p:stCondLst>
                                  <p:childTnLst>
                                    <p:cmd type="call" cmd="playFrom(0.0)">
                                      <p:cBhvr>
                                        <p:cTn id="12" dur="1000" fill="hold"/>
                                        <p:tgtEl>
                                          <p:spTgt spid="16"/>
                                        </p:tgtEl>
                                      </p:cBhvr>
                                    </p:cmd>
                                  </p:childTnLst>
                                </p:cTn>
                              </p:par>
                              <p:par>
                                <p:cTn id="13" presetID="1" presetClass="mediacall" presetSubtype="0" fill="hold" nodeType="withEffect">
                                  <p:stCondLst>
                                    <p:cond delay="0"/>
                                  </p:stCondLst>
                                  <p:childTnLst>
                                    <p:cmd type="call" cmd="playFrom(0.0)">
                                      <p:cBhvr>
                                        <p:cTn id="14" dur="1000" fill="hold"/>
                                        <p:tgtEl>
                                          <p:spTgt spid="19"/>
                                        </p:tgtEl>
                                      </p:cBhvr>
                                    </p:cmd>
                                  </p:childTnLst>
                                </p:cTn>
                              </p:par>
                              <p:par>
                                <p:cTn id="15" presetID="1" presetClass="mediacall" presetSubtype="0" fill="hold" nodeType="withEffect">
                                  <p:stCondLst>
                                    <p:cond delay="0"/>
                                  </p:stCondLst>
                                  <p:childTnLst>
                                    <p:cmd type="call" cmd="playFrom(0.0)">
                                      <p:cBhvr>
                                        <p:cTn id="16" dur="1000" fill="hold"/>
                                        <p:tgtEl>
                                          <p:spTgt spid="22"/>
                                        </p:tgtEl>
                                      </p:cBhvr>
                                    </p:cmd>
                                  </p:childTnLst>
                                </p:cTn>
                              </p:par>
                              <p:par>
                                <p:cTn id="17" presetID="1" presetClass="mediacall" presetSubtype="0" fill="hold" nodeType="withEffect">
                                  <p:stCondLst>
                                    <p:cond delay="0"/>
                                  </p:stCondLst>
                                  <p:childTnLst>
                                    <p:cmd type="call" cmd="playFrom(0.0)">
                                      <p:cBhvr>
                                        <p:cTn id="18" dur="1000" fill="hold"/>
                                        <p:tgtEl>
                                          <p:spTgt spid="25"/>
                                        </p:tgtEl>
                                      </p:cBhvr>
                                    </p:cmd>
                                  </p:childTnLst>
                                </p:cTn>
                              </p:par>
                              <p:par>
                                <p:cTn id="19" presetID="1" presetClass="mediacall" presetSubtype="0" fill="hold" nodeType="withEffect">
                                  <p:stCondLst>
                                    <p:cond delay="0"/>
                                  </p:stCondLst>
                                  <p:childTnLst>
                                    <p:cmd type="call" cmd="playFrom(0.0)">
                                      <p:cBhvr>
                                        <p:cTn id="20" dur="1000" fill="hold"/>
                                        <p:tgtEl>
                                          <p:spTgt spid="28"/>
                                        </p:tgtEl>
                                      </p:cBhvr>
                                    </p:cmd>
                                  </p:childTnLst>
                                </p:cTn>
                              </p:par>
                              <p:par>
                                <p:cTn id="21" presetID="1" presetClass="mediacall" presetSubtype="0" fill="hold" nodeType="withEffect">
                                  <p:stCondLst>
                                    <p:cond delay="0"/>
                                  </p:stCondLst>
                                  <p:childTnLst>
                                    <p:cmd type="call" cmd="playFrom(0.0)">
                                      <p:cBhvr>
                                        <p:cTn id="22" dur="1000" fill="hold"/>
                                        <p:tgtEl>
                                          <p:spTgt spid="31"/>
                                        </p:tgtEl>
                                      </p:cBhvr>
                                    </p:cmd>
                                  </p:childTnLst>
                                </p:cTn>
                              </p:par>
                              <p:par>
                                <p:cTn id="23" presetID="1" presetClass="mediacall" presetSubtype="0" fill="hold" nodeType="withEffect">
                                  <p:stCondLst>
                                    <p:cond delay="0"/>
                                  </p:stCondLst>
                                  <p:childTnLst>
                                    <p:cmd type="call" cmd="playFrom(0.0)">
                                      <p:cBhvr>
                                        <p:cTn id="24" dur="1000" fill="hold"/>
                                        <p:tgtEl>
                                          <p:spTgt spid="34"/>
                                        </p:tgtEl>
                                      </p:cBhvr>
                                    </p:cmd>
                                  </p:childTnLst>
                                </p:cTn>
                              </p:par>
                              <p:par>
                                <p:cTn id="25" presetID="1" presetClass="mediacall" presetSubtype="0" fill="hold" nodeType="withEffect">
                                  <p:stCondLst>
                                    <p:cond delay="0"/>
                                  </p:stCondLst>
                                  <p:childTnLst>
                                    <p:cmd type="call" cmd="playFrom(0.0)">
                                      <p:cBhvr>
                                        <p:cTn id="26" dur="1000" fill="hold"/>
                                        <p:tgtEl>
                                          <p:spTgt spid="37"/>
                                        </p:tgtEl>
                                      </p:cBhvr>
                                    </p:cmd>
                                  </p:childTnLst>
                                </p:cTn>
                              </p:par>
                              <p:par>
                                <p:cTn id="27" presetID="1" presetClass="mediacall" presetSubtype="0" fill="hold" nodeType="withEffect">
                                  <p:stCondLst>
                                    <p:cond delay="0"/>
                                  </p:stCondLst>
                                  <p:childTnLst>
                                    <p:cmd type="call" cmd="playFrom(0.0)">
                                      <p:cBhvr>
                                        <p:cTn id="28" dur="1000"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9" fill="hold" display="0">
                  <p:stCondLst>
                    <p:cond delay="indefinite"/>
                  </p:stCondLst>
                </p:cTn>
                <p:tgtEl>
                  <p:spTgt spid="7"/>
                </p:tgtEl>
              </p:cMediaNode>
            </p:video>
            <p:video>
              <p:cMediaNode vol="80000">
                <p:cTn id="30" fill="hold" display="0">
                  <p:stCondLst>
                    <p:cond delay="indefinite"/>
                  </p:stCondLst>
                </p:cTn>
                <p:tgtEl>
                  <p:spTgt spid="10"/>
                </p:tgtEl>
              </p:cMediaNode>
            </p:video>
            <p:video>
              <p:cMediaNode vol="80000">
                <p:cTn id="31" fill="hold" display="0">
                  <p:stCondLst>
                    <p:cond delay="indefinite"/>
                  </p:stCondLst>
                </p:cTn>
                <p:tgtEl>
                  <p:spTgt spid="13"/>
                </p:tgtEl>
              </p:cMediaNode>
            </p:video>
            <p:video>
              <p:cMediaNode vol="80000">
                <p:cTn id="32" fill="hold" display="0">
                  <p:stCondLst>
                    <p:cond delay="indefinite"/>
                  </p:stCondLst>
                </p:cTn>
                <p:tgtEl>
                  <p:spTgt spid="16"/>
                </p:tgtEl>
              </p:cMediaNode>
            </p:video>
            <p:video>
              <p:cMediaNode vol="80000">
                <p:cTn id="33" fill="hold" display="0">
                  <p:stCondLst>
                    <p:cond delay="indefinite"/>
                  </p:stCondLst>
                </p:cTn>
                <p:tgtEl>
                  <p:spTgt spid="19"/>
                </p:tgtEl>
              </p:cMediaNode>
            </p:video>
            <p:video>
              <p:cMediaNode vol="80000">
                <p:cTn id="34" fill="hold" display="0">
                  <p:stCondLst>
                    <p:cond delay="indefinite"/>
                  </p:stCondLst>
                </p:cTn>
                <p:tgtEl>
                  <p:spTgt spid="22"/>
                </p:tgtEl>
              </p:cMediaNode>
            </p:video>
            <p:video>
              <p:cMediaNode vol="80000">
                <p:cTn id="35" fill="hold" display="0">
                  <p:stCondLst>
                    <p:cond delay="indefinite"/>
                  </p:stCondLst>
                </p:cTn>
                <p:tgtEl>
                  <p:spTgt spid="25"/>
                </p:tgtEl>
              </p:cMediaNode>
            </p:video>
            <p:video>
              <p:cMediaNode vol="80000">
                <p:cTn id="36" fill="hold" display="0">
                  <p:stCondLst>
                    <p:cond delay="indefinite"/>
                  </p:stCondLst>
                </p:cTn>
                <p:tgtEl>
                  <p:spTgt spid="28"/>
                </p:tgtEl>
              </p:cMediaNode>
            </p:video>
            <p:video>
              <p:cMediaNode vol="80000">
                <p:cTn id="37" fill="hold" display="0">
                  <p:stCondLst>
                    <p:cond delay="indefinite"/>
                  </p:stCondLst>
                </p:cTn>
                <p:tgtEl>
                  <p:spTgt spid="31"/>
                </p:tgtEl>
              </p:cMediaNode>
            </p:video>
            <p:video>
              <p:cMediaNode vol="80000">
                <p:cTn id="38" fill="hold" display="0">
                  <p:stCondLst>
                    <p:cond delay="indefinite"/>
                  </p:stCondLst>
                </p:cTn>
                <p:tgtEl>
                  <p:spTgt spid="34"/>
                </p:tgtEl>
              </p:cMediaNode>
            </p:video>
            <p:video>
              <p:cMediaNode vol="80000">
                <p:cTn id="39" fill="hold" display="0">
                  <p:stCondLst>
                    <p:cond delay="indefinite"/>
                  </p:stCondLst>
                </p:cTn>
                <p:tgtEl>
                  <p:spTgt spid="37"/>
                </p:tgtEl>
              </p:cMediaNode>
            </p:video>
            <p:video>
              <p:cMediaNode vol="80000">
                <p:cTn id="40" fill="hold" display="0">
                  <p:stCondLst>
                    <p:cond delay="indefinite"/>
                  </p:stCondLst>
                </p:cTn>
                <p:tgtEl>
                  <p:spTgt spid="40"/>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5"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6" name="Shape 1"/>
          <p:cNvSpPr/>
          <p:nvPr/>
        </p:nvSpPr>
        <p:spPr>
          <a:xfrm>
            <a:off x="457200" y="4636008"/>
            <a:ext cx="146304" cy="146304"/>
          </a:xfrm>
          <a:prstGeom prst="rect">
            <a:avLst/>
          </a:prstGeom>
          <a:solidFill>
            <a:srgbClr val="222222"/>
          </a:solidFill>
          <a:ln w="12700">
            <a:solidFill>
              <a:srgbClr val="222222"/>
            </a:solidFill>
            <a:prstDash val="solid"/>
          </a:ln>
        </p:spPr>
      </p:sp>
      <p:sp>
        <p:nvSpPr>
          <p:cNvPr id="7" name="Text 2"/>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8" name="Shape 3"/>
          <p:cNvSpPr/>
          <p:nvPr/>
        </p:nvSpPr>
        <p:spPr>
          <a:xfrm>
            <a:off x="1737360" y="4636008"/>
            <a:ext cx="146304" cy="146304"/>
          </a:xfrm>
          <a:prstGeom prst="rect">
            <a:avLst/>
          </a:prstGeom>
          <a:solidFill>
            <a:srgbClr val="0072B2"/>
          </a:solidFill>
          <a:ln w="12700">
            <a:solidFill>
              <a:srgbClr val="0072B2"/>
            </a:solidFill>
            <a:prstDash val="solid"/>
          </a:ln>
        </p:spPr>
      </p:sp>
      <p:sp>
        <p:nvSpPr>
          <p:cNvPr id="9" name="Text 4"/>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10" name="Shape 5"/>
          <p:cNvSpPr/>
          <p:nvPr/>
        </p:nvSpPr>
        <p:spPr>
          <a:xfrm>
            <a:off x="3017520" y="4636008"/>
            <a:ext cx="146304" cy="146304"/>
          </a:xfrm>
          <a:prstGeom prst="rect">
            <a:avLst/>
          </a:prstGeom>
          <a:solidFill>
            <a:srgbClr val="D55E00"/>
          </a:solidFill>
          <a:ln w="12700">
            <a:solidFill>
              <a:srgbClr val="D55E00"/>
            </a:solidFill>
            <a:prstDash val="solid"/>
          </a:ln>
        </p:spPr>
      </p:sp>
      <p:sp>
        <p:nvSpPr>
          <p:cNvPr id="11" name="Text 6"/>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2" name="Shape 7"/>
          <p:cNvSpPr/>
          <p:nvPr/>
        </p:nvSpPr>
        <p:spPr>
          <a:xfrm>
            <a:off x="457200" y="4864608"/>
            <a:ext cx="146304" cy="146304"/>
          </a:xfrm>
          <a:prstGeom prst="rect">
            <a:avLst/>
          </a:prstGeom>
          <a:solidFill>
            <a:srgbClr val="009E73"/>
          </a:solidFill>
          <a:ln w="12700">
            <a:solidFill>
              <a:srgbClr val="009E73"/>
            </a:solidFill>
            <a:prstDash val="solid"/>
          </a:ln>
        </p:spPr>
      </p:sp>
      <p:sp>
        <p:nvSpPr>
          <p:cNvPr id="13" name="Text 8"/>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4" name="Shape 9"/>
          <p:cNvSpPr/>
          <p:nvPr/>
        </p:nvSpPr>
        <p:spPr>
          <a:xfrm>
            <a:off x="1737360" y="4864608"/>
            <a:ext cx="146304" cy="146304"/>
          </a:xfrm>
          <a:prstGeom prst="rect">
            <a:avLst/>
          </a:prstGeom>
          <a:solidFill>
            <a:srgbClr val="CC79A7"/>
          </a:solidFill>
          <a:ln w="12700">
            <a:solidFill>
              <a:srgbClr val="CC79A7"/>
            </a:solidFill>
            <a:prstDash val="solid"/>
          </a:ln>
        </p:spPr>
      </p:sp>
      <p:sp>
        <p:nvSpPr>
          <p:cNvPr id="15" name="Text 10"/>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6" name="Shape 11"/>
          <p:cNvSpPr/>
          <p:nvPr/>
        </p:nvSpPr>
        <p:spPr>
          <a:xfrm>
            <a:off x="3017520" y="4864608"/>
            <a:ext cx="146304" cy="146304"/>
          </a:xfrm>
          <a:prstGeom prst="rect">
            <a:avLst/>
          </a:prstGeom>
          <a:solidFill>
            <a:srgbClr val="8C650F"/>
          </a:solidFill>
          <a:ln w="12700">
            <a:solidFill>
              <a:srgbClr val="8C650F"/>
            </a:solidFill>
            <a:prstDash val="solid"/>
          </a:ln>
        </p:spPr>
      </p:sp>
      <p:sp>
        <p:nvSpPr>
          <p:cNvPr id="17" name="Text 12"/>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8" name="Shape 13"/>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9" name="Text 14"/>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20" name="Text 15"/>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21" name="Text 16"/>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2" name="Shape 17"/>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3" name="Text 18"/>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4" name="Shape 19"/>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5" name="Text 20"/>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6" name="Text 21"/>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7" name="Shape 22"/>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8" name="Text 23"/>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9" name="Shape 24"/>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30" name="Text 25"/>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31" name="Text 26"/>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0 = no successful episodes. Deltas from Tables I and II, best setting per trick.</a:t>
            </a:r>
            <a:endParaRPr lang="en-US" sz="950" dirty="0"/>
          </a:p>
        </p:txBody>
      </p:sp>
    </p:spTree>
  </p:cSld>
  <p:clrMapOvr>
    <a:masterClrMapping/>
  </p:clrMapOvr>
  <p:transition spd="fast" advTm="13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5" name="Image 0" descr="/tmp/claude-0/-home-user-BiVLA/4327cefa-ba5d-5e2e-9d87-c73dd3a8ccbb/scratchpad/video_ppt/assets/fig4_paper_nolegend.png">    </p:cNvPr>
          <p:cNvPicPr>
            <a:picLocks noChangeAspect="1"/>
          </p:cNvPicPr>
          <p:nvPr/>
        </p:nvPicPr>
        <p:blipFill>
          <a:blip r:embed="rId1"/>
          <a:stretch>
            <a:fillRect/>
          </a:stretch>
        </p:blipFill>
        <p:spPr>
          <a:xfrm>
            <a:off x="365760" y="868680"/>
            <a:ext cx="4297680" cy="3520440"/>
          </a:xfrm>
          <a:prstGeom prst="rect">
            <a:avLst/>
          </a:prstGeom>
        </p:spPr>
      </p:pic>
      <p:sp>
        <p:nvSpPr>
          <p:cNvPr id="6" name="Shape 1"/>
          <p:cNvSpPr/>
          <p:nvPr/>
        </p:nvSpPr>
        <p:spPr>
          <a:xfrm>
            <a:off x="457200" y="4480560"/>
            <a:ext cx="146304" cy="146304"/>
          </a:xfrm>
          <a:prstGeom prst="rect">
            <a:avLst/>
          </a:prstGeom>
          <a:solidFill>
            <a:srgbClr val="222222"/>
          </a:solidFill>
          <a:ln w="12700">
            <a:solidFill>
              <a:srgbClr val="222222"/>
            </a:solidFill>
            <a:prstDash val="solid"/>
          </a:ln>
        </p:spPr>
      </p:sp>
      <p:sp>
        <p:nvSpPr>
          <p:cNvPr id="7" name="Text 2"/>
          <p:cNvSpPr txBox="1"/>
          <p:nvPr/>
        </p:nvSpPr>
        <p:spPr>
          <a:xfrm>
            <a:off x="65836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8" name="Shape 3"/>
          <p:cNvSpPr/>
          <p:nvPr/>
        </p:nvSpPr>
        <p:spPr>
          <a:xfrm>
            <a:off x="1874520" y="4480560"/>
            <a:ext cx="146304" cy="146304"/>
          </a:xfrm>
          <a:prstGeom prst="rect">
            <a:avLst/>
          </a:prstGeom>
          <a:solidFill>
            <a:srgbClr val="0072B2"/>
          </a:solidFill>
          <a:ln w="12700">
            <a:solidFill>
              <a:srgbClr val="0072B2"/>
            </a:solidFill>
            <a:prstDash val="solid"/>
          </a:ln>
        </p:spPr>
      </p:sp>
      <p:sp>
        <p:nvSpPr>
          <p:cNvPr id="9" name="Text 4"/>
          <p:cNvSpPr txBox="1"/>
          <p:nvPr/>
        </p:nvSpPr>
        <p:spPr>
          <a:xfrm>
            <a:off x="207568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10" name="Shape 5"/>
          <p:cNvSpPr/>
          <p:nvPr/>
        </p:nvSpPr>
        <p:spPr>
          <a:xfrm>
            <a:off x="3291840" y="4480560"/>
            <a:ext cx="146304" cy="146304"/>
          </a:xfrm>
          <a:prstGeom prst="rect">
            <a:avLst/>
          </a:prstGeom>
          <a:solidFill>
            <a:srgbClr val="D55E00"/>
          </a:solidFill>
          <a:ln w="12700">
            <a:solidFill>
              <a:srgbClr val="D55E00"/>
            </a:solidFill>
            <a:prstDash val="solid"/>
          </a:ln>
        </p:spPr>
      </p:sp>
      <p:sp>
        <p:nvSpPr>
          <p:cNvPr id="11" name="Text 6"/>
          <p:cNvSpPr txBox="1"/>
          <p:nvPr/>
        </p:nvSpPr>
        <p:spPr>
          <a:xfrm>
            <a:off x="349300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2" name="Shape 7"/>
          <p:cNvSpPr/>
          <p:nvPr/>
        </p:nvSpPr>
        <p:spPr>
          <a:xfrm>
            <a:off x="457200" y="4709160"/>
            <a:ext cx="146304" cy="146304"/>
          </a:xfrm>
          <a:prstGeom prst="rect">
            <a:avLst/>
          </a:prstGeom>
          <a:solidFill>
            <a:srgbClr val="009E73"/>
          </a:solidFill>
          <a:ln w="12700">
            <a:solidFill>
              <a:srgbClr val="009E73"/>
            </a:solidFill>
            <a:prstDash val="solid"/>
          </a:ln>
        </p:spPr>
      </p:sp>
      <p:sp>
        <p:nvSpPr>
          <p:cNvPr id="13" name="Text 8"/>
          <p:cNvSpPr txBox="1"/>
          <p:nvPr/>
        </p:nvSpPr>
        <p:spPr>
          <a:xfrm>
            <a:off x="65836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4" name="Shape 9"/>
          <p:cNvSpPr/>
          <p:nvPr/>
        </p:nvSpPr>
        <p:spPr>
          <a:xfrm>
            <a:off x="1874520" y="4709160"/>
            <a:ext cx="146304" cy="146304"/>
          </a:xfrm>
          <a:prstGeom prst="rect">
            <a:avLst/>
          </a:prstGeom>
          <a:solidFill>
            <a:srgbClr val="CC79A7"/>
          </a:solidFill>
          <a:ln w="12700">
            <a:solidFill>
              <a:srgbClr val="CC79A7"/>
            </a:solidFill>
            <a:prstDash val="solid"/>
          </a:ln>
        </p:spPr>
      </p:sp>
      <p:sp>
        <p:nvSpPr>
          <p:cNvPr id="15" name="Text 10"/>
          <p:cNvSpPr txBox="1"/>
          <p:nvPr/>
        </p:nvSpPr>
        <p:spPr>
          <a:xfrm>
            <a:off x="207568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6" name="Shape 11"/>
          <p:cNvSpPr/>
          <p:nvPr/>
        </p:nvSpPr>
        <p:spPr>
          <a:xfrm>
            <a:off x="3291840" y="4709160"/>
            <a:ext cx="146304" cy="146304"/>
          </a:xfrm>
          <a:prstGeom prst="rect">
            <a:avLst/>
          </a:prstGeom>
          <a:solidFill>
            <a:srgbClr val="8C650F"/>
          </a:solidFill>
          <a:ln w="12700">
            <a:solidFill>
              <a:srgbClr val="8C650F"/>
            </a:solidFill>
            <a:prstDash val="solid"/>
          </a:ln>
        </p:spPr>
      </p:sp>
      <p:sp>
        <p:nvSpPr>
          <p:cNvPr id="17" name="Text 12"/>
          <p:cNvSpPr txBox="1"/>
          <p:nvPr/>
        </p:nvSpPr>
        <p:spPr>
          <a:xfrm>
            <a:off x="349300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8" name="Text 13"/>
          <p:cNvSpPr txBox="1"/>
          <p:nvPr/>
        </p:nvSpPr>
        <p:spPr>
          <a:xfrm>
            <a:off x="4937760" y="868680"/>
            <a:ext cx="3749040" cy="6400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Fig. 4, SimplerEnv WidowX. Star = original, shaded = faster and no worse. Colour = trick; circle, square, triangle = first, second, third setting of that trick.</a:t>
            </a:r>
            <a:endParaRPr lang="en-US" sz="1000" dirty="0"/>
          </a:p>
        </p:txBody>
      </p:sp>
      <p:sp>
        <p:nvSpPr>
          <p:cNvPr id="19" name="Shape 14"/>
          <p:cNvSpPr/>
          <p:nvPr/>
        </p:nvSpPr>
        <p:spPr>
          <a:xfrm>
            <a:off x="4937760" y="1600200"/>
            <a:ext cx="1234440" cy="365760"/>
          </a:xfrm>
          <a:prstGeom prst="roundRect">
            <a:avLst>
              <a:gd name="adj" fmla="val 25000"/>
            </a:avLst>
          </a:prstGeom>
          <a:solidFill>
            <a:srgbClr val="16213A"/>
          </a:solidFill>
          <a:ln w="12700">
            <a:solidFill>
              <a:srgbClr val="16213A"/>
            </a:solidFill>
            <a:prstDash val="solid"/>
          </a:ln>
        </p:spPr>
      </p:sp>
      <p:sp>
        <p:nvSpPr>
          <p:cNvPr id="20" name="Text 15"/>
          <p:cNvSpPr txBox="1"/>
          <p:nvPr/>
        </p:nvSpPr>
        <p:spPr>
          <a:xfrm>
            <a:off x="4937760" y="160020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21" name="Text 16"/>
          <p:cNvSpPr txBox="1"/>
          <p:nvPr/>
        </p:nvSpPr>
        <p:spPr>
          <a:xfrm>
            <a:off x="4937760" y="2057400"/>
            <a:ext cx="3749040" cy="822960"/>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937760" y="3063240"/>
          <a:ext cx="3749040" cy="914400"/>
        </p:xfrm>
        <a:graphic>
          <a:graphicData uri="http://schemas.openxmlformats.org/drawingml/2006/table">
            <a:tbl>
              <a:tblPr/>
              <a:tblGrid>
                <a:gridCol w="2331720"/>
                <a:gridCol w="141732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Latency, ms per step</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Original → trick</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SpatialVLA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423.5 → 235.1</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OpenVLA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171.6 → 93.2</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Pruning · OpenVLA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210.2 → 199.4</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Reuse · SmolVLA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289.5 → 268.9</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transition spd="fast" advTm="13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3" name=""/>
        <p:cNvGrpSpPr/>
        <p:nvPr/>
      </p:nvGrpSpPr>
      <p:grpSpPr>
        <a:xfrm>
          <a:off x="0" y="0"/>
          <a:ext cx="0" cy="0"/>
          <a:chOff x="0" y="0"/>
          <a:chExt cx="0" cy="0"/>
        </a:xfrm>
      </p:grpSpPr>
      <p:sp>
        <p:nvSpPr>
          <p:cNvPr id="4"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5" name="Shape 1"/>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6" name="Text 2"/>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7" name="Text 3"/>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8" name="Shape 4"/>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9" name="Text 5"/>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10" name="Text 6"/>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11" name="Shape 7"/>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2" name="Text 8"/>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3" name="Text 9"/>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4" name="Shape 10"/>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5" name="Text 11"/>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6" name="Text 12"/>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7" name="Shape 13"/>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8" name="Text 14"/>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transition spd="fast" advTm="13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2026-09-20T13:13:33Z</dcterms:created>
  <dcterms:modified xsi:type="dcterms:W3CDTF">2026-09-20T13:13:33Z</dcterms:modified>
</cp:coreProperties>
</file>