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15 s  |  36 words (2.4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12 s  |  25 words (2.1 w/s)
NARRATION:
CogACT on WidowX. In these paired episodes the original fails and depth pruning succeeds. Overall success rises from 50.0 to 59.5, and latency drops slightly.
VISUAL / PRODUCTION NOTE:
Fig. 3(a) strips. Bottom-left: side-by-side recorded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10 s  |  24 words (2.4 w/s)
NARRATION:
Same trick, same benchmark, different backbone. On MiniVLA, depth pruning drops success by 17.5 points, on SpatialVLA by 6.5. Here the pruned policy fails.
VISUAL / PRODUCTION NOTE:
Record a MiniVLA WidowX episode from the same task family as the CogACT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13 s  |  35 words (2.7 w/s)
NARRATION:
Action repeat runs open loop: on WidowX, CogACT loses 38 points and UniVLA 75. Guarded reuse skips calls only when the gates agree. On SmolVLA in LIBERO Long, success stays at 42.0 with lower latency.
VISUAL / PRODUCTION NOTE:
Three-panel recording of one CogACT WidowX episode; use k = 2 for the action-repeat panel so the clip matches the quoted deltas (k = 4 is worse, about -46 and -85 points, Fig. 5). Before rendering, fill the three "policy calls used" counters from that episode: original = number of steps, repeat = about steps / k, guarded = steps minus skipped calls, or delete the counter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12 s  |  24 words (2.0 w/s)
NARRATION:
Third, consistency. Across backbone and environment pairs the same trick improves one model, leaves another unchanged, and hurts a third. No trick is plug-and-play.
VISUAL / PRODUCTION NOTE:
Consistency chart (supplementary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4"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5"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6"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7"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8"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9"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3"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5"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foveation</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original (left) and foveated observation (right), success or failure badge at the end.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6"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action repeat</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watch contact and placement, where a held action can miss a needed correction.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6"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depth pruning</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CogACT on WidowX, where pruning removes decoder layers without breaking the closed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7" name="Shape 4"/>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8" name="Shape 5"/>
          <p:cNvSpPr/>
          <p:nvPr/>
        </p:nvSpPr>
        <p:spPr>
          <a:xfrm>
            <a:off x="6446520" y="1970532"/>
            <a:ext cx="548640" cy="548640"/>
          </a:xfrm>
          <a:prstGeom prst="ellipse">
            <a:avLst/>
          </a:prstGeom>
          <a:solidFill>
            <a:srgbClr val="FFFFFF"/>
          </a:solidFill>
          <a:ln w="12700">
            <a:solidFill>
              <a:srgbClr val="FFFFFF"/>
            </a:solidFill>
            <a:prstDash val="solid"/>
          </a:ln>
        </p:spPr>
      </p:sp>
      <p:sp>
        <p:nvSpPr>
          <p:cNvPr id="9" name="Shape 6"/>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0" name="Text 7"/>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guarded reuse</a:t>
            </a:r>
            <a:endParaRPr lang="en-US" sz="1200" dirty="0"/>
          </a:p>
        </p:txBody>
      </p:sp>
      <p:sp>
        <p:nvSpPr>
          <p:cNvPr id="11" name="Text 8"/>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2" name="Text 9"/>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overlay the gate indicators and a "calls skipped" counter on the right pane.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6"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7" name="Image 1" descr="/tmp/claude-0/-home-user-BiVLA/4327cefa-ba5d-5e2e-9d87-c73dd3a8ccbb/scratchpad/video_ppt/assets/m_cache.png">    </p:cNvPr>
          <p:cNvPicPr>
            <a:picLocks noChangeAspect="1"/>
          </p:cNvPicPr>
          <p:nvPr/>
        </p:nvPicPr>
        <p:blipFill>
          <a:blip r:embed="rId2"/>
          <a:stretch>
            <a:fillRect/>
          </a:stretch>
        </p:blipFill>
        <p:spPr>
          <a:xfrm>
            <a:off x="457200" y="2944368"/>
            <a:ext cx="2331720" cy="1426464"/>
          </a:xfrm>
          <a:prstGeom prst="rect">
            <a:avLst/>
          </a:prstGeom>
        </p:spPr>
      </p:pic>
      <p:sp>
        <p:nvSpPr>
          <p:cNvPr id="8" name="Text 4"/>
          <p:cNvSpPr txBox="1"/>
          <p:nvPr/>
        </p:nvSpPr>
        <p:spPr>
          <a:xfrm>
            <a:off x="457200" y="4480560"/>
            <a:ext cx="2560320" cy="32004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9" name="Shape 5"/>
          <p:cNvSpPr/>
          <p:nvPr/>
        </p:nvSpPr>
        <p:spPr>
          <a:xfrm>
            <a:off x="4754880" y="960120"/>
            <a:ext cx="3931920" cy="2788920"/>
          </a:xfrm>
          <a:prstGeom prst="roundRect">
            <a:avLst>
              <a:gd name="adj" fmla="val 2623"/>
            </a:avLst>
          </a:prstGeom>
          <a:solidFill>
            <a:srgbClr val="2A2F3A"/>
          </a:solidFill>
          <a:ln w="12700">
            <a:solidFill>
              <a:srgbClr val="8A94A6"/>
            </a:solidFill>
            <a:prstDash val="dash"/>
          </a:ln>
        </p:spPr>
      </p:sp>
      <p:sp>
        <p:nvSpPr>
          <p:cNvPr id="10" name="Shape 6"/>
          <p:cNvSpPr/>
          <p:nvPr/>
        </p:nvSpPr>
        <p:spPr>
          <a:xfrm>
            <a:off x="6446520" y="1970532"/>
            <a:ext cx="548640" cy="548640"/>
          </a:xfrm>
          <a:prstGeom prst="ellipse">
            <a:avLst/>
          </a:prstGeom>
          <a:solidFill>
            <a:srgbClr val="FFFFFF"/>
          </a:solidFill>
          <a:ln w="12700">
            <a:solidFill>
              <a:srgbClr val="FFFFFF"/>
            </a:solidFill>
            <a:prstDash val="solid"/>
          </a:ln>
        </p:spPr>
      </p:sp>
      <p:sp>
        <p:nvSpPr>
          <p:cNvPr id="11" name="Shape 7"/>
          <p:cNvSpPr/>
          <p:nvPr/>
        </p:nvSpPr>
        <p:spPr>
          <a:xfrm rot="5400000">
            <a:off x="6638544" y="2089404"/>
            <a:ext cx="219456" cy="310896"/>
          </a:xfrm>
          <a:prstGeom prst="triangle">
            <a:avLst/>
          </a:prstGeom>
          <a:solidFill>
            <a:srgbClr val="2A2F3A"/>
          </a:solidFill>
          <a:ln w="12700">
            <a:solidFill>
              <a:srgbClr val="2A2F3A"/>
            </a:solidFill>
            <a:prstDash val="solid"/>
          </a:ln>
        </p:spPr>
      </p:sp>
      <p:sp>
        <p:nvSpPr>
          <p:cNvPr id="12" name="Text 8"/>
          <p:cNvSpPr txBox="1"/>
          <p:nvPr/>
        </p:nvSpPr>
        <p:spPr>
          <a:xfrm>
            <a:off x="4846320" y="2583180"/>
            <a:ext cx="374904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 vs temporal fusion</a:t>
            </a:r>
            <a:endParaRPr lang="en-US" sz="1200" dirty="0"/>
          </a:p>
        </p:txBody>
      </p:sp>
      <p:sp>
        <p:nvSpPr>
          <p:cNvPr id="13" name="Text 9"/>
          <p:cNvSpPr txBox="1"/>
          <p:nvPr/>
        </p:nvSpPr>
        <p:spPr>
          <a:xfrm>
            <a:off x="4846320" y="2830068"/>
            <a:ext cx="374904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same episode, same initial state</a:t>
            </a:r>
            <a:endParaRPr lang="en-US" sz="950" dirty="0"/>
          </a:p>
        </p:txBody>
      </p:sp>
      <p:sp>
        <p:nvSpPr>
          <p:cNvPr id="14" name="Text 10"/>
          <p:cNvSpPr txBox="1"/>
          <p:nvPr/>
        </p:nvSpPr>
        <p:spPr>
          <a:xfrm>
            <a:off x="4754880" y="3840480"/>
            <a:ext cx="3931920" cy="45720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Rollout: optionally tint reused patches on the right pane to show what is carried over between frames.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5"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6"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7"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8"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9"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0"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(13 × 22), all paired with the original</a:t>
            </a:r>
            <a:endParaRPr lang="en-US" sz="1050" dirty="0"/>
          </a:p>
        </p:txBody>
      </p:sp>
      <p:sp>
        <p:nvSpPr>
          <p:cNvPr id="11"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3"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4"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7"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9"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3"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5"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7"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8"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19"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0"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1"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2"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3"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4"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5"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6"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7"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8"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29"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Depth pruning helps CogACT on WidowX</a:t>
            </a:r>
            <a:endParaRPr lang="en-US" sz="2600" dirty="0"/>
          </a:p>
        </p:txBody>
      </p:sp>
      <p:pic>
        <p:nvPicPr>
          <p:cNvPr id="3" name="Image 0" descr="/tmp/claude-0/-home-user-BiVLA/4327cefa-ba5d-5e2e-9d87-c73dd3a8ccbb/scratchpad/video_ppt/assets/fig3a_cogact.png">    </p:cNvPr>
          <p:cNvPicPr>
            <a:picLocks noChangeAspect="1"/>
          </p:cNvPicPr>
          <p:nvPr/>
        </p:nvPicPr>
        <p:blipFill>
          <a:blip r:embed="rId1"/>
          <a:stretch>
            <a:fillRect/>
          </a:stretch>
        </p:blipFill>
        <p:spPr>
          <a:xfrm>
            <a:off x="457200" y="914400"/>
            <a:ext cx="8092440" cy="2697480"/>
          </a:xfrm>
          <a:prstGeom prst="rect">
            <a:avLst/>
          </a:prstGeom>
        </p:spPr>
      </p:pic>
      <p:sp>
        <p:nvSpPr>
          <p:cNvPr id="4" name="Shape 1"/>
          <p:cNvSpPr/>
          <p:nvPr/>
        </p:nvSpPr>
        <p:spPr>
          <a:xfrm>
            <a:off x="457200" y="3886200"/>
            <a:ext cx="4023360" cy="868680"/>
          </a:xfrm>
          <a:prstGeom prst="roundRect">
            <a:avLst>
              <a:gd name="adj" fmla="val 8421"/>
            </a:avLst>
          </a:prstGeom>
          <a:solidFill>
            <a:srgbClr val="2A2F3A"/>
          </a:solidFill>
          <a:ln w="12700">
            <a:solidFill>
              <a:srgbClr val="8A94A6"/>
            </a:solidFill>
            <a:prstDash val="dash"/>
          </a:ln>
        </p:spPr>
      </p:sp>
      <p:sp>
        <p:nvSpPr>
          <p:cNvPr id="5" name="Text 2"/>
          <p:cNvSpPr txBox="1"/>
          <p:nvPr/>
        </p:nvSpPr>
        <p:spPr>
          <a:xfrm>
            <a:off x="548640" y="3886200"/>
            <a:ext cx="3840480" cy="8686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  CLIP: original vs depth pruning (paired episode)</a:t>
            </a:r>
            <a:endParaRPr lang="en-US" sz="1200" dirty="0"/>
          </a:p>
        </p:txBody>
      </p:sp>
      <p:sp>
        <p:nvSpPr>
          <p:cNvPr id="6" name="Shape 3"/>
          <p:cNvSpPr/>
          <p:nvPr/>
        </p:nvSpPr>
        <p:spPr>
          <a:xfrm>
            <a:off x="4663440" y="3886200"/>
            <a:ext cx="1965960" cy="365760"/>
          </a:xfrm>
          <a:prstGeom prst="roundRect">
            <a:avLst>
              <a:gd name="adj" fmla="val 25000"/>
            </a:avLst>
          </a:prstGeom>
          <a:solidFill>
            <a:srgbClr val="DFF1E6"/>
          </a:solidFill>
          <a:ln w="12700">
            <a:solidFill>
              <a:srgbClr val="DFF1E6"/>
            </a:solidFill>
            <a:prstDash val="solid"/>
          </a:ln>
        </p:spPr>
      </p:sp>
      <p:sp>
        <p:nvSpPr>
          <p:cNvPr id="7" name="Text 4"/>
          <p:cNvSpPr txBox="1"/>
          <p:nvPr/>
        </p:nvSpPr>
        <p:spPr>
          <a:xfrm>
            <a:off x="4663440" y="3886200"/>
            <a:ext cx="1965960" cy="365760"/>
          </a:xfrm>
          <a:prstGeom prst="rect">
            <a:avLst/>
          </a:prstGeom>
          <a:noFill/>
          <a:ln/>
        </p:spPr>
        <p:txBody>
          <a:bodyPr wrap="square" lIns="0" tIns="0" rIns="0" bIns="0" rtlCol="0" anchor="ctr"/>
          <a:lstStyle/>
          <a:p>
            <a:pPr algn="ctr" indent="0" marL="0">
              <a:buNone/>
            </a:pPr>
            <a:r>
              <a:rPr lang="en-US" sz="1150" b="1" dirty="0">
                <a:solidFill>
                  <a:srgbClr val="2E8B57"/>
                </a:solidFill>
                <a:latin typeface="Arial" pitchFamily="34" charset="0"/>
                <a:ea typeface="Arial" pitchFamily="34" charset="-122"/>
                <a:cs typeface="Arial" pitchFamily="34" charset="-120"/>
              </a:rPr>
              <a:t>Success 50.0 → 59.5 %</a:t>
            </a:r>
            <a:endParaRPr lang="en-US" sz="1150" dirty="0"/>
          </a:p>
        </p:txBody>
      </p:sp>
      <p:sp>
        <p:nvSpPr>
          <p:cNvPr id="8" name="Shape 5"/>
          <p:cNvSpPr/>
          <p:nvPr/>
        </p:nvSpPr>
        <p:spPr>
          <a:xfrm>
            <a:off x="6720840" y="3886200"/>
            <a:ext cx="1965960" cy="365760"/>
          </a:xfrm>
          <a:prstGeom prst="roundRect">
            <a:avLst>
              <a:gd name="adj" fmla="val 25000"/>
            </a:avLst>
          </a:prstGeom>
          <a:solidFill>
            <a:srgbClr val="DDEFEC"/>
          </a:solidFill>
          <a:ln w="12700">
            <a:solidFill>
              <a:srgbClr val="DDEFEC"/>
            </a:solidFill>
            <a:prstDash val="solid"/>
          </a:ln>
        </p:spPr>
      </p:sp>
      <p:sp>
        <p:nvSpPr>
          <p:cNvPr id="9" name="Text 6"/>
          <p:cNvSpPr txBox="1"/>
          <p:nvPr/>
        </p:nvSpPr>
        <p:spPr>
          <a:xfrm>
            <a:off x="6720840" y="3886200"/>
            <a:ext cx="1965960" cy="365760"/>
          </a:xfrm>
          <a:prstGeom prst="rect">
            <a:avLst/>
          </a:prstGeom>
          <a:noFill/>
          <a:ln/>
        </p:spPr>
        <p:txBody>
          <a:bodyPr wrap="square" lIns="0" tIns="0" rIns="0" bIns="0" rtlCol="0" anchor="ctr"/>
          <a:lstStyle/>
          <a:p>
            <a:pPr algn="ctr" indent="0" marL="0">
              <a:buNone/>
            </a:pPr>
            <a:r>
              <a:rPr lang="en-US" sz="1050" b="1" dirty="0">
                <a:solidFill>
                  <a:srgbClr val="1B7F79"/>
                </a:solidFill>
                <a:latin typeface="Arial" pitchFamily="34" charset="0"/>
                <a:ea typeface="Arial" pitchFamily="34" charset="-122"/>
                <a:cs typeface="Arial" pitchFamily="34" charset="-120"/>
              </a:rPr>
              <a:t>Latency 141.4 → 137.5 ms/step</a:t>
            </a:r>
            <a:endParaRPr lang="en-US" sz="1050" dirty="0"/>
          </a:p>
        </p:txBody>
      </p:sp>
      <p:sp>
        <p:nvSpPr>
          <p:cNvPr id="10" name="Text 7"/>
          <p:cNvSpPr txBox="1"/>
          <p:nvPr/>
        </p:nvSpPr>
        <p:spPr>
          <a:xfrm>
            <a:off x="4663440" y="4343400"/>
            <a:ext cx="4023360" cy="45720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Red = failure, green = success. Selected episodes, same task instances and initial states. Aggregate values from Table 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Same trick, same benchmark, different backbone</a:t>
            </a:r>
            <a:endParaRPr lang="en-US" sz="2600" dirty="0"/>
          </a:p>
        </p:txBody>
      </p:sp>
      <p:sp>
        <p:nvSpPr>
          <p:cNvPr id="3" name="Shape 1"/>
          <p:cNvSpPr/>
          <p:nvPr/>
        </p:nvSpPr>
        <p:spPr>
          <a:xfrm>
            <a:off x="457200" y="960120"/>
            <a:ext cx="2651760" cy="2377440"/>
          </a:xfrm>
          <a:prstGeom prst="roundRect">
            <a:avLst>
              <a:gd name="adj" fmla="val 3077"/>
            </a:avLst>
          </a:prstGeom>
          <a:solidFill>
            <a:srgbClr val="2A2F3A"/>
          </a:solidFill>
          <a:ln w="12700">
            <a:solidFill>
              <a:srgbClr val="8A94A6"/>
            </a:solidFill>
            <a:prstDash val="dash"/>
          </a:ln>
        </p:spPr>
      </p:sp>
      <p:sp>
        <p:nvSpPr>
          <p:cNvPr id="4" name="Shape 2"/>
          <p:cNvSpPr/>
          <p:nvPr/>
        </p:nvSpPr>
        <p:spPr>
          <a:xfrm>
            <a:off x="1508760" y="1764792"/>
            <a:ext cx="548640" cy="548640"/>
          </a:xfrm>
          <a:prstGeom prst="ellipse">
            <a:avLst/>
          </a:prstGeom>
          <a:solidFill>
            <a:srgbClr val="FFFFFF"/>
          </a:solidFill>
          <a:ln w="12700">
            <a:solidFill>
              <a:srgbClr val="FFFFFF"/>
            </a:solidFill>
            <a:prstDash val="solid"/>
          </a:ln>
        </p:spPr>
      </p:sp>
      <p:sp>
        <p:nvSpPr>
          <p:cNvPr id="5" name="Shape 3"/>
          <p:cNvSpPr/>
          <p:nvPr/>
        </p:nvSpPr>
        <p:spPr>
          <a:xfrm rot="5400000">
            <a:off x="1700784" y="1883664"/>
            <a:ext cx="219456" cy="310896"/>
          </a:xfrm>
          <a:prstGeom prst="triangle">
            <a:avLst/>
          </a:prstGeom>
          <a:solidFill>
            <a:srgbClr val="2A2F3A"/>
          </a:solidFill>
          <a:ln w="12700">
            <a:solidFill>
              <a:srgbClr val="2A2F3A"/>
            </a:solidFill>
            <a:prstDash val="solid"/>
          </a:ln>
        </p:spPr>
      </p:sp>
      <p:sp>
        <p:nvSpPr>
          <p:cNvPr id="6" name="Text 4"/>
          <p:cNvSpPr txBox="1"/>
          <p:nvPr/>
        </p:nvSpPr>
        <p:spPr>
          <a:xfrm>
            <a:off x="54864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original</a:t>
            </a:r>
            <a:endParaRPr lang="en-US" sz="1200" dirty="0"/>
          </a:p>
        </p:txBody>
      </p:sp>
      <p:sp>
        <p:nvSpPr>
          <p:cNvPr id="7" name="Text 5"/>
          <p:cNvSpPr txBox="1"/>
          <p:nvPr/>
        </p:nvSpPr>
        <p:spPr>
          <a:xfrm>
            <a:off x="54864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succeeds (green border)</a:t>
            </a:r>
            <a:endParaRPr lang="en-US" sz="950" dirty="0"/>
          </a:p>
        </p:txBody>
      </p:sp>
      <p:sp>
        <p:nvSpPr>
          <p:cNvPr id="8" name="Shape 6"/>
          <p:cNvSpPr/>
          <p:nvPr/>
        </p:nvSpPr>
        <p:spPr>
          <a:xfrm>
            <a:off x="3246120" y="960120"/>
            <a:ext cx="2651760" cy="2377440"/>
          </a:xfrm>
          <a:prstGeom prst="roundRect">
            <a:avLst>
              <a:gd name="adj" fmla="val 3077"/>
            </a:avLst>
          </a:prstGeom>
          <a:solidFill>
            <a:srgbClr val="2A2F3A"/>
          </a:solidFill>
          <a:ln w="12700">
            <a:solidFill>
              <a:srgbClr val="8A94A6"/>
            </a:solidFill>
            <a:prstDash val="dash"/>
          </a:ln>
        </p:spPr>
      </p:sp>
      <p:sp>
        <p:nvSpPr>
          <p:cNvPr id="9" name="Shape 7"/>
          <p:cNvSpPr/>
          <p:nvPr/>
        </p:nvSpPr>
        <p:spPr>
          <a:xfrm>
            <a:off x="4297680" y="1764792"/>
            <a:ext cx="548640" cy="548640"/>
          </a:xfrm>
          <a:prstGeom prst="ellipse">
            <a:avLst/>
          </a:prstGeom>
          <a:solidFill>
            <a:srgbClr val="FFFFFF"/>
          </a:solidFill>
          <a:ln w="12700">
            <a:solidFill>
              <a:srgbClr val="FFFFFF"/>
            </a:solidFill>
            <a:prstDash val="solid"/>
          </a:ln>
        </p:spPr>
      </p:sp>
      <p:sp>
        <p:nvSpPr>
          <p:cNvPr id="10" name="Shape 8"/>
          <p:cNvSpPr/>
          <p:nvPr/>
        </p:nvSpPr>
        <p:spPr>
          <a:xfrm rot="5400000">
            <a:off x="4489704" y="1883664"/>
            <a:ext cx="219456" cy="310896"/>
          </a:xfrm>
          <a:prstGeom prst="triangle">
            <a:avLst/>
          </a:prstGeom>
          <a:solidFill>
            <a:srgbClr val="2A2F3A"/>
          </a:solidFill>
          <a:ln w="12700">
            <a:solidFill>
              <a:srgbClr val="2A2F3A"/>
            </a:solidFill>
            <a:prstDash val="solid"/>
          </a:ln>
        </p:spPr>
      </p:sp>
      <p:sp>
        <p:nvSpPr>
          <p:cNvPr id="11" name="Text 9"/>
          <p:cNvSpPr txBox="1"/>
          <p:nvPr/>
        </p:nvSpPr>
        <p:spPr>
          <a:xfrm>
            <a:off x="3337560" y="237744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MiniVLA + pruning</a:t>
            </a:r>
            <a:endParaRPr lang="en-US" sz="1200" dirty="0"/>
          </a:p>
        </p:txBody>
      </p:sp>
      <p:sp>
        <p:nvSpPr>
          <p:cNvPr id="12" name="Text 10"/>
          <p:cNvSpPr txBox="1"/>
          <p:nvPr/>
        </p:nvSpPr>
        <p:spPr>
          <a:xfrm>
            <a:off x="3337560" y="262432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fails (red border)</a:t>
            </a:r>
            <a:endParaRPr lang="en-US" sz="950" dirty="0"/>
          </a:p>
        </p:txBody>
      </p:sp>
      <p:sp>
        <p:nvSpPr>
          <p:cNvPr id="13" name="Text 11"/>
          <p:cNvSpPr txBox="1"/>
          <p:nvPr/>
        </p:nvSpPr>
        <p:spPr>
          <a:xfrm>
            <a:off x="457200" y="3401568"/>
            <a:ext cx="5440680" cy="27432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Selected episode, same initial state, WidowX</a:t>
            </a:r>
            <a:endParaRPr lang="en-US" sz="1050" dirty="0"/>
          </a:p>
        </p:txBody>
      </p:sp>
      <p:sp>
        <p:nvSpPr>
          <p:cNvPr id="14" name="Shape 12"/>
          <p:cNvSpPr/>
          <p:nvPr/>
        </p:nvSpPr>
        <p:spPr>
          <a:xfrm>
            <a:off x="6126480" y="960120"/>
            <a:ext cx="2560320" cy="2377440"/>
          </a:xfrm>
          <a:prstGeom prst="roundRect">
            <a:avLst>
              <a:gd name="adj" fmla="val 4615"/>
            </a:avLst>
          </a:prstGeom>
          <a:solidFill>
            <a:srgbClr val="F3F5F7"/>
          </a:solidFill>
          <a:ln w="9525">
            <a:solidFill>
              <a:srgbClr val="D9DEE3"/>
            </a:solidFill>
            <a:prstDash val="solid"/>
          </a:ln>
        </p:spPr>
      </p:sp>
      <p:sp>
        <p:nvSpPr>
          <p:cNvPr id="15" name="Text 13"/>
          <p:cNvSpPr txBox="1"/>
          <p:nvPr/>
        </p:nvSpPr>
        <p:spPr>
          <a:xfrm>
            <a:off x="6126480" y="1051560"/>
            <a:ext cx="2560320" cy="320040"/>
          </a:xfrm>
          <a:prstGeom prst="rect">
            <a:avLst/>
          </a:prstGeom>
          <a:noFill/>
          <a:ln/>
        </p:spPr>
        <p:txBody>
          <a:bodyPr wrap="square" lIns="0" tIns="0" rIns="0" bIns="0" rtlCol="0" anchor="ctr"/>
          <a:lstStyle/>
          <a:p>
            <a:pPr algn="ctr" indent="0" marL="0">
              <a:buNone/>
            </a:pPr>
            <a:r>
              <a:rPr lang="en-US" sz="1300" b="1" dirty="0">
                <a:solidFill>
                  <a:srgbClr val="1F2933"/>
                </a:solidFill>
                <a:latin typeface="Arial" pitchFamily="34" charset="0"/>
                <a:ea typeface="Arial" pitchFamily="34" charset="-122"/>
                <a:cs typeface="Arial" pitchFamily="34" charset="-120"/>
              </a:rPr>
              <a:t>Depth pruning, WidowX</a:t>
            </a:r>
            <a:endParaRPr lang="en-US" sz="1300" dirty="0"/>
          </a:p>
        </p:txBody>
      </p:sp>
      <p:sp>
        <p:nvSpPr>
          <p:cNvPr id="16" name="Shape 14"/>
          <p:cNvSpPr/>
          <p:nvPr/>
        </p:nvSpPr>
        <p:spPr>
          <a:xfrm>
            <a:off x="6309360" y="1463040"/>
            <a:ext cx="2194560" cy="457200"/>
          </a:xfrm>
          <a:prstGeom prst="roundRect">
            <a:avLst>
              <a:gd name="adj" fmla="val 20000"/>
            </a:avLst>
          </a:prstGeom>
          <a:solidFill>
            <a:srgbClr val="DFF1E6"/>
          </a:solidFill>
          <a:ln w="12700">
            <a:solidFill>
              <a:srgbClr val="DFF1E6"/>
            </a:solidFill>
            <a:prstDash val="solid"/>
          </a:ln>
        </p:spPr>
      </p:sp>
      <p:sp>
        <p:nvSpPr>
          <p:cNvPr id="17" name="Text 15"/>
          <p:cNvSpPr txBox="1"/>
          <p:nvPr/>
        </p:nvSpPr>
        <p:spPr>
          <a:xfrm>
            <a:off x="6309360" y="1463040"/>
            <a:ext cx="2194560" cy="457200"/>
          </a:xfrm>
          <a:prstGeom prst="rect">
            <a:avLst/>
          </a:prstGeom>
          <a:noFill/>
          <a:ln/>
        </p:spPr>
        <p:txBody>
          <a:bodyPr wrap="square" lIns="0" tIns="0" rIns="0" bIns="0" rtlCol="0" anchor="ctr"/>
          <a:lstStyle/>
          <a:p>
            <a:pPr algn="ctr" indent="0" marL="0">
              <a:buNone/>
            </a:pPr>
            <a:r>
              <a:rPr lang="en-US" sz="1400" b="1" dirty="0">
                <a:solidFill>
                  <a:srgbClr val="2E8B57"/>
                </a:solidFill>
                <a:latin typeface="Arial" pitchFamily="34" charset="0"/>
                <a:ea typeface="Arial" pitchFamily="34" charset="-122"/>
                <a:cs typeface="Arial" pitchFamily="34" charset="-120"/>
              </a:rPr>
              <a:t>CogACT  +9.5</a:t>
            </a:r>
            <a:endParaRPr lang="en-US" sz="1400" dirty="0"/>
          </a:p>
        </p:txBody>
      </p:sp>
      <p:sp>
        <p:nvSpPr>
          <p:cNvPr id="18" name="Shape 16"/>
          <p:cNvSpPr/>
          <p:nvPr/>
        </p:nvSpPr>
        <p:spPr>
          <a:xfrm>
            <a:off x="6309360" y="2011680"/>
            <a:ext cx="2194560" cy="457200"/>
          </a:xfrm>
          <a:prstGeom prst="roundRect">
            <a:avLst>
              <a:gd name="adj" fmla="val 20000"/>
            </a:avLst>
          </a:prstGeom>
          <a:solidFill>
            <a:srgbClr val="F6E0DD"/>
          </a:solidFill>
          <a:ln w="12700">
            <a:solidFill>
              <a:srgbClr val="F6E0DD"/>
            </a:solidFill>
            <a:prstDash val="solid"/>
          </a:ln>
        </p:spPr>
      </p:sp>
      <p:sp>
        <p:nvSpPr>
          <p:cNvPr id="19" name="Text 17"/>
          <p:cNvSpPr txBox="1"/>
          <p:nvPr/>
        </p:nvSpPr>
        <p:spPr>
          <a:xfrm>
            <a:off x="6309360" y="201168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MiniVLA  −17.5</a:t>
            </a:r>
            <a:endParaRPr lang="en-US" sz="1400" dirty="0"/>
          </a:p>
        </p:txBody>
      </p:sp>
      <p:sp>
        <p:nvSpPr>
          <p:cNvPr id="20" name="Shape 18"/>
          <p:cNvSpPr/>
          <p:nvPr/>
        </p:nvSpPr>
        <p:spPr>
          <a:xfrm>
            <a:off x="6309360" y="2560320"/>
            <a:ext cx="2194560" cy="457200"/>
          </a:xfrm>
          <a:prstGeom prst="roundRect">
            <a:avLst>
              <a:gd name="adj" fmla="val 20000"/>
            </a:avLst>
          </a:prstGeom>
          <a:solidFill>
            <a:srgbClr val="F6E0DD"/>
          </a:solidFill>
          <a:ln w="12700">
            <a:solidFill>
              <a:srgbClr val="F6E0DD"/>
            </a:solidFill>
            <a:prstDash val="solid"/>
          </a:ln>
        </p:spPr>
      </p:sp>
      <p:sp>
        <p:nvSpPr>
          <p:cNvPr id="21" name="Text 19"/>
          <p:cNvSpPr txBox="1"/>
          <p:nvPr/>
        </p:nvSpPr>
        <p:spPr>
          <a:xfrm>
            <a:off x="6309360" y="2560320"/>
            <a:ext cx="2194560" cy="457200"/>
          </a:xfrm>
          <a:prstGeom prst="rect">
            <a:avLst/>
          </a:prstGeom>
          <a:noFill/>
          <a:ln/>
        </p:spPr>
        <p:txBody>
          <a:bodyPr wrap="square" lIns="0" tIns="0" rIns="0" bIns="0" rtlCol="0" anchor="ctr"/>
          <a:lstStyle/>
          <a:p>
            <a:pPr algn="ctr" indent="0" marL="0">
              <a:buNone/>
            </a:pPr>
            <a:r>
              <a:rPr lang="en-US" sz="1400" b="1" dirty="0">
                <a:solidFill>
                  <a:srgbClr val="B03A2E"/>
                </a:solidFill>
                <a:latin typeface="Arial" pitchFamily="34" charset="0"/>
                <a:ea typeface="Arial" pitchFamily="34" charset="-122"/>
                <a:cs typeface="Arial" pitchFamily="34" charset="-120"/>
              </a:rPr>
              <a:t>SpatialVLA  −6.5</a:t>
            </a:r>
            <a:endParaRPr lang="en-US" sz="1400" dirty="0"/>
          </a:p>
        </p:txBody>
      </p:sp>
      <p:sp>
        <p:nvSpPr>
          <p:cNvPr id="22" name="Shape 20"/>
          <p:cNvSpPr/>
          <p:nvPr/>
        </p:nvSpPr>
        <p:spPr>
          <a:xfrm>
            <a:off x="457200" y="3840480"/>
            <a:ext cx="8229600" cy="777240"/>
          </a:xfrm>
          <a:prstGeom prst="roundRect">
            <a:avLst>
              <a:gd name="adj" fmla="val 11765"/>
            </a:avLst>
          </a:prstGeom>
          <a:solidFill>
            <a:srgbClr val="16213A"/>
          </a:solidFill>
          <a:ln w="12700">
            <a:solidFill>
              <a:srgbClr val="16213A"/>
            </a:solidFill>
            <a:prstDash val="solid"/>
          </a:ln>
        </p:spPr>
      </p:sp>
      <p:sp>
        <p:nvSpPr>
          <p:cNvPr id="23" name="Text 21"/>
          <p:cNvSpPr txBox="1"/>
          <p:nvPr/>
        </p:nvSpPr>
        <p:spPr>
          <a:xfrm>
            <a:off x="640080" y="3840480"/>
            <a:ext cx="7863840" cy="7772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Structural redundancy is not a property of the trick alone. It depends on how each backbone uses its decoder layers during control.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3"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4"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7"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9"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3"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5"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7"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18"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19"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Open loop has a cost, gating keeps it safer</a:t>
            </a:r>
            <a:endParaRPr lang="en-US" sz="2600" dirty="0"/>
          </a:p>
        </p:txBody>
      </p:sp>
      <p:sp>
        <p:nvSpPr>
          <p:cNvPr id="3" name="Shape 1"/>
          <p:cNvSpPr/>
          <p:nvPr/>
        </p:nvSpPr>
        <p:spPr>
          <a:xfrm>
            <a:off x="457200" y="960120"/>
            <a:ext cx="2651760" cy="1965960"/>
          </a:xfrm>
          <a:prstGeom prst="roundRect">
            <a:avLst>
              <a:gd name="adj" fmla="val 3721"/>
            </a:avLst>
          </a:prstGeom>
          <a:solidFill>
            <a:srgbClr val="2A2F3A"/>
          </a:solidFill>
          <a:ln w="12700">
            <a:solidFill>
              <a:srgbClr val="8A94A6"/>
            </a:solidFill>
            <a:prstDash val="dash"/>
          </a:ln>
        </p:spPr>
      </p:sp>
      <p:sp>
        <p:nvSpPr>
          <p:cNvPr id="4" name="Shape 2"/>
          <p:cNvSpPr/>
          <p:nvPr/>
        </p:nvSpPr>
        <p:spPr>
          <a:xfrm>
            <a:off x="1508760" y="1559052"/>
            <a:ext cx="548640" cy="548640"/>
          </a:xfrm>
          <a:prstGeom prst="ellipse">
            <a:avLst/>
          </a:prstGeom>
          <a:solidFill>
            <a:srgbClr val="FFFFFF"/>
          </a:solidFill>
          <a:ln w="12700">
            <a:solidFill>
              <a:srgbClr val="FFFFFF"/>
            </a:solidFill>
            <a:prstDash val="solid"/>
          </a:ln>
        </p:spPr>
      </p:sp>
      <p:sp>
        <p:nvSpPr>
          <p:cNvPr id="5" name="Shape 3"/>
          <p:cNvSpPr/>
          <p:nvPr/>
        </p:nvSpPr>
        <p:spPr>
          <a:xfrm rot="5400000">
            <a:off x="1700784" y="1677924"/>
            <a:ext cx="219456" cy="310896"/>
          </a:xfrm>
          <a:prstGeom prst="triangle">
            <a:avLst/>
          </a:prstGeom>
          <a:solidFill>
            <a:srgbClr val="2A2F3A"/>
          </a:solidFill>
          <a:ln w="12700">
            <a:solidFill>
              <a:srgbClr val="2A2F3A"/>
            </a:solidFill>
            <a:prstDash val="solid"/>
          </a:ln>
        </p:spPr>
      </p:sp>
      <p:sp>
        <p:nvSpPr>
          <p:cNvPr id="6" name="Text 4"/>
          <p:cNvSpPr txBox="1"/>
          <p:nvPr/>
        </p:nvSpPr>
        <p:spPr>
          <a:xfrm>
            <a:off x="54864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Original</a:t>
            </a:r>
            <a:endParaRPr lang="en-US" sz="1200" dirty="0"/>
          </a:p>
        </p:txBody>
      </p:sp>
      <p:sp>
        <p:nvSpPr>
          <p:cNvPr id="7" name="Text 5"/>
          <p:cNvSpPr txBox="1"/>
          <p:nvPr/>
        </p:nvSpPr>
        <p:spPr>
          <a:xfrm>
            <a:off x="54864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policy call every step</a:t>
            </a:r>
            <a:endParaRPr lang="en-US" sz="950" dirty="0"/>
          </a:p>
        </p:txBody>
      </p:sp>
      <p:sp>
        <p:nvSpPr>
          <p:cNvPr id="8" name="Text 6"/>
          <p:cNvSpPr txBox="1"/>
          <p:nvPr/>
        </p:nvSpPr>
        <p:spPr>
          <a:xfrm>
            <a:off x="45720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9" name="Shape 7"/>
          <p:cNvSpPr/>
          <p:nvPr/>
        </p:nvSpPr>
        <p:spPr>
          <a:xfrm>
            <a:off x="3246120" y="960120"/>
            <a:ext cx="2651760" cy="1965960"/>
          </a:xfrm>
          <a:prstGeom prst="roundRect">
            <a:avLst>
              <a:gd name="adj" fmla="val 3721"/>
            </a:avLst>
          </a:prstGeom>
          <a:solidFill>
            <a:srgbClr val="2A2F3A"/>
          </a:solidFill>
          <a:ln w="12700">
            <a:solidFill>
              <a:srgbClr val="8A94A6"/>
            </a:solidFill>
            <a:prstDash val="dash"/>
          </a:ln>
        </p:spPr>
      </p:sp>
      <p:sp>
        <p:nvSpPr>
          <p:cNvPr id="10" name="Shape 8"/>
          <p:cNvSpPr/>
          <p:nvPr/>
        </p:nvSpPr>
        <p:spPr>
          <a:xfrm>
            <a:off x="4297680" y="1559052"/>
            <a:ext cx="548640" cy="548640"/>
          </a:xfrm>
          <a:prstGeom prst="ellipse">
            <a:avLst/>
          </a:prstGeom>
          <a:solidFill>
            <a:srgbClr val="FFFFFF"/>
          </a:solidFill>
          <a:ln w="12700">
            <a:solidFill>
              <a:srgbClr val="FFFFFF"/>
            </a:solidFill>
            <a:prstDash val="solid"/>
          </a:ln>
        </p:spPr>
      </p:sp>
      <p:sp>
        <p:nvSpPr>
          <p:cNvPr id="11" name="Shape 9"/>
          <p:cNvSpPr/>
          <p:nvPr/>
        </p:nvSpPr>
        <p:spPr>
          <a:xfrm rot="5400000">
            <a:off x="4489704" y="1677924"/>
            <a:ext cx="219456" cy="310896"/>
          </a:xfrm>
          <a:prstGeom prst="triangle">
            <a:avLst/>
          </a:prstGeom>
          <a:solidFill>
            <a:srgbClr val="2A2F3A"/>
          </a:solidFill>
          <a:ln w="12700">
            <a:solidFill>
              <a:srgbClr val="2A2F3A"/>
            </a:solidFill>
            <a:prstDash val="solid"/>
          </a:ln>
        </p:spPr>
      </p:sp>
      <p:sp>
        <p:nvSpPr>
          <p:cNvPr id="12" name="Text 10"/>
          <p:cNvSpPr txBox="1"/>
          <p:nvPr/>
        </p:nvSpPr>
        <p:spPr>
          <a:xfrm>
            <a:off x="333756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Action repeat</a:t>
            </a:r>
            <a:endParaRPr lang="en-US" sz="1200" dirty="0"/>
          </a:p>
        </p:txBody>
      </p:sp>
      <p:sp>
        <p:nvSpPr>
          <p:cNvPr id="13" name="Text 11"/>
          <p:cNvSpPr txBox="1"/>
          <p:nvPr/>
        </p:nvSpPr>
        <p:spPr>
          <a:xfrm>
            <a:off x="333756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held actions, episode fails</a:t>
            </a:r>
            <a:endParaRPr lang="en-US" sz="950" dirty="0"/>
          </a:p>
        </p:txBody>
      </p:sp>
      <p:sp>
        <p:nvSpPr>
          <p:cNvPr id="14" name="Text 12"/>
          <p:cNvSpPr txBox="1"/>
          <p:nvPr/>
        </p:nvSpPr>
        <p:spPr>
          <a:xfrm>
            <a:off x="324612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15" name="Shape 13"/>
          <p:cNvSpPr/>
          <p:nvPr/>
        </p:nvSpPr>
        <p:spPr>
          <a:xfrm>
            <a:off x="6035040" y="960120"/>
            <a:ext cx="2651760" cy="1965960"/>
          </a:xfrm>
          <a:prstGeom prst="roundRect">
            <a:avLst>
              <a:gd name="adj" fmla="val 3721"/>
            </a:avLst>
          </a:prstGeom>
          <a:solidFill>
            <a:srgbClr val="2A2F3A"/>
          </a:solidFill>
          <a:ln w="12700">
            <a:solidFill>
              <a:srgbClr val="8A94A6"/>
            </a:solidFill>
            <a:prstDash val="dash"/>
          </a:ln>
        </p:spPr>
      </p:sp>
      <p:sp>
        <p:nvSpPr>
          <p:cNvPr id="16" name="Shape 14"/>
          <p:cNvSpPr/>
          <p:nvPr/>
        </p:nvSpPr>
        <p:spPr>
          <a:xfrm>
            <a:off x="7086600" y="1559052"/>
            <a:ext cx="548640" cy="548640"/>
          </a:xfrm>
          <a:prstGeom prst="ellipse">
            <a:avLst/>
          </a:prstGeom>
          <a:solidFill>
            <a:srgbClr val="FFFFFF"/>
          </a:solidFill>
          <a:ln w="12700">
            <a:solidFill>
              <a:srgbClr val="FFFFFF"/>
            </a:solidFill>
            <a:prstDash val="solid"/>
          </a:ln>
        </p:spPr>
      </p:sp>
      <p:sp>
        <p:nvSpPr>
          <p:cNvPr id="17" name="Shape 15"/>
          <p:cNvSpPr/>
          <p:nvPr/>
        </p:nvSpPr>
        <p:spPr>
          <a:xfrm rot="5400000">
            <a:off x="7278624" y="1677924"/>
            <a:ext cx="219456" cy="310896"/>
          </a:xfrm>
          <a:prstGeom prst="triangle">
            <a:avLst/>
          </a:prstGeom>
          <a:solidFill>
            <a:srgbClr val="2A2F3A"/>
          </a:solidFill>
          <a:ln w="12700">
            <a:solidFill>
              <a:srgbClr val="2A2F3A"/>
            </a:solidFill>
            <a:prstDash val="solid"/>
          </a:ln>
        </p:spPr>
      </p:sp>
      <p:sp>
        <p:nvSpPr>
          <p:cNvPr id="18" name="Text 16"/>
          <p:cNvSpPr txBox="1"/>
          <p:nvPr/>
        </p:nvSpPr>
        <p:spPr>
          <a:xfrm>
            <a:off x="6126480" y="217170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CLIP: Guarded reuse</a:t>
            </a:r>
            <a:endParaRPr lang="en-US" sz="1200" dirty="0"/>
          </a:p>
        </p:txBody>
      </p:sp>
      <p:sp>
        <p:nvSpPr>
          <p:cNvPr id="19" name="Text 17"/>
          <p:cNvSpPr txBox="1"/>
          <p:nvPr/>
        </p:nvSpPr>
        <p:spPr>
          <a:xfrm>
            <a:off x="6126480" y="2418588"/>
            <a:ext cx="2468880" cy="365760"/>
          </a:xfrm>
          <a:prstGeom prst="rect">
            <a:avLst/>
          </a:prstGeom>
          <a:noFill/>
          <a:ln/>
        </p:spPr>
        <p:txBody>
          <a:bodyPr wrap="square" lIns="0" tIns="0" rIns="0" bIns="0" rtlCol="0" anchor="t"/>
          <a:lstStyle/>
          <a:p>
            <a:pPr algn="ctr" indent="0" marL="0">
              <a:buNone/>
            </a:pPr>
            <a:r>
              <a:rPr lang="en-US" sz="950" dirty="0">
                <a:solidFill>
                  <a:srgbClr val="C9D1DC"/>
                </a:solidFill>
                <a:latin typeface="Arial" pitchFamily="34" charset="0"/>
                <a:ea typeface="Arial" pitchFamily="34" charset="-122"/>
                <a:cs typeface="Arial" pitchFamily="34" charset="-120"/>
              </a:rPr>
              <a:t>calls skipped only when the gates pass</a:t>
            </a:r>
            <a:endParaRPr lang="en-US" sz="950" dirty="0"/>
          </a:p>
        </p:txBody>
      </p:sp>
      <p:sp>
        <p:nvSpPr>
          <p:cNvPr id="20" name="Text 18"/>
          <p:cNvSpPr txBox="1"/>
          <p:nvPr/>
        </p:nvSpPr>
        <p:spPr>
          <a:xfrm>
            <a:off x="6035040" y="2971800"/>
            <a:ext cx="2651760" cy="274320"/>
          </a:xfrm>
          <a:prstGeom prst="rect">
            <a:avLst/>
          </a:prstGeom>
          <a:noFill/>
          <a:ln/>
        </p:spPr>
        <p:txBody>
          <a:bodyPr wrap="square" lIns="0" tIns="0" rIns="0" bIns="0" rtlCol="0" anchor="t"/>
          <a:lstStyle/>
          <a:p>
            <a:pPr algn="ctr" indent="0" marL="0">
              <a:buNone/>
            </a:pPr>
            <a:r>
              <a:rPr lang="en-US" sz="1000" dirty="0">
                <a:solidFill>
                  <a:srgbClr val="5F6B7A"/>
                </a:solidFill>
                <a:latin typeface="Arial" pitchFamily="34" charset="0"/>
                <a:ea typeface="Arial" pitchFamily="34" charset="-122"/>
                <a:cs typeface="Arial" pitchFamily="34" charset="-120"/>
              </a:rPr>
              <a:t>policy calls used: ___</a:t>
            </a:r>
            <a:endParaRPr lang="en-US" sz="1000" dirty="0"/>
          </a:p>
        </p:txBody>
      </p:sp>
      <p:sp>
        <p:nvSpPr>
          <p:cNvPr id="21" name="Shape 19"/>
          <p:cNvSpPr/>
          <p:nvPr/>
        </p:nvSpPr>
        <p:spPr>
          <a:xfrm>
            <a:off x="457200" y="3383280"/>
            <a:ext cx="4023360" cy="457200"/>
          </a:xfrm>
          <a:prstGeom prst="roundRect">
            <a:avLst>
              <a:gd name="adj" fmla="val 20000"/>
            </a:avLst>
          </a:prstGeom>
          <a:solidFill>
            <a:srgbClr val="F6E0DD"/>
          </a:solidFill>
          <a:ln w="12700">
            <a:solidFill>
              <a:srgbClr val="F6E0DD"/>
            </a:solidFill>
            <a:prstDash val="solid"/>
          </a:ln>
        </p:spPr>
      </p:sp>
      <p:sp>
        <p:nvSpPr>
          <p:cNvPr id="22" name="Text 20"/>
          <p:cNvSpPr txBox="1"/>
          <p:nvPr/>
        </p:nvSpPr>
        <p:spPr>
          <a:xfrm>
            <a:off x="457200" y="3383280"/>
            <a:ext cx="4023360" cy="457200"/>
          </a:xfrm>
          <a:prstGeom prst="rect">
            <a:avLst/>
          </a:prstGeom>
          <a:noFill/>
          <a:ln/>
        </p:spPr>
        <p:txBody>
          <a:bodyPr wrap="square" lIns="0" tIns="0" rIns="0" bIns="0" rtlCol="0" anchor="ctr"/>
          <a:lstStyle/>
          <a:p>
            <a:pPr algn="ctr" indent="0" marL="0">
              <a:buNone/>
            </a:pPr>
            <a:r>
              <a:rPr lang="en-US" sz="1050" b="1" dirty="0">
                <a:solidFill>
                  <a:srgbClr val="B03A2E"/>
                </a:solidFill>
                <a:latin typeface="Arial" pitchFamily="34" charset="0"/>
                <a:ea typeface="Arial" pitchFamily="34" charset="-122"/>
                <a:cs typeface="Arial" pitchFamily="34" charset="-120"/>
              </a:rPr>
              <a:t>Action repeat (k = 2, best setting), WidowX: CogACT −38.0 · UniVLA −75.0</a:t>
            </a:r>
            <a:endParaRPr lang="en-US" sz="1050" dirty="0"/>
          </a:p>
        </p:txBody>
      </p:sp>
      <p:sp>
        <p:nvSpPr>
          <p:cNvPr id="23" name="Shape 21"/>
          <p:cNvSpPr/>
          <p:nvPr/>
        </p:nvSpPr>
        <p:spPr>
          <a:xfrm>
            <a:off x="457200" y="3931920"/>
            <a:ext cx="4023360" cy="457200"/>
          </a:xfrm>
          <a:prstGeom prst="roundRect">
            <a:avLst>
              <a:gd name="adj" fmla="val 20000"/>
            </a:avLst>
          </a:prstGeom>
          <a:solidFill>
            <a:srgbClr val="F3F5F7"/>
          </a:solidFill>
          <a:ln w="12700">
            <a:solidFill>
              <a:srgbClr val="F3F5F7"/>
            </a:solidFill>
            <a:prstDash val="solid"/>
          </a:ln>
        </p:spPr>
      </p:sp>
      <p:sp>
        <p:nvSpPr>
          <p:cNvPr id="24" name="Text 22"/>
          <p:cNvSpPr txBox="1"/>
          <p:nvPr/>
        </p:nvSpPr>
        <p:spPr>
          <a:xfrm>
            <a:off x="457200" y="3931920"/>
            <a:ext cx="4023360" cy="457200"/>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Fractal (milder): CogACT −1.2 · SpatialVLA 0.0</a:t>
            </a:r>
            <a:endParaRPr lang="en-US" sz="1100" dirty="0"/>
          </a:p>
        </p:txBody>
      </p:sp>
      <p:sp>
        <p:nvSpPr>
          <p:cNvPr id="25" name="Shape 23"/>
          <p:cNvSpPr/>
          <p:nvPr/>
        </p:nvSpPr>
        <p:spPr>
          <a:xfrm>
            <a:off x="4663440" y="3383280"/>
            <a:ext cx="4023360" cy="457200"/>
          </a:xfrm>
          <a:prstGeom prst="roundRect">
            <a:avLst>
              <a:gd name="adj" fmla="val 20000"/>
            </a:avLst>
          </a:prstGeom>
          <a:solidFill>
            <a:srgbClr val="DDEFEC"/>
          </a:solidFill>
          <a:ln w="12700">
            <a:solidFill>
              <a:srgbClr val="DDEFEC"/>
            </a:solidFill>
            <a:prstDash val="solid"/>
          </a:ln>
        </p:spPr>
      </p:sp>
      <p:sp>
        <p:nvSpPr>
          <p:cNvPr id="26" name="Text 24"/>
          <p:cNvSpPr txBox="1"/>
          <p:nvPr/>
        </p:nvSpPr>
        <p:spPr>
          <a:xfrm>
            <a:off x="4663440" y="3383280"/>
            <a:ext cx="4023360" cy="457200"/>
          </a:xfrm>
          <a:prstGeom prst="rect">
            <a:avLst/>
          </a:prstGeom>
          <a:noFill/>
          <a:ln/>
        </p:spPr>
        <p:txBody>
          <a:bodyPr wrap="square" lIns="0" tIns="0" rIns="0" bIns="0" rtlCol="0" anchor="ctr"/>
          <a:lstStyle/>
          <a:p>
            <a:pPr algn="ctr" indent="0" marL="0">
              <a:buNone/>
            </a:pPr>
            <a:r>
              <a:rPr lang="en-US" sz="1100" b="1" dirty="0">
                <a:solidFill>
                  <a:srgbClr val="1B7F79"/>
                </a:solidFill>
                <a:latin typeface="Arial" pitchFamily="34" charset="0"/>
                <a:ea typeface="Arial" pitchFamily="34" charset="-122"/>
                <a:cs typeface="Arial" pitchFamily="34" charset="-120"/>
              </a:rPr>
              <a:t>Guarded reuse, SmolVLA LIBERO Long: 289.5 → 268.9 ms</a:t>
            </a:r>
            <a:endParaRPr lang="en-US" sz="1100" dirty="0"/>
          </a:p>
        </p:txBody>
      </p:sp>
      <p:sp>
        <p:nvSpPr>
          <p:cNvPr id="27" name="Shape 25"/>
          <p:cNvSpPr/>
          <p:nvPr/>
        </p:nvSpPr>
        <p:spPr>
          <a:xfrm>
            <a:off x="4663440" y="3931920"/>
            <a:ext cx="4023360" cy="457200"/>
          </a:xfrm>
          <a:prstGeom prst="roundRect">
            <a:avLst>
              <a:gd name="adj" fmla="val 20000"/>
            </a:avLst>
          </a:prstGeom>
          <a:solidFill>
            <a:srgbClr val="DFF1E6"/>
          </a:solidFill>
          <a:ln w="12700">
            <a:solidFill>
              <a:srgbClr val="DFF1E6"/>
            </a:solidFill>
            <a:prstDash val="solid"/>
          </a:ln>
        </p:spPr>
      </p:sp>
      <p:sp>
        <p:nvSpPr>
          <p:cNvPr id="28" name="Text 26"/>
          <p:cNvSpPr txBox="1"/>
          <p:nvPr/>
        </p:nvSpPr>
        <p:spPr>
          <a:xfrm>
            <a:off x="4663440" y="3931920"/>
            <a:ext cx="4023360" cy="457200"/>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success unchanged at 42.0 %</a:t>
            </a:r>
            <a:endParaRPr lang="en-US" sz="1100" dirty="0"/>
          </a:p>
        </p:txBody>
      </p:sp>
      <p:sp>
        <p:nvSpPr>
          <p:cNvPr id="29" name="Text 27"/>
          <p:cNvSpPr txBox="1"/>
          <p:nvPr/>
        </p:nvSpPr>
        <p:spPr>
          <a:xfrm>
            <a:off x="457200" y="4434840"/>
            <a:ext cx="8229600" cy="237744"/>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Same CogACT WidowX episode and initial state in all three panels. Deltas from Tables I and II, best setting per trick.</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3"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4"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5"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6"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7"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8"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9"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0"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1"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2"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3"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often harmful on WidowX, milder on Fractal for some backbones</a:t>
            </a:r>
            <a:endParaRPr lang="en-US" sz="1050" dirty="0"/>
          </a:p>
        </p:txBody>
      </p:sp>
      <p:sp>
        <p:nvSpPr>
          <p:cNvPr id="14"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5"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3"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4"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5"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6"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7"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8"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9"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0"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1"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2"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3"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4"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5"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6"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2026-09-20T08:44:26Z</dcterms:created>
  <dcterms:modified xsi:type="dcterms:W3CDTF">2026-09-20T08:44:26Z</dcterms:modified>
</cp:coreProperties>
</file>