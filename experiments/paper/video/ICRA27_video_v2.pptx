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15 s  |  36 words (2.4 w/s)
NARRATION:
Vision-language-action models are capable but slow. Every policy call runs a vision encoder and a language backbone. Training-free tricks promise cheaper inference, but gains are typically reported for one backbone and one benchmark. Do they transfer?
VISUAL / PRODUCTION NOTE:
Static. Optional: play a short original-policy rollout behind the loop diagram. Pipeline row cropped from Fig. 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11 s  |  27 words (2.5 w/s)
NARRATION:
Trick one, visual foveation. The observation keeps a sharp central disc and blurs the periphery. Token count and compute are unchanged. Only what the policy sees changes.
VISUAL / PRODUCTION NOTE:
Left: Fig. 2(a) foveation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11 s  |  29 words (2.6 w/s)
NARRATION:
Trick two, action repeat. Each predicted action is held for two or four control steps, so the policy is called less often. No state check, a pure speed baseline.
VISUAL / PRODUCTION NOTE:
Left: Fig. 2(a) action repeat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12 s  |  32 words (2.7 w/s)
NARRATION:
Trick three, depth pruning. Decoder blocks that barely change their hidden states are removed, one, two, or four of them, keeping the early and final blocks. The selection is fixed before evaluation.
VISUAL / PRODUCTION NOTE:
Left: Fig. 2(a)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11 s  |  28 words (2.5 w/s)
NARRATION:
Trick four, guarded reuse. The previous action is reused only while every gate passes: image change, action agreement, translation, and gripper. Any failed gate restores a full call.
VISUAL / PRODUCTION NOTE:
Left: Fig. 2(a) guarded reuse panel. Right: side-by-side rollout clip with gate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12 s  |  31 words (2.6 w/s)
NARRATION:
Trick five, temporal fusion. Visual tokens of stable patches are reused from the previous call, while patches with motion, entropy, or language attention are recomputed. The policy still runs every step.
VISUAL / PRODUCTION NOTE:
Left: Fig. 2(a) panel. Right: side-by-side rollout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12 s  |  29 words (2.4 w/s)
NARRATION:
Seven backbones, official checkpoints, on WidowX, Fractal, and LIBERO. Thirteen trick settings per pair plus the original, 286 trick settings, each compared with the original on the same episodes.
VISUAL / PRODUCTION NOTE:
286 = 13 trick settings × 22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12 s  |  27 words (2.3 w/s)
NARRATION:
First, success. Guarded reuse and temporal fusion are the safest for preserving success. Foveation and depth pruning help selected backbones. Action repeat is mainly a speed baseline.
VISUAL / PRODUCTION NOTE:
Fig. 1 with a native legend. Optionally enlarge one row of panels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12 s  |  25 words (2.1 w/s)
NARRATION:
CogACT on WidowX. In these paired episodes the original fails and depth pruning succeeds. Overall success rises from 50.0 to 59.5, and latency drops slightly.
VISUAL / PRODUCTION NOTE:
Fig. 3(a) strips. Bottom-left: side-by-side recorded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10 s  |  24 words (2.4 w/s)
NARRATION:
Same trick, same benchmark, different backbone. On MiniVLA, depth pruning drops success by 17.5 points, on SpatialVLA by 6.5. Here the pruned policy fails.
VISUAL / PRODUCTION NOTE:
Record a MiniVLA WidowX episode from the same task family as the CogACT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13 s  |  32 words (2.5 w/s)
NARRATION:
Second, speed. Action repeat gives the largest speedup. SpatialVLA on WidowX drops from about 424 to 235 milliseconds per step. Depth pruning gives smaller decoder-level savings, and guarded reuse the safest trade-off.
VISUAL / PRODUCTION NOTE:
Paper Fig. 4 with a native colour legend. If the Speechma clip runs longer than 13 s, extend the slide rather than speeding the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13 s  |  35 words (2.7 w/s)
NARRATION:
Action repeat runs open loop: on WidowX, CogACT loses 38 points and UniVLA 75. Guarded reuse skips calls only when the gates agree. On SmolVLA in LIBERO Long, success stays at 42.0 with lower latency.
VISUAL / PRODUCTION NOTE:
Three-panel recording of one CogACT WidowX episode; use k = 2 for the action-repeat panel so the clip matches the quoted deltas (k = 4 is worse, about -46 and -85 points, Fig. 5). Before rendering, fill the three "policy calls used" counters from that episode: original = number of steps, repeat = about steps / k, guarded = steps minus skipped calls, or delete the counter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12 s  |  24 words (2.0 w/s)
NARRATION:
Third, consistency. Across backbone and environment pairs the same trick improves one model, leaves another unchanged, and hurts a third. No trick is plug-and-play.
VISUAL / PRODUCTION NOTE:
Consistency chart (supplementary figure, counts from the per-setting records with LIBERO episodes pooled). Do not read the counts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12 s  |  29 words (2.4 w/s)
NARRATION:
Guarded reuse is most reliable. Action repeat is fastest but risky. Depth pruning is backbone-dependent. Evaluate every trick under the target backbone and environment before applying it. Thank you.
VISUAL / PRODUCTION NOTE:
Final slide. No names, logos, or URLs. Hold 2 s after the narration ends, then fade to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09728"/>
            <a:ext cx="7132320" cy="27432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Bag of Tricks for Training-Free Vision-Language-Action Models</a:t>
            </a:r>
            <a:endParaRPr lang="en-US" sz="1000" dirty="0"/>
          </a:p>
        </p:txBody>
      </p:sp>
      <p:sp>
        <p:nvSpPr>
          <p:cNvPr id="3" name="Text 1"/>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Motivation</a:t>
            </a:r>
            <a:pPr indent="0" marL="0">
              <a:buNone/>
            </a:pPr>
            <a:r>
              <a:rPr lang="en-US" sz="2600" dirty="0">
                <a:solidFill>
                  <a:srgbClr val="1F2933"/>
                </a:solidFill>
                <a:latin typeface="Arial" pitchFamily="34" charset="0"/>
                <a:ea typeface="Arial" pitchFamily="34" charset="-122"/>
                <a:cs typeface="Arial" pitchFamily="34" charset="-120"/>
              </a:rPr>
              <a:t>  Efficient VLA inference without retraining</a:t>
            </a:r>
            <a:endParaRPr lang="en-US" sz="2600" dirty="0"/>
          </a:p>
        </p:txBody>
      </p:sp>
      <p:pic>
        <p:nvPicPr>
          <p:cNvPr id="4" name="Image 0" descr="/tmp/claude-0/-home-user-BiVLA/4327cefa-ba5d-5e2e-9d87-c73dd3a8ccbb/scratchpad/video_ppt/assets/m_pipeline.png">    </p:cNvPr>
          <p:cNvPicPr>
            <a:picLocks noChangeAspect="1"/>
          </p:cNvPicPr>
          <p:nvPr/>
        </p:nvPicPr>
        <p:blipFill>
          <a:blip r:embed="rId1"/>
          <a:stretch>
            <a:fillRect/>
          </a:stretch>
        </p:blipFill>
        <p:spPr>
          <a:xfrm>
            <a:off x="457200" y="1005840"/>
            <a:ext cx="8229600" cy="429768"/>
          </a:xfrm>
          <a:prstGeom prst="rect">
            <a:avLst/>
          </a:prstGeom>
        </p:spPr>
      </p:pic>
      <p:sp>
        <p:nvSpPr>
          <p:cNvPr id="5" name="Text 2"/>
          <p:cNvSpPr txBox="1"/>
          <p:nvPr/>
        </p:nvSpPr>
        <p:spPr>
          <a:xfrm>
            <a:off x="457200" y="1554480"/>
            <a:ext cx="8229600" cy="365760"/>
          </a:xfrm>
          <a:prstGeom prst="rect">
            <a:avLst/>
          </a:prstGeom>
          <a:noFill/>
          <a:ln/>
        </p:spPr>
        <p:txBody>
          <a:bodyPr wrap="square" lIns="0" tIns="0" rIns="0" bIns="0" rtlCol="0" anchor="t"/>
          <a:lstStyle/>
          <a:p>
            <a:pPr algn="l" indent="0" marL="0">
              <a:buNone/>
            </a:pPr>
            <a:r>
              <a:rPr lang="en-US" sz="1100" dirty="0">
                <a:solidFill>
                  <a:srgbClr val="5F6B7A"/>
                </a:solidFill>
                <a:latin typeface="Arial" pitchFamily="34" charset="0"/>
                <a:ea typeface="Arial" pitchFamily="34" charset="-122"/>
                <a:cs typeface="Arial" pitchFamily="34" charset="-120"/>
              </a:rPr>
              <a:t>The control loop of a frozen VLA policy (Fig. 2 of the paper). Green, orange, purple, and blue boxes mark where the five tricks enter; Redundancy Control is action repeat.</a:t>
            </a:r>
            <a:endParaRPr lang="en-US" sz="1100" dirty="0"/>
          </a:p>
        </p:txBody>
      </p:sp>
      <p:sp>
        <p:nvSpPr>
          <p:cNvPr id="6" name="Text 3"/>
          <p:cNvSpPr txBox="1"/>
          <p:nvPr/>
        </p:nvSpPr>
        <p:spPr>
          <a:xfrm>
            <a:off x="457200" y="2240280"/>
            <a:ext cx="8229600" cy="457200"/>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[1] </a:t>
            </a:r>
            <a:pPr indent="0" marL="0">
              <a:buNone/>
            </a:pPr>
            <a:r>
              <a:rPr lang="en-US" sz="1400" b="1" dirty="0">
                <a:solidFill>
                  <a:srgbClr val="C00000"/>
                </a:solidFill>
                <a:latin typeface="Arial" pitchFamily="34" charset="0"/>
                <a:ea typeface="Arial" pitchFamily="34" charset="-122"/>
                <a:cs typeface="Arial" pitchFamily="34" charset="-120"/>
              </a:rPr>
              <a:t>VLA inference is slow. </a:t>
            </a:r>
            <a:pPr indent="0" marL="0">
              <a:buNone/>
            </a:pPr>
            <a:r>
              <a:rPr lang="en-US" sz="1400" dirty="0">
                <a:solidFill>
                  <a:srgbClr val="1F2933"/>
                </a:solidFill>
                <a:latin typeface="Arial" pitchFamily="34" charset="0"/>
                <a:ea typeface="Arial" pitchFamily="34" charset="-122"/>
                <a:cs typeface="Arial" pitchFamily="34" charset="-120"/>
              </a:rPr>
              <a:t>Tens to hundreds of milliseconds per step (60 to 450 ms in our runs), which limits how often the policy can observe, decide, and correct.</a:t>
            </a:r>
            <a:endParaRPr lang="en-US" sz="1400" dirty="0"/>
          </a:p>
        </p:txBody>
      </p:sp>
      <p:sp>
        <p:nvSpPr>
          <p:cNvPr id="7" name="Text 4"/>
          <p:cNvSpPr txBox="1"/>
          <p:nvPr/>
        </p:nvSpPr>
        <p:spPr>
          <a:xfrm>
            <a:off x="457200" y="2834640"/>
            <a:ext cx="8229600" cy="548640"/>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[2] </a:t>
            </a:r>
            <a:pPr indent="0" marL="0">
              <a:buNone/>
            </a:pPr>
            <a:r>
              <a:rPr lang="en-US" sz="1400" b="1" dirty="0">
                <a:solidFill>
                  <a:srgbClr val="C00000"/>
                </a:solidFill>
                <a:latin typeface="Arial" pitchFamily="34" charset="0"/>
                <a:ea typeface="Arial" pitchFamily="34" charset="-122"/>
                <a:cs typeface="Arial" pitchFamily="34" charset="-120"/>
              </a:rPr>
              <a:t>Gains are reported in isolation. </a:t>
            </a:r>
            <a:pPr indent="0" marL="0">
              <a:buNone/>
            </a:pPr>
            <a:r>
              <a:rPr lang="en-US" sz="1400" dirty="0">
                <a:solidFill>
                  <a:srgbClr val="1F2933"/>
                </a:solidFill>
                <a:latin typeface="Arial" pitchFamily="34" charset="0"/>
                <a:ea typeface="Arial" pitchFamily="34" charset="-122"/>
                <a:cs typeface="Arial" pitchFamily="34" charset="-120"/>
              </a:rPr>
              <a:t>Training-free tricks are typically evaluated for a specific trick, backbone, benchmark, and implementation, so transfer across models is unknown.</a:t>
            </a:r>
            <a:endParaRPr lang="en-US" sz="1400" dirty="0"/>
          </a:p>
        </p:txBody>
      </p:sp>
      <p:sp>
        <p:nvSpPr>
          <p:cNvPr id="8" name="Shape 5"/>
          <p:cNvSpPr/>
          <p:nvPr/>
        </p:nvSpPr>
        <p:spPr>
          <a:xfrm>
            <a:off x="457200" y="3794760"/>
            <a:ext cx="8229600" cy="868680"/>
          </a:xfrm>
          <a:prstGeom prst="roundRect">
            <a:avLst>
              <a:gd name="adj" fmla="val 10526"/>
            </a:avLst>
          </a:prstGeom>
          <a:solidFill>
            <a:srgbClr val="FFF0F7"/>
          </a:solidFill>
          <a:ln w="19050">
            <a:solidFill>
              <a:srgbClr val="E0369A"/>
            </a:solidFill>
            <a:prstDash val="solid"/>
          </a:ln>
        </p:spPr>
      </p:sp>
      <p:sp>
        <p:nvSpPr>
          <p:cNvPr id="9" name="Text 6"/>
          <p:cNvSpPr txBox="1"/>
          <p:nvPr/>
        </p:nvSpPr>
        <p:spPr>
          <a:xfrm>
            <a:off x="640080" y="3794760"/>
            <a:ext cx="7863840" cy="868680"/>
          </a:xfrm>
          <a:prstGeom prst="rect">
            <a:avLst/>
          </a:prstGeom>
          <a:noFill/>
          <a:ln/>
        </p:spPr>
        <p:txBody>
          <a:bodyPr wrap="square" lIns="0" tIns="0" rIns="0" bIns="0" rtlCol="0" anchor="ctr"/>
          <a:lstStyle/>
          <a:p>
            <a:pPr algn="ctr" indent="0" marL="0">
              <a:buNone/>
            </a:pPr>
            <a:r>
              <a:rPr lang="en-US" sz="1600" dirty="0">
                <a:solidFill>
                  <a:srgbClr val="1F2933"/>
                </a:solidFill>
                <a:latin typeface="Arial" pitchFamily="34" charset="0"/>
                <a:ea typeface="Arial" pitchFamily="34" charset="-122"/>
                <a:cs typeface="Arial" pitchFamily="34" charset="-120"/>
              </a:rPr>
              <a:t>Do the gains transfer across VLA models and environments, </a:t>
            </a:r>
            <a:pPr algn="ctr" indent="0" marL="0">
              <a:buNone/>
            </a:pPr>
            <a:r>
              <a:rPr lang="en-US" sz="1600" b="1" dirty="0">
                <a:solidFill>
                  <a:srgbClr val="E0369A"/>
                </a:solidFill>
                <a:latin typeface="Arial" pitchFamily="34" charset="0"/>
                <a:ea typeface="Arial" pitchFamily="34" charset="-122"/>
                <a:cs typeface="Arial" pitchFamily="34" charset="-120"/>
              </a:rPr>
              <a:t>or are they configuration-dependent?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1  Visual foveation</a:t>
            </a:r>
            <a:endParaRPr lang="en-US" sz="2600" dirty="0"/>
          </a:p>
        </p:txBody>
      </p:sp>
      <p:sp>
        <p:nvSpPr>
          <p:cNvPr id="3" name="Shape 1"/>
          <p:cNvSpPr/>
          <p:nvPr/>
        </p:nvSpPr>
        <p:spPr>
          <a:xfrm>
            <a:off x="6309360" y="384048"/>
            <a:ext cx="2377440" cy="365760"/>
          </a:xfrm>
          <a:prstGeom prst="roundRect">
            <a:avLst>
              <a:gd name="adj" fmla="val 25000"/>
            </a:avLst>
          </a:prstGeom>
          <a:solidFill>
            <a:srgbClr val="E1EAF7"/>
          </a:solidFill>
          <a:ln w="12700">
            <a:solidFill>
              <a:srgbClr val="E1EAF7"/>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2F6DB5"/>
                </a:solidFill>
                <a:latin typeface="Arial" pitchFamily="34" charset="0"/>
                <a:ea typeface="Arial" pitchFamily="34" charset="-122"/>
                <a:cs typeface="Arial" pitchFamily="34" charset="-120"/>
              </a:rPr>
              <a:t>What to see</a:t>
            </a:r>
            <a:endParaRPr lang="en-US" sz="1200" dirty="0"/>
          </a:p>
        </p:txBody>
      </p:sp>
      <p:pic>
        <p:nvPicPr>
          <p:cNvPr id="5" name="Image 0" descr="/tmp/claude-0/-home-user-BiVLA/4327cefa-ba5d-5e2e-9d87-c73dd3a8ccbb/scratchpad/video_ppt/assets/m_fov.png">    </p:cNvPr>
          <p:cNvPicPr>
            <a:picLocks noChangeAspect="1"/>
          </p:cNvPicPr>
          <p:nvPr/>
        </p:nvPicPr>
        <p:blipFill>
          <a:blip r:embed="rId1"/>
          <a:stretch>
            <a:fillRect/>
          </a:stretch>
        </p:blipFill>
        <p:spPr>
          <a:xfrm>
            <a:off x="457200" y="960120"/>
            <a:ext cx="3931920" cy="2487168"/>
          </a:xfrm>
          <a:prstGeom prst="rect">
            <a:avLst/>
          </a:prstGeom>
        </p:spPr>
      </p:pic>
      <p:sp>
        <p:nvSpPr>
          <p:cNvPr id="6" name="Text 3"/>
          <p:cNvSpPr txBox="1"/>
          <p:nvPr/>
        </p:nvSpPr>
        <p:spPr>
          <a:xfrm>
            <a:off x="457200" y="3611880"/>
            <a:ext cx="4023360"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Sharp central disc, progressively blurred periphery</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Keep ratio 20% or 50%; token count unchanged</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Tests whether high-frequency detail is needed only near the objects and the gripper</a:t>
            </a:r>
            <a:endParaRPr lang="en-US" sz="115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foveation</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original (left) and foveated observation (right), success or failure badge at the end.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2  Action repeat</a:t>
            </a:r>
            <a:endParaRPr lang="en-US" sz="2600" dirty="0"/>
          </a:p>
        </p:txBody>
      </p:sp>
      <p:sp>
        <p:nvSpPr>
          <p:cNvPr id="3" name="Shape 1"/>
          <p:cNvSpPr/>
          <p:nvPr/>
        </p:nvSpPr>
        <p:spPr>
          <a:xfrm>
            <a:off x="6309360" y="384048"/>
            <a:ext cx="2377440" cy="365760"/>
          </a:xfrm>
          <a:prstGeom prst="roundRect">
            <a:avLst>
              <a:gd name="adj" fmla="val 25000"/>
            </a:avLst>
          </a:prstGeom>
          <a:solidFill>
            <a:srgbClr val="F9E6D8"/>
          </a:solidFill>
          <a:ln w="12700">
            <a:solidFill>
              <a:srgbClr val="F9E6D8"/>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C8641E"/>
                </a:solidFill>
                <a:latin typeface="Arial" pitchFamily="34" charset="0"/>
                <a:ea typeface="Arial" pitchFamily="34" charset="-122"/>
                <a:cs typeface="Arial" pitchFamily="34" charset="-120"/>
              </a:rPr>
              <a:t>When to act</a:t>
            </a:r>
            <a:endParaRPr lang="en-US" sz="1200" dirty="0"/>
          </a:p>
        </p:txBody>
      </p:sp>
      <p:pic>
        <p:nvPicPr>
          <p:cNvPr id="5" name="Image 0" descr="/tmp/claude-0/-home-user-BiVLA/4327cefa-ba5d-5e2e-9d87-c73dd3a8ccbb/scratchpad/video_ppt/assets/m_repeat.png">    </p:cNvPr>
          <p:cNvPicPr>
            <a:picLocks noChangeAspect="1"/>
          </p:cNvPicPr>
          <p:nvPr/>
        </p:nvPicPr>
        <p:blipFill>
          <a:blip r:embed="rId1"/>
          <a:stretch>
            <a:fillRect/>
          </a:stretch>
        </p:blipFill>
        <p:spPr>
          <a:xfrm>
            <a:off x="457200" y="960120"/>
            <a:ext cx="3931920" cy="2724912"/>
          </a:xfrm>
          <a:prstGeom prst="rect">
            <a:avLst/>
          </a:prstGeom>
        </p:spPr>
      </p:pic>
      <p:sp>
        <p:nvSpPr>
          <p:cNvPr id="6" name="Text 3"/>
          <p:cNvSpPr txBox="1"/>
          <p:nvPr/>
        </p:nvSpPr>
        <p:spPr>
          <a:xfrm>
            <a:off x="457200" y="3794760"/>
            <a:ext cx="402336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Hold each predicted action for k = 2 or 4 steps, about one call per k steps</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Cuts policy calls by about k, but lengthens the open-loop interval</a:t>
            </a:r>
            <a:endParaRPr lang="en-US" sz="1150" dirty="0"/>
          </a:p>
          <a:p>
            <a:pPr marL="177800" indent="-177800">
              <a:spcAft>
                <a:spcPts val="300"/>
              </a:spcAft>
              <a:buSzPct val="100000"/>
              <a:buChar char="•"/>
            </a:pPr>
            <a:r>
              <a:rPr lang="en-US" sz="1150" dirty="0">
                <a:solidFill>
                  <a:srgbClr val="1F2933"/>
                </a:solidFill>
                <a:latin typeface="Arial" pitchFamily="34" charset="0"/>
                <a:ea typeface="Arial" pitchFamily="34" charset="-122"/>
                <a:cs typeface="Arial" pitchFamily="34" charset="-120"/>
              </a:rPr>
              <a:t>Fixed reduction, no state check: a speed-oriented baseline</a:t>
            </a:r>
            <a:endParaRPr lang="en-US" sz="115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action repeat</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watch contact and placement, where a held action can miss a needed correction.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3  Depth pruning</a:t>
            </a:r>
            <a:endParaRPr lang="en-US" sz="2600" dirty="0"/>
          </a:p>
        </p:txBody>
      </p:sp>
      <p:sp>
        <p:nvSpPr>
          <p:cNvPr id="3" name="Shape 1"/>
          <p:cNvSpPr/>
          <p:nvPr/>
        </p:nvSpPr>
        <p:spPr>
          <a:xfrm>
            <a:off x="6309360" y="384048"/>
            <a:ext cx="2377440" cy="365760"/>
          </a:xfrm>
          <a:prstGeom prst="roundRect">
            <a:avLst>
              <a:gd name="adj" fmla="val 25000"/>
            </a:avLst>
          </a:prstGeom>
          <a:solidFill>
            <a:srgbClr val="DDEFEC"/>
          </a:solidFill>
          <a:ln w="12700">
            <a:solidFill>
              <a:srgbClr val="DDEFEC"/>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1B7F79"/>
                </a:solidFill>
                <a:latin typeface="Arial" pitchFamily="34" charset="0"/>
                <a:ea typeface="Arial" pitchFamily="34" charset="-122"/>
                <a:cs typeface="Arial" pitchFamily="34" charset="-120"/>
              </a:rPr>
              <a:t>How much to compute</a:t>
            </a:r>
            <a:endParaRPr lang="en-US" sz="1200" dirty="0"/>
          </a:p>
        </p:txBody>
      </p:sp>
      <p:pic>
        <p:nvPicPr>
          <p:cNvPr id="5" name="Image 0" descr="/tmp/claude-0/-home-user-BiVLA/4327cefa-ba5d-5e2e-9d87-c73dd3a8ccbb/scratchpad/video_ppt/assets/m_prune.png">    </p:cNvPr>
          <p:cNvPicPr>
            <a:picLocks noChangeAspect="1"/>
          </p:cNvPicPr>
          <p:nvPr/>
        </p:nvPicPr>
        <p:blipFill>
          <a:blip r:embed="rId1"/>
          <a:stretch>
            <a:fillRect/>
          </a:stretch>
        </p:blipFill>
        <p:spPr>
          <a:xfrm>
            <a:off x="457200" y="960120"/>
            <a:ext cx="2514600" cy="2587752"/>
          </a:xfrm>
          <a:prstGeom prst="rect">
            <a:avLst/>
          </a:prstGeom>
        </p:spPr>
      </p:pic>
      <p:sp>
        <p:nvSpPr>
          <p:cNvPr id="6" name="Text 3"/>
          <p:cNvSpPr txBox="1"/>
          <p:nvPr/>
        </p:nvSpPr>
        <p:spPr>
          <a:xfrm>
            <a:off x="3108960" y="1005840"/>
            <a:ext cx="1371600" cy="35661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Score each decoder block by Block Influence</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Remove 1, 2, or 4 low-influence blocks; none adjacent, early blocks and the final block kept</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Fixed once from calibration data, not adapted at test time</a:t>
            </a:r>
            <a:endParaRPr lang="en-US" sz="110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depth pruning</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CogACT on WidowX, where pruning removes decoder layers without breaking the closed loop.</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4  Guarded action reuse</a:t>
            </a:r>
            <a:endParaRPr lang="en-US" sz="2600" dirty="0"/>
          </a:p>
        </p:txBody>
      </p:sp>
      <p:sp>
        <p:nvSpPr>
          <p:cNvPr id="3" name="Shape 1"/>
          <p:cNvSpPr/>
          <p:nvPr/>
        </p:nvSpPr>
        <p:spPr>
          <a:xfrm>
            <a:off x="6309360" y="384048"/>
            <a:ext cx="2377440" cy="365760"/>
          </a:xfrm>
          <a:prstGeom prst="roundRect">
            <a:avLst>
              <a:gd name="adj" fmla="val 25000"/>
            </a:avLst>
          </a:prstGeom>
          <a:solidFill>
            <a:srgbClr val="F9E6D8"/>
          </a:solidFill>
          <a:ln w="12700">
            <a:solidFill>
              <a:srgbClr val="F9E6D8"/>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C8641E"/>
                </a:solidFill>
                <a:latin typeface="Arial" pitchFamily="34" charset="0"/>
                <a:ea typeface="Arial" pitchFamily="34" charset="-122"/>
                <a:cs typeface="Arial" pitchFamily="34" charset="-120"/>
              </a:rPr>
              <a:t>When to act</a:t>
            </a:r>
            <a:endParaRPr lang="en-US" sz="1200" dirty="0"/>
          </a:p>
        </p:txBody>
      </p:sp>
      <p:pic>
        <p:nvPicPr>
          <p:cNvPr id="5" name="Image 0" descr="/tmp/claude-0/-home-user-BiVLA/4327cefa-ba5d-5e2e-9d87-c73dd3a8ccbb/scratchpad/video_ppt/assets/m_guarded.png">    </p:cNvPr>
          <p:cNvPicPr>
            <a:picLocks noChangeAspect="1"/>
          </p:cNvPicPr>
          <p:nvPr/>
        </p:nvPicPr>
        <p:blipFill>
          <a:blip r:embed="rId1"/>
          <a:stretch>
            <a:fillRect/>
          </a:stretch>
        </p:blipFill>
        <p:spPr>
          <a:xfrm>
            <a:off x="457200" y="960120"/>
            <a:ext cx="3931920" cy="2532888"/>
          </a:xfrm>
          <a:prstGeom prst="rect">
            <a:avLst/>
          </a:prstGeom>
        </p:spPr>
      </p:pic>
      <p:sp>
        <p:nvSpPr>
          <p:cNvPr id="6" name="Text 3"/>
          <p:cNvSpPr txBox="1"/>
          <p:nvPr/>
        </p:nvSpPr>
        <p:spPr>
          <a:xfrm>
            <a:off x="457200" y="3611880"/>
            <a:ext cx="4023360" cy="11887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1F2933"/>
                </a:solidFill>
                <a:latin typeface="Arial" pitchFamily="34" charset="0"/>
                <a:ea typeface="Arial" pitchFamily="34" charset="-122"/>
                <a:cs typeface="Arial" pitchFamily="34" charset="-120"/>
              </a:rPr>
              <a:t>Reuse the previous action only when all gates pass: small global and local image change, recent actions agree, translation not near zero, gripper unchanged, reuse count below a cap</a:t>
            </a:r>
            <a:endParaRPr lang="en-US" sz="1100" dirty="0"/>
          </a:p>
          <a:p>
            <a:pPr marL="177800" indent="-177800">
              <a:spcAft>
                <a:spcPts val="300"/>
              </a:spcAft>
              <a:buSzPct val="100000"/>
              <a:buChar char="•"/>
            </a:pPr>
            <a:r>
              <a:rPr lang="en-US" sz="1100" dirty="0">
                <a:solidFill>
                  <a:srgbClr val="1F2933"/>
                </a:solidFill>
                <a:latin typeface="Arial" pitchFamily="34" charset="0"/>
                <a:ea typeface="Arial" pitchFamily="34" charset="-122"/>
                <a:cs typeface="Arial" pitchFamily="34" charset="-120"/>
              </a:rPr>
              <a:t>Presets: strict, moderate, aggressive</a:t>
            </a:r>
            <a:endParaRPr lang="en-US" sz="1100" dirty="0"/>
          </a:p>
        </p:txBody>
      </p:sp>
      <p:sp>
        <p:nvSpPr>
          <p:cNvPr id="7" name="Shape 4"/>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8" name="Shape 5"/>
          <p:cNvSpPr/>
          <p:nvPr/>
        </p:nvSpPr>
        <p:spPr>
          <a:xfrm>
            <a:off x="6446520" y="1970532"/>
            <a:ext cx="548640" cy="548640"/>
          </a:xfrm>
          <a:prstGeom prst="ellipse">
            <a:avLst/>
          </a:prstGeom>
          <a:solidFill>
            <a:srgbClr val="FFFFFF"/>
          </a:solidFill>
          <a:ln w="12700">
            <a:solidFill>
              <a:srgbClr val="FFFFFF"/>
            </a:solidFill>
            <a:prstDash val="solid"/>
          </a:ln>
        </p:spPr>
      </p:sp>
      <p:sp>
        <p:nvSpPr>
          <p:cNvPr id="9" name="Shape 6"/>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0" name="Text 7"/>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guarded reuse</a:t>
            </a:r>
            <a:endParaRPr lang="en-US" sz="1200" dirty="0"/>
          </a:p>
        </p:txBody>
      </p:sp>
      <p:sp>
        <p:nvSpPr>
          <p:cNvPr id="11" name="Text 8"/>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2" name="Text 9"/>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overlay the gate indicators and a "calls skipped" counter on the right pane.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Trick 5  Temporal fusion</a:t>
            </a:r>
            <a:endParaRPr lang="en-US" sz="2600" dirty="0"/>
          </a:p>
        </p:txBody>
      </p:sp>
      <p:sp>
        <p:nvSpPr>
          <p:cNvPr id="3" name="Shape 1"/>
          <p:cNvSpPr/>
          <p:nvPr/>
        </p:nvSpPr>
        <p:spPr>
          <a:xfrm>
            <a:off x="6309360" y="384048"/>
            <a:ext cx="2377440" cy="365760"/>
          </a:xfrm>
          <a:prstGeom prst="roundRect">
            <a:avLst>
              <a:gd name="adj" fmla="val 25000"/>
            </a:avLst>
          </a:prstGeom>
          <a:solidFill>
            <a:srgbClr val="DDEFEC"/>
          </a:solidFill>
          <a:ln w="12700">
            <a:solidFill>
              <a:srgbClr val="DDEFEC"/>
            </a:solidFill>
            <a:prstDash val="solid"/>
          </a:ln>
        </p:spPr>
      </p:sp>
      <p:sp>
        <p:nvSpPr>
          <p:cNvPr id="4" name="Text 2"/>
          <p:cNvSpPr txBox="1"/>
          <p:nvPr/>
        </p:nvSpPr>
        <p:spPr>
          <a:xfrm>
            <a:off x="6309360" y="384048"/>
            <a:ext cx="2377440" cy="365760"/>
          </a:xfrm>
          <a:prstGeom prst="rect">
            <a:avLst/>
          </a:prstGeom>
          <a:noFill/>
          <a:ln/>
        </p:spPr>
        <p:txBody>
          <a:bodyPr wrap="square" lIns="0" tIns="0" rIns="0" bIns="0" rtlCol="0" anchor="ctr"/>
          <a:lstStyle/>
          <a:p>
            <a:pPr algn="ctr" indent="0" marL="0">
              <a:buNone/>
            </a:pPr>
            <a:r>
              <a:rPr lang="en-US" sz="1200" b="1" dirty="0">
                <a:solidFill>
                  <a:srgbClr val="1B7F79"/>
                </a:solidFill>
                <a:latin typeface="Arial" pitchFamily="34" charset="0"/>
                <a:ea typeface="Arial" pitchFamily="34" charset="-122"/>
                <a:cs typeface="Arial" pitchFamily="34" charset="-120"/>
              </a:rPr>
              <a:t>How much to compute</a:t>
            </a:r>
            <a:endParaRPr lang="en-US" sz="1200" dirty="0"/>
          </a:p>
        </p:txBody>
      </p:sp>
      <p:pic>
        <p:nvPicPr>
          <p:cNvPr id="5" name="Image 0" descr="/tmp/claude-0/-home-user-BiVLA/4327cefa-ba5d-5e2e-9d87-c73dd3a8ccbb/scratchpad/video_ppt/assets/m_fusion.png">    </p:cNvPr>
          <p:cNvPicPr>
            <a:picLocks noChangeAspect="1"/>
          </p:cNvPicPr>
          <p:nvPr/>
        </p:nvPicPr>
        <p:blipFill>
          <a:blip r:embed="rId1"/>
          <a:stretch>
            <a:fillRect/>
          </a:stretch>
        </p:blipFill>
        <p:spPr>
          <a:xfrm>
            <a:off x="457200" y="960120"/>
            <a:ext cx="2331720" cy="1901952"/>
          </a:xfrm>
          <a:prstGeom prst="rect">
            <a:avLst/>
          </a:prstGeom>
        </p:spPr>
      </p:pic>
      <p:sp>
        <p:nvSpPr>
          <p:cNvPr id="6" name="Text 3"/>
          <p:cNvSpPr txBox="1"/>
          <p:nvPr/>
        </p:nvSpPr>
        <p:spPr>
          <a:xfrm>
            <a:off x="2926080" y="960120"/>
            <a:ext cx="1554480" cy="32918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Reuse visual tokens of stable patches from the previous call</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Recompute patches with motion, local structure, language attention, or in the interaction region</a:t>
            </a:r>
            <a:endParaRPr lang="en-US" sz="1100" dirty="0"/>
          </a:p>
          <a:p>
            <a:pPr marL="177800" indent="-177800">
              <a:spcAft>
                <a:spcPts val="600"/>
              </a:spcAft>
              <a:buSzPct val="100000"/>
              <a:buChar char="•"/>
            </a:pPr>
            <a:r>
              <a:rPr lang="en-US" sz="1100" dirty="0">
                <a:solidFill>
                  <a:srgbClr val="1F2933"/>
                </a:solidFill>
                <a:latin typeface="Arial" pitchFamily="34" charset="0"/>
                <a:ea typeface="Arial" pitchFamily="34" charset="-122"/>
                <a:cs typeface="Arial" pitchFamily="34" charset="-120"/>
              </a:rPr>
              <a:t>Presets: motion-entropy, task-aware, conservative-adaptive</a:t>
            </a:r>
            <a:endParaRPr lang="en-US" sz="1100" dirty="0"/>
          </a:p>
        </p:txBody>
      </p:sp>
      <p:pic>
        <p:nvPicPr>
          <p:cNvPr id="7" name="Image 1" descr="/tmp/claude-0/-home-user-BiVLA/4327cefa-ba5d-5e2e-9d87-c73dd3a8ccbb/scratchpad/video_ppt/assets/m_cache.png">    </p:cNvPr>
          <p:cNvPicPr>
            <a:picLocks noChangeAspect="1"/>
          </p:cNvPicPr>
          <p:nvPr/>
        </p:nvPicPr>
        <p:blipFill>
          <a:blip r:embed="rId2"/>
          <a:stretch>
            <a:fillRect/>
          </a:stretch>
        </p:blipFill>
        <p:spPr>
          <a:xfrm>
            <a:off x="457200" y="2971800"/>
            <a:ext cx="2331720" cy="1426464"/>
          </a:xfrm>
          <a:prstGeom prst="rect">
            <a:avLst/>
          </a:prstGeom>
        </p:spPr>
      </p:pic>
      <p:sp>
        <p:nvSpPr>
          <p:cNvPr id="8" name="Text 4"/>
          <p:cNvSpPr txBox="1"/>
          <p:nvPr/>
        </p:nvSpPr>
        <p:spPr>
          <a:xfrm>
            <a:off x="457200" y="4480560"/>
            <a:ext cx="2377440" cy="27432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Top: fusion mask. Bottom: VLA-Cache criterion.</a:t>
            </a:r>
            <a:endParaRPr lang="en-US" sz="950" dirty="0"/>
          </a:p>
        </p:txBody>
      </p:sp>
      <p:sp>
        <p:nvSpPr>
          <p:cNvPr id="9" name="Shape 5"/>
          <p:cNvSpPr/>
          <p:nvPr/>
        </p:nvSpPr>
        <p:spPr>
          <a:xfrm>
            <a:off x="4754880" y="960120"/>
            <a:ext cx="3931920" cy="2788920"/>
          </a:xfrm>
          <a:prstGeom prst="roundRect">
            <a:avLst>
              <a:gd name="adj" fmla="val 2623"/>
            </a:avLst>
          </a:prstGeom>
          <a:solidFill>
            <a:srgbClr val="2A2F3A"/>
          </a:solidFill>
          <a:ln w="12700">
            <a:solidFill>
              <a:srgbClr val="8A94A6"/>
            </a:solidFill>
            <a:prstDash val="dash"/>
          </a:ln>
        </p:spPr>
      </p:sp>
      <p:sp>
        <p:nvSpPr>
          <p:cNvPr id="10" name="Shape 6"/>
          <p:cNvSpPr/>
          <p:nvPr/>
        </p:nvSpPr>
        <p:spPr>
          <a:xfrm>
            <a:off x="6446520" y="1970532"/>
            <a:ext cx="548640" cy="548640"/>
          </a:xfrm>
          <a:prstGeom prst="ellipse">
            <a:avLst/>
          </a:prstGeom>
          <a:solidFill>
            <a:srgbClr val="FFFFFF"/>
          </a:solidFill>
          <a:ln w="12700">
            <a:solidFill>
              <a:srgbClr val="FFFFFF"/>
            </a:solidFill>
            <a:prstDash val="solid"/>
          </a:ln>
        </p:spPr>
      </p:sp>
      <p:sp>
        <p:nvSpPr>
          <p:cNvPr id="11" name="Shape 7"/>
          <p:cNvSpPr/>
          <p:nvPr/>
        </p:nvSpPr>
        <p:spPr>
          <a:xfrm rot="5400000">
            <a:off x="6638544" y="2089404"/>
            <a:ext cx="219456" cy="310896"/>
          </a:xfrm>
          <a:prstGeom prst="triangle">
            <a:avLst/>
          </a:prstGeom>
          <a:solidFill>
            <a:srgbClr val="2A2F3A"/>
          </a:solidFill>
          <a:ln w="12700">
            <a:solidFill>
              <a:srgbClr val="2A2F3A"/>
            </a:solidFill>
            <a:prstDash val="solid"/>
          </a:ln>
        </p:spPr>
      </p:sp>
      <p:sp>
        <p:nvSpPr>
          <p:cNvPr id="12" name="Text 8"/>
          <p:cNvSpPr txBox="1"/>
          <p:nvPr/>
        </p:nvSpPr>
        <p:spPr>
          <a:xfrm>
            <a:off x="4846320" y="2583180"/>
            <a:ext cx="3749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 vs temporal fusion</a:t>
            </a:r>
            <a:endParaRPr lang="en-US" sz="1200" dirty="0"/>
          </a:p>
        </p:txBody>
      </p:sp>
      <p:sp>
        <p:nvSpPr>
          <p:cNvPr id="13" name="Text 9"/>
          <p:cNvSpPr txBox="1"/>
          <p:nvPr/>
        </p:nvSpPr>
        <p:spPr>
          <a:xfrm>
            <a:off x="4846320" y="2830068"/>
            <a:ext cx="374904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same episode, same initial state</a:t>
            </a:r>
            <a:endParaRPr lang="en-US" sz="950" dirty="0"/>
          </a:p>
        </p:txBody>
      </p:sp>
      <p:sp>
        <p:nvSpPr>
          <p:cNvPr id="14" name="Text 10"/>
          <p:cNvSpPr txBox="1"/>
          <p:nvPr/>
        </p:nvSpPr>
        <p:spPr>
          <a:xfrm>
            <a:off x="4754880" y="3840480"/>
            <a:ext cx="3931920" cy="45720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Rollout: optionally tint reused patches on the right pane to show what is carried over between frames.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Results: matched evaluation protocol</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572000" cy="914400"/>
        </p:xfrm>
        <a:graphic>
          <a:graphicData uri="http://schemas.openxmlformats.org/drawingml/2006/table">
            <a:tbl>
              <a:tblPr/>
              <a:tblGrid>
                <a:gridCol w="1828800"/>
                <a:gridCol w="914400"/>
                <a:gridCol w="914400"/>
                <a:gridCol w="91440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Backbone</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WidowX</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Fractal</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LIBERO</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CogACT (7.6B)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OpenVLA (7B)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SpatialVLA (4B)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CronusVLA (0.5B)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UniVLA (8.5B)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MiniVLA (1B)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933"/>
                          </a:solidFill>
                          <a:latin typeface="Arial" pitchFamily="34" charset="0"/>
                          <a:ea typeface="Arial" pitchFamily="34" charset="-122"/>
                          <a:cs typeface="Arial" pitchFamily="34" charset="-120"/>
                        </a:rPr>
                        <a:t>SmolVLA (0.45B)</a:t>
                      </a:r>
                      <a:endParaRPr lang="en-US" sz="12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7F7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794760"/>
            <a:ext cx="4572000" cy="59436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SimplerEnv WidowX: 4 tasks × 50 episodes.  Google Robot/Fractal: 5 tasks × 50.  LIBERO: Long, Goal, Object, Spatial, each suite a separate pair (3 × 4 = 12), giving 22 pairs in total.</a:t>
            </a:r>
            <a:endParaRPr lang="en-US" sz="1050" dirty="0"/>
          </a:p>
        </p:txBody>
      </p:sp>
      <p:sp>
        <p:nvSpPr>
          <p:cNvPr id="5" name="Text 2"/>
          <p:cNvSpPr txBox="1"/>
          <p:nvPr/>
        </p:nvSpPr>
        <p:spPr>
          <a:xfrm>
            <a:off x="521208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22</a:t>
            </a:r>
            <a:endParaRPr lang="en-US" sz="3000" dirty="0"/>
          </a:p>
        </p:txBody>
      </p:sp>
      <p:sp>
        <p:nvSpPr>
          <p:cNvPr id="6" name="Text 3"/>
          <p:cNvSpPr txBox="1"/>
          <p:nvPr/>
        </p:nvSpPr>
        <p:spPr>
          <a:xfrm>
            <a:off x="521208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backbone × environment pairs</a:t>
            </a:r>
            <a:endParaRPr lang="en-US" sz="1050" dirty="0"/>
          </a:p>
        </p:txBody>
      </p:sp>
      <p:sp>
        <p:nvSpPr>
          <p:cNvPr id="7" name="Text 4"/>
          <p:cNvSpPr txBox="1"/>
          <p:nvPr/>
        </p:nvSpPr>
        <p:spPr>
          <a:xfrm>
            <a:off x="640080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13 + 1</a:t>
            </a:r>
            <a:endParaRPr lang="en-US" sz="3000" dirty="0"/>
          </a:p>
        </p:txBody>
      </p:sp>
      <p:sp>
        <p:nvSpPr>
          <p:cNvPr id="8" name="Text 5"/>
          <p:cNvSpPr txBox="1"/>
          <p:nvPr/>
        </p:nvSpPr>
        <p:spPr>
          <a:xfrm>
            <a:off x="640080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 original, per pair</a:t>
            </a:r>
            <a:endParaRPr lang="en-US" sz="1050" dirty="0"/>
          </a:p>
        </p:txBody>
      </p:sp>
      <p:sp>
        <p:nvSpPr>
          <p:cNvPr id="9" name="Text 6"/>
          <p:cNvSpPr txBox="1"/>
          <p:nvPr/>
        </p:nvSpPr>
        <p:spPr>
          <a:xfrm>
            <a:off x="7589520" y="1005840"/>
            <a:ext cx="1143000" cy="685800"/>
          </a:xfrm>
          <a:prstGeom prst="rect">
            <a:avLst/>
          </a:prstGeom>
          <a:noFill/>
          <a:ln/>
        </p:spPr>
        <p:txBody>
          <a:bodyPr wrap="square" lIns="0" tIns="0" rIns="0" bIns="0" rtlCol="0" anchor="ctr"/>
          <a:lstStyle/>
          <a:p>
            <a:pPr algn="ctr" indent="0" marL="0">
              <a:buNone/>
            </a:pPr>
            <a:r>
              <a:rPr lang="en-US" sz="3000" b="1" dirty="0">
                <a:solidFill>
                  <a:srgbClr val="1B7F79"/>
                </a:solidFill>
                <a:latin typeface="Arial" pitchFamily="34" charset="0"/>
                <a:ea typeface="Arial" pitchFamily="34" charset="-122"/>
                <a:cs typeface="Arial" pitchFamily="34" charset="-120"/>
              </a:rPr>
              <a:t>286</a:t>
            </a:r>
            <a:endParaRPr lang="en-US" sz="3000" dirty="0"/>
          </a:p>
        </p:txBody>
      </p:sp>
      <p:sp>
        <p:nvSpPr>
          <p:cNvPr id="10" name="Text 7"/>
          <p:cNvSpPr txBox="1"/>
          <p:nvPr/>
        </p:nvSpPr>
        <p:spPr>
          <a:xfrm>
            <a:off x="7589520" y="1691640"/>
            <a:ext cx="1143000" cy="457200"/>
          </a:xfrm>
          <a:prstGeom prst="rect">
            <a:avLst/>
          </a:prstGeom>
          <a:noFill/>
          <a:ln/>
        </p:spPr>
        <p:txBody>
          <a:bodyPr wrap="square" lIns="0" tIns="0" rIns="0" bIns="0" rtlCol="0" anchor="t"/>
          <a:lstStyle/>
          <a:p>
            <a:pPr algn="ctr" indent="0" marL="0">
              <a:buNone/>
            </a:pPr>
            <a:r>
              <a:rPr lang="en-US" sz="1050" dirty="0">
                <a:solidFill>
                  <a:srgbClr val="5F6B7A"/>
                </a:solidFill>
                <a:latin typeface="Arial" pitchFamily="34" charset="0"/>
                <a:ea typeface="Arial" pitchFamily="34" charset="-122"/>
                <a:cs typeface="Arial" pitchFamily="34" charset="-120"/>
              </a:rPr>
              <a:t>trick settings (13 × 22), all paired with the original</a:t>
            </a:r>
            <a:endParaRPr lang="en-US" sz="1050" dirty="0"/>
          </a:p>
        </p:txBody>
      </p:sp>
      <p:sp>
        <p:nvSpPr>
          <p:cNvPr id="11" name="Text 8"/>
          <p:cNvSpPr txBox="1"/>
          <p:nvPr/>
        </p:nvSpPr>
        <p:spPr>
          <a:xfrm>
            <a:off x="5212080" y="2651760"/>
            <a:ext cx="3474720" cy="201168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Official checkpoints, no retraining</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Same task instances and initial states as the original</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Latency = wall-clock per environment step</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Exact two-sided McNemar test on paired episodes</a:t>
            </a:r>
            <a:endParaRPr lang="en-US" sz="1200" dirty="0"/>
          </a:p>
          <a:p>
            <a:pPr marL="177800" indent="-177800">
              <a:spcAft>
                <a:spcPts val="400"/>
              </a:spcAft>
              <a:buSzPct val="100000"/>
              <a:buChar char="•"/>
            </a:pPr>
            <a:r>
              <a:rPr lang="en-US" sz="1200" dirty="0">
                <a:solidFill>
                  <a:srgbClr val="1F2933"/>
                </a:solidFill>
                <a:latin typeface="Arial" pitchFamily="34" charset="0"/>
                <a:ea typeface="Arial" pitchFamily="34" charset="-122"/>
                <a:cs typeface="Arial" pitchFamily="34" charset="-120"/>
              </a:rPr>
              <a:t>4 × RTX 5090; tables report the best setting per trick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Which tricks preserve success?</a:t>
            </a:r>
            <a:endParaRPr lang="en-US" sz="2600" dirty="0"/>
          </a:p>
        </p:txBody>
      </p:sp>
      <p:pic>
        <p:nvPicPr>
          <p:cNvPr id="3" name="Image 0" descr="/tmp/claude-0/-home-user-BiVLA/4327cefa-ba5d-5e2e-9d87-c73dd3a8ccbb/scratchpad/video_ppt/assets/fig1_teaser_nolegend.png">    </p:cNvPr>
          <p:cNvPicPr>
            <a:picLocks noChangeAspect="1"/>
          </p:cNvPicPr>
          <p:nvPr/>
        </p:nvPicPr>
        <p:blipFill>
          <a:blip r:embed="rId1"/>
          <a:stretch>
            <a:fillRect/>
          </a:stretch>
        </p:blipFill>
        <p:spPr>
          <a:xfrm>
            <a:off x="457200" y="914400"/>
            <a:ext cx="3657600" cy="3630168"/>
          </a:xfrm>
          <a:prstGeom prst="rect">
            <a:avLst/>
          </a:prstGeom>
        </p:spPr>
      </p:pic>
      <p:sp>
        <p:nvSpPr>
          <p:cNvPr id="4" name="Shape 1"/>
          <p:cNvSpPr/>
          <p:nvPr/>
        </p:nvSpPr>
        <p:spPr>
          <a:xfrm>
            <a:off x="457200" y="4636008"/>
            <a:ext cx="146304" cy="146304"/>
          </a:xfrm>
          <a:prstGeom prst="rect">
            <a:avLst/>
          </a:prstGeom>
          <a:solidFill>
            <a:srgbClr val="222222"/>
          </a:solidFill>
          <a:ln w="12700">
            <a:solidFill>
              <a:srgbClr val="222222"/>
            </a:solidFill>
            <a:prstDash val="solid"/>
          </a:ln>
        </p:spPr>
      </p:sp>
      <p:sp>
        <p:nvSpPr>
          <p:cNvPr id="5" name="Text 2"/>
          <p:cNvSpPr txBox="1"/>
          <p:nvPr/>
        </p:nvSpPr>
        <p:spPr>
          <a:xfrm>
            <a:off x="658368" y="45902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Original</a:t>
            </a:r>
            <a:endParaRPr lang="en-US" sz="950" dirty="0"/>
          </a:p>
        </p:txBody>
      </p:sp>
      <p:sp>
        <p:nvSpPr>
          <p:cNvPr id="6" name="Shape 3"/>
          <p:cNvSpPr/>
          <p:nvPr/>
        </p:nvSpPr>
        <p:spPr>
          <a:xfrm>
            <a:off x="1737360" y="4636008"/>
            <a:ext cx="146304" cy="146304"/>
          </a:xfrm>
          <a:prstGeom prst="rect">
            <a:avLst/>
          </a:prstGeom>
          <a:solidFill>
            <a:srgbClr val="0072B2"/>
          </a:solidFill>
          <a:ln w="12700">
            <a:solidFill>
              <a:srgbClr val="0072B2"/>
            </a:solidFill>
            <a:prstDash val="solid"/>
          </a:ln>
        </p:spPr>
      </p:sp>
      <p:sp>
        <p:nvSpPr>
          <p:cNvPr id="7" name="Text 4"/>
          <p:cNvSpPr txBox="1"/>
          <p:nvPr/>
        </p:nvSpPr>
        <p:spPr>
          <a:xfrm>
            <a:off x="1938528" y="45902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Foveation</a:t>
            </a:r>
            <a:endParaRPr lang="en-US" sz="950" dirty="0"/>
          </a:p>
        </p:txBody>
      </p:sp>
      <p:sp>
        <p:nvSpPr>
          <p:cNvPr id="8" name="Shape 5"/>
          <p:cNvSpPr/>
          <p:nvPr/>
        </p:nvSpPr>
        <p:spPr>
          <a:xfrm>
            <a:off x="3017520" y="4636008"/>
            <a:ext cx="146304" cy="146304"/>
          </a:xfrm>
          <a:prstGeom prst="rect">
            <a:avLst/>
          </a:prstGeom>
          <a:solidFill>
            <a:srgbClr val="D55E00"/>
          </a:solidFill>
          <a:ln w="12700">
            <a:solidFill>
              <a:srgbClr val="D55E00"/>
            </a:solidFill>
            <a:prstDash val="solid"/>
          </a:ln>
        </p:spPr>
      </p:sp>
      <p:sp>
        <p:nvSpPr>
          <p:cNvPr id="9" name="Text 6"/>
          <p:cNvSpPr txBox="1"/>
          <p:nvPr/>
        </p:nvSpPr>
        <p:spPr>
          <a:xfrm>
            <a:off x="3218688" y="45902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Action repeat</a:t>
            </a:r>
            <a:endParaRPr lang="en-US" sz="950" dirty="0"/>
          </a:p>
        </p:txBody>
      </p:sp>
      <p:sp>
        <p:nvSpPr>
          <p:cNvPr id="10" name="Shape 7"/>
          <p:cNvSpPr/>
          <p:nvPr/>
        </p:nvSpPr>
        <p:spPr>
          <a:xfrm>
            <a:off x="457200" y="4864608"/>
            <a:ext cx="146304" cy="146304"/>
          </a:xfrm>
          <a:prstGeom prst="rect">
            <a:avLst/>
          </a:prstGeom>
          <a:solidFill>
            <a:srgbClr val="009E73"/>
          </a:solidFill>
          <a:ln w="12700">
            <a:solidFill>
              <a:srgbClr val="009E73"/>
            </a:solidFill>
            <a:prstDash val="solid"/>
          </a:ln>
        </p:spPr>
      </p:sp>
      <p:sp>
        <p:nvSpPr>
          <p:cNvPr id="11" name="Text 8"/>
          <p:cNvSpPr txBox="1"/>
          <p:nvPr/>
        </p:nvSpPr>
        <p:spPr>
          <a:xfrm>
            <a:off x="658368" y="48188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Depth pruning</a:t>
            </a:r>
            <a:endParaRPr lang="en-US" sz="950" dirty="0"/>
          </a:p>
        </p:txBody>
      </p:sp>
      <p:sp>
        <p:nvSpPr>
          <p:cNvPr id="12" name="Shape 9"/>
          <p:cNvSpPr/>
          <p:nvPr/>
        </p:nvSpPr>
        <p:spPr>
          <a:xfrm>
            <a:off x="1737360" y="4864608"/>
            <a:ext cx="146304" cy="146304"/>
          </a:xfrm>
          <a:prstGeom prst="rect">
            <a:avLst/>
          </a:prstGeom>
          <a:solidFill>
            <a:srgbClr val="CC79A7"/>
          </a:solidFill>
          <a:ln w="12700">
            <a:solidFill>
              <a:srgbClr val="CC79A7"/>
            </a:solidFill>
            <a:prstDash val="solid"/>
          </a:ln>
        </p:spPr>
      </p:sp>
      <p:sp>
        <p:nvSpPr>
          <p:cNvPr id="13" name="Text 10"/>
          <p:cNvSpPr txBox="1"/>
          <p:nvPr/>
        </p:nvSpPr>
        <p:spPr>
          <a:xfrm>
            <a:off x="1938528" y="48188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Guarded reuse</a:t>
            </a:r>
            <a:endParaRPr lang="en-US" sz="950" dirty="0"/>
          </a:p>
        </p:txBody>
      </p:sp>
      <p:sp>
        <p:nvSpPr>
          <p:cNvPr id="14" name="Shape 11"/>
          <p:cNvSpPr/>
          <p:nvPr/>
        </p:nvSpPr>
        <p:spPr>
          <a:xfrm>
            <a:off x="3017520" y="4864608"/>
            <a:ext cx="146304" cy="146304"/>
          </a:xfrm>
          <a:prstGeom prst="rect">
            <a:avLst/>
          </a:prstGeom>
          <a:solidFill>
            <a:srgbClr val="8C650F"/>
          </a:solidFill>
          <a:ln w="12700">
            <a:solidFill>
              <a:srgbClr val="8C650F"/>
            </a:solidFill>
            <a:prstDash val="solid"/>
          </a:ln>
        </p:spPr>
      </p:sp>
      <p:sp>
        <p:nvSpPr>
          <p:cNvPr id="15" name="Text 12"/>
          <p:cNvSpPr txBox="1"/>
          <p:nvPr/>
        </p:nvSpPr>
        <p:spPr>
          <a:xfrm>
            <a:off x="3218688" y="4818888"/>
            <a:ext cx="105156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Temporal fusion</a:t>
            </a:r>
            <a:endParaRPr lang="en-US" sz="950" dirty="0"/>
          </a:p>
        </p:txBody>
      </p:sp>
      <p:sp>
        <p:nvSpPr>
          <p:cNvPr id="16" name="Shape 13"/>
          <p:cNvSpPr/>
          <p:nvPr/>
        </p:nvSpPr>
        <p:spPr>
          <a:xfrm>
            <a:off x="4480560" y="1005840"/>
            <a:ext cx="1234440" cy="365760"/>
          </a:xfrm>
          <a:prstGeom prst="roundRect">
            <a:avLst>
              <a:gd name="adj" fmla="val 25000"/>
            </a:avLst>
          </a:prstGeom>
          <a:solidFill>
            <a:srgbClr val="16213A"/>
          </a:solidFill>
          <a:ln w="12700">
            <a:solidFill>
              <a:srgbClr val="16213A"/>
            </a:solidFill>
            <a:prstDash val="solid"/>
          </a:ln>
        </p:spPr>
      </p:sp>
      <p:sp>
        <p:nvSpPr>
          <p:cNvPr id="17" name="Text 14"/>
          <p:cNvSpPr txBox="1"/>
          <p:nvPr/>
        </p:nvSpPr>
        <p:spPr>
          <a:xfrm>
            <a:off x="4480560" y="100584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Q1  Success</a:t>
            </a:r>
            <a:endParaRPr lang="en-US" sz="1100" dirty="0"/>
          </a:p>
        </p:txBody>
      </p:sp>
      <p:sp>
        <p:nvSpPr>
          <p:cNvPr id="18" name="Text 15"/>
          <p:cNvSpPr txBox="1"/>
          <p:nvPr/>
        </p:nvSpPr>
        <p:spPr>
          <a:xfrm>
            <a:off x="5806440" y="914400"/>
            <a:ext cx="2880360" cy="59436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Guarded reuse and temporal fusion are the safest for preserving success.</a:t>
            </a:r>
            <a:endParaRPr lang="en-US" sz="1350" dirty="0"/>
          </a:p>
        </p:txBody>
      </p:sp>
      <p:sp>
        <p:nvSpPr>
          <p:cNvPr id="19" name="Text 16"/>
          <p:cNvSpPr txBox="1"/>
          <p:nvPr/>
        </p:nvSpPr>
        <p:spPr>
          <a:xfrm>
            <a:off x="4480560" y="1691640"/>
            <a:ext cx="4206240" cy="274320"/>
          </a:xfrm>
          <a:prstGeom prst="rect">
            <a:avLst/>
          </a:prstGeom>
          <a:noFill/>
          <a:ln/>
        </p:spPr>
        <p:txBody>
          <a:bodyPr wrap="square" lIns="0" tIns="0" rIns="0" bIns="0" rtlCol="0" anchor="t"/>
          <a:lstStyle/>
          <a:p>
            <a:pPr algn="l" indent="0" marL="0">
              <a:buNone/>
            </a:pPr>
            <a:r>
              <a:rPr lang="en-US" sz="1150" dirty="0">
                <a:solidFill>
                  <a:srgbClr val="1F2933"/>
                </a:solidFill>
                <a:latin typeface="Arial" pitchFamily="34" charset="0"/>
                <a:ea typeface="Arial" pitchFamily="34" charset="-122"/>
                <a:cs typeface="Arial" pitchFamily="34" charset="-120"/>
              </a:rPr>
              <a:t>Selected backbones also gain:</a:t>
            </a:r>
            <a:endParaRPr lang="en-US" sz="1150" dirty="0"/>
          </a:p>
        </p:txBody>
      </p:sp>
      <p:sp>
        <p:nvSpPr>
          <p:cNvPr id="20" name="Shape 17"/>
          <p:cNvSpPr/>
          <p:nvPr/>
        </p:nvSpPr>
        <p:spPr>
          <a:xfrm>
            <a:off x="4480560" y="1965960"/>
            <a:ext cx="4206240" cy="384048"/>
          </a:xfrm>
          <a:prstGeom prst="roundRect">
            <a:avLst>
              <a:gd name="adj" fmla="val 23810"/>
            </a:avLst>
          </a:prstGeom>
          <a:solidFill>
            <a:srgbClr val="DFF1E6"/>
          </a:solidFill>
          <a:ln w="12700">
            <a:solidFill>
              <a:srgbClr val="DFF1E6"/>
            </a:solidFill>
            <a:prstDash val="solid"/>
          </a:ln>
        </p:spPr>
      </p:sp>
      <p:sp>
        <p:nvSpPr>
          <p:cNvPr id="21" name="Text 18"/>
          <p:cNvSpPr txBox="1"/>
          <p:nvPr/>
        </p:nvSpPr>
        <p:spPr>
          <a:xfrm>
            <a:off x="4480560" y="1965960"/>
            <a:ext cx="4206240" cy="384048"/>
          </a:xfrm>
          <a:prstGeom prst="rect">
            <a:avLst/>
          </a:prstGeom>
          <a:noFill/>
          <a:ln/>
        </p:spPr>
        <p:txBody>
          <a:bodyPr wrap="square" lIns="0" tIns="0" rIns="0" bIns="0" rtlCol="0" anchor="ctr"/>
          <a:lstStyle/>
          <a:p>
            <a:pPr algn="ctr" indent="0" marL="0">
              <a:buNone/>
            </a:pPr>
            <a:r>
              <a:rPr lang="en-US" sz="1050" b="1" dirty="0">
                <a:solidFill>
                  <a:srgbClr val="2E8B57"/>
                </a:solidFill>
                <a:latin typeface="Arial" pitchFamily="34" charset="0"/>
                <a:ea typeface="Arial" pitchFamily="34" charset="-122"/>
                <a:cs typeface="Arial" pitchFamily="34" charset="-120"/>
              </a:rPr>
              <a:t>Foveation, WidowX: CogACT +2.5 · SpatialVLA +5.0 · CronusVLA +2.5</a:t>
            </a:r>
            <a:endParaRPr lang="en-US" sz="1050" dirty="0"/>
          </a:p>
        </p:txBody>
      </p:sp>
      <p:sp>
        <p:nvSpPr>
          <p:cNvPr id="22" name="Shape 19"/>
          <p:cNvSpPr/>
          <p:nvPr/>
        </p:nvSpPr>
        <p:spPr>
          <a:xfrm>
            <a:off x="4480560" y="2423160"/>
            <a:ext cx="4206240" cy="384048"/>
          </a:xfrm>
          <a:prstGeom prst="roundRect">
            <a:avLst>
              <a:gd name="adj" fmla="val 23810"/>
            </a:avLst>
          </a:prstGeom>
          <a:solidFill>
            <a:srgbClr val="DFF1E6"/>
          </a:solidFill>
          <a:ln w="12700">
            <a:solidFill>
              <a:srgbClr val="DFF1E6"/>
            </a:solidFill>
            <a:prstDash val="solid"/>
          </a:ln>
        </p:spPr>
      </p:sp>
      <p:sp>
        <p:nvSpPr>
          <p:cNvPr id="23" name="Text 20"/>
          <p:cNvSpPr txBox="1"/>
          <p:nvPr/>
        </p:nvSpPr>
        <p:spPr>
          <a:xfrm>
            <a:off x="4480560" y="2423160"/>
            <a:ext cx="4206240" cy="384048"/>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Depth pruning, WidowX: CogACT +9.5</a:t>
            </a:r>
            <a:endParaRPr lang="en-US" sz="1100" dirty="0"/>
          </a:p>
        </p:txBody>
      </p:sp>
      <p:sp>
        <p:nvSpPr>
          <p:cNvPr id="24" name="Text 21"/>
          <p:cNvSpPr txBox="1"/>
          <p:nvPr/>
        </p:nvSpPr>
        <p:spPr>
          <a:xfrm>
            <a:off x="4480560" y="2926080"/>
            <a:ext cx="4206240" cy="274320"/>
          </a:xfrm>
          <a:prstGeom prst="rect">
            <a:avLst/>
          </a:prstGeom>
          <a:noFill/>
          <a:ln/>
        </p:spPr>
        <p:txBody>
          <a:bodyPr wrap="square" lIns="0" tIns="0" rIns="0" bIns="0" rtlCol="0" anchor="t"/>
          <a:lstStyle/>
          <a:p>
            <a:pPr algn="l" indent="0" marL="0">
              <a:buNone/>
            </a:pPr>
            <a:r>
              <a:rPr lang="en-US" sz="1150" dirty="0">
                <a:solidFill>
                  <a:srgbClr val="1F2933"/>
                </a:solidFill>
                <a:latin typeface="Arial" pitchFamily="34" charset="0"/>
                <a:ea typeface="Arial" pitchFamily="34" charset="-122"/>
                <a:cs typeface="Arial" pitchFamily="34" charset="-120"/>
              </a:rPr>
              <a:t>Backbone-dependent:</a:t>
            </a:r>
            <a:endParaRPr lang="en-US" sz="1150" dirty="0"/>
          </a:p>
        </p:txBody>
      </p:sp>
      <p:sp>
        <p:nvSpPr>
          <p:cNvPr id="25" name="Shape 22"/>
          <p:cNvSpPr/>
          <p:nvPr/>
        </p:nvSpPr>
        <p:spPr>
          <a:xfrm>
            <a:off x="4480560" y="3200400"/>
            <a:ext cx="4206240" cy="384048"/>
          </a:xfrm>
          <a:prstGeom prst="roundRect">
            <a:avLst>
              <a:gd name="adj" fmla="val 23810"/>
            </a:avLst>
          </a:prstGeom>
          <a:solidFill>
            <a:srgbClr val="F9E6D8"/>
          </a:solidFill>
          <a:ln w="12700">
            <a:solidFill>
              <a:srgbClr val="F9E6D8"/>
            </a:solidFill>
            <a:prstDash val="solid"/>
          </a:ln>
        </p:spPr>
      </p:sp>
      <p:sp>
        <p:nvSpPr>
          <p:cNvPr id="26" name="Text 23"/>
          <p:cNvSpPr txBox="1"/>
          <p:nvPr/>
        </p:nvSpPr>
        <p:spPr>
          <a:xfrm>
            <a:off x="4480560" y="3200400"/>
            <a:ext cx="4206240" cy="384048"/>
          </a:xfrm>
          <a:prstGeom prst="rect">
            <a:avLst/>
          </a:prstGeom>
          <a:noFill/>
          <a:ln/>
        </p:spPr>
        <p:txBody>
          <a:bodyPr wrap="square" lIns="0" tIns="0" rIns="0" bIns="0" rtlCol="0" anchor="ctr"/>
          <a:lstStyle/>
          <a:p>
            <a:pPr algn="ctr" indent="0" marL="0">
              <a:buNone/>
            </a:pPr>
            <a:r>
              <a:rPr lang="en-US" sz="1100" b="1" dirty="0">
                <a:solidFill>
                  <a:srgbClr val="C8641E"/>
                </a:solidFill>
                <a:latin typeface="Arial" pitchFamily="34" charset="0"/>
                <a:ea typeface="Arial" pitchFamily="34" charset="-122"/>
                <a:cs typeface="Arial" pitchFamily="34" charset="-120"/>
              </a:rPr>
              <a:t>Foveation, LIBERO Goal: UniVLA +7.0  vs  SmolVLA −13.0</a:t>
            </a:r>
            <a:endParaRPr lang="en-US" sz="1100" dirty="0"/>
          </a:p>
        </p:txBody>
      </p:sp>
      <p:sp>
        <p:nvSpPr>
          <p:cNvPr id="27" name="Shape 24"/>
          <p:cNvSpPr/>
          <p:nvPr/>
        </p:nvSpPr>
        <p:spPr>
          <a:xfrm>
            <a:off x="4480560" y="3657600"/>
            <a:ext cx="4206240" cy="384048"/>
          </a:xfrm>
          <a:prstGeom prst="roundRect">
            <a:avLst>
              <a:gd name="adj" fmla="val 23810"/>
            </a:avLst>
          </a:prstGeom>
          <a:solidFill>
            <a:srgbClr val="F3F5F7"/>
          </a:solidFill>
          <a:ln w="12700">
            <a:solidFill>
              <a:srgbClr val="F3F5F7"/>
            </a:solidFill>
            <a:prstDash val="solid"/>
          </a:ln>
        </p:spPr>
      </p:sp>
      <p:sp>
        <p:nvSpPr>
          <p:cNvPr id="28" name="Text 25"/>
          <p:cNvSpPr txBox="1"/>
          <p:nvPr/>
        </p:nvSpPr>
        <p:spPr>
          <a:xfrm>
            <a:off x="4480560" y="3657600"/>
            <a:ext cx="4206240" cy="384048"/>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Action repeat: mainly a speed baseline</a:t>
            </a:r>
            <a:endParaRPr lang="en-US" sz="1100" dirty="0"/>
          </a:p>
        </p:txBody>
      </p:sp>
      <p:sp>
        <p:nvSpPr>
          <p:cNvPr id="29" name="Text 26"/>
          <p:cNvSpPr txBox="1"/>
          <p:nvPr/>
        </p:nvSpPr>
        <p:spPr>
          <a:xfrm>
            <a:off x="4480560" y="4160520"/>
            <a:ext cx="4206240" cy="64008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Fig. 1: success per configuration, six WidowX backbones (14 bars each, darker to lighter within a trick). Dotted line = original policy, 0 = no successful episodes. Deltas from Tables I and II, best setting per trick.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Depth pruning helps CogACT on WidowX</a:t>
            </a:r>
            <a:endParaRPr lang="en-US" sz="2600" dirty="0"/>
          </a:p>
        </p:txBody>
      </p:sp>
      <p:pic>
        <p:nvPicPr>
          <p:cNvPr id="3" name="Image 0" descr="/tmp/claude-0/-home-user-BiVLA/4327cefa-ba5d-5e2e-9d87-c73dd3a8ccbb/scratchpad/video_ppt/assets/fig3a_cogact.png">    </p:cNvPr>
          <p:cNvPicPr>
            <a:picLocks noChangeAspect="1"/>
          </p:cNvPicPr>
          <p:nvPr/>
        </p:nvPicPr>
        <p:blipFill>
          <a:blip r:embed="rId1"/>
          <a:stretch>
            <a:fillRect/>
          </a:stretch>
        </p:blipFill>
        <p:spPr>
          <a:xfrm>
            <a:off x="457200" y="914400"/>
            <a:ext cx="8092440" cy="2697480"/>
          </a:xfrm>
          <a:prstGeom prst="rect">
            <a:avLst/>
          </a:prstGeom>
        </p:spPr>
      </p:pic>
      <p:sp>
        <p:nvSpPr>
          <p:cNvPr id="4" name="Shape 1"/>
          <p:cNvSpPr/>
          <p:nvPr/>
        </p:nvSpPr>
        <p:spPr>
          <a:xfrm>
            <a:off x="457200" y="3886200"/>
            <a:ext cx="4023360" cy="868680"/>
          </a:xfrm>
          <a:prstGeom prst="roundRect">
            <a:avLst>
              <a:gd name="adj" fmla="val 8421"/>
            </a:avLst>
          </a:prstGeom>
          <a:solidFill>
            <a:srgbClr val="2A2F3A"/>
          </a:solidFill>
          <a:ln w="12700">
            <a:solidFill>
              <a:srgbClr val="8A94A6"/>
            </a:solidFill>
            <a:prstDash val="dash"/>
          </a:ln>
        </p:spPr>
      </p:sp>
      <p:sp>
        <p:nvSpPr>
          <p:cNvPr id="5" name="Text 2"/>
          <p:cNvSpPr txBox="1"/>
          <p:nvPr/>
        </p:nvSpPr>
        <p:spPr>
          <a:xfrm>
            <a:off x="548640" y="3886200"/>
            <a:ext cx="384048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CLIP: original vs depth pruning (paired episode)</a:t>
            </a:r>
            <a:endParaRPr lang="en-US" sz="1200" dirty="0"/>
          </a:p>
        </p:txBody>
      </p:sp>
      <p:sp>
        <p:nvSpPr>
          <p:cNvPr id="6" name="Shape 3"/>
          <p:cNvSpPr/>
          <p:nvPr/>
        </p:nvSpPr>
        <p:spPr>
          <a:xfrm>
            <a:off x="4663440" y="3886200"/>
            <a:ext cx="1965960" cy="365760"/>
          </a:xfrm>
          <a:prstGeom prst="roundRect">
            <a:avLst>
              <a:gd name="adj" fmla="val 25000"/>
            </a:avLst>
          </a:prstGeom>
          <a:solidFill>
            <a:srgbClr val="DFF1E6"/>
          </a:solidFill>
          <a:ln w="12700">
            <a:solidFill>
              <a:srgbClr val="DFF1E6"/>
            </a:solidFill>
            <a:prstDash val="solid"/>
          </a:ln>
        </p:spPr>
      </p:sp>
      <p:sp>
        <p:nvSpPr>
          <p:cNvPr id="7" name="Text 4"/>
          <p:cNvSpPr txBox="1"/>
          <p:nvPr/>
        </p:nvSpPr>
        <p:spPr>
          <a:xfrm>
            <a:off x="4663440" y="3886200"/>
            <a:ext cx="1965960" cy="365760"/>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Success 50.0 → 59.5 %</a:t>
            </a:r>
            <a:endParaRPr lang="en-US" sz="1150" dirty="0"/>
          </a:p>
        </p:txBody>
      </p:sp>
      <p:sp>
        <p:nvSpPr>
          <p:cNvPr id="8" name="Shape 5"/>
          <p:cNvSpPr/>
          <p:nvPr/>
        </p:nvSpPr>
        <p:spPr>
          <a:xfrm>
            <a:off x="6720840" y="3886200"/>
            <a:ext cx="1965960" cy="365760"/>
          </a:xfrm>
          <a:prstGeom prst="roundRect">
            <a:avLst>
              <a:gd name="adj" fmla="val 25000"/>
            </a:avLst>
          </a:prstGeom>
          <a:solidFill>
            <a:srgbClr val="DDEFEC"/>
          </a:solidFill>
          <a:ln w="12700">
            <a:solidFill>
              <a:srgbClr val="DDEFEC"/>
            </a:solidFill>
            <a:prstDash val="solid"/>
          </a:ln>
        </p:spPr>
      </p:sp>
      <p:sp>
        <p:nvSpPr>
          <p:cNvPr id="9" name="Text 6"/>
          <p:cNvSpPr txBox="1"/>
          <p:nvPr/>
        </p:nvSpPr>
        <p:spPr>
          <a:xfrm>
            <a:off x="6720840" y="3886200"/>
            <a:ext cx="1965960" cy="365760"/>
          </a:xfrm>
          <a:prstGeom prst="rect">
            <a:avLst/>
          </a:prstGeom>
          <a:noFill/>
          <a:ln/>
        </p:spPr>
        <p:txBody>
          <a:bodyPr wrap="square" lIns="0" tIns="0" rIns="0" bIns="0" rtlCol="0" anchor="ctr"/>
          <a:lstStyle/>
          <a:p>
            <a:pPr algn="ctr" indent="0" marL="0">
              <a:buNone/>
            </a:pPr>
            <a:r>
              <a:rPr lang="en-US" sz="1050" b="1" dirty="0">
                <a:solidFill>
                  <a:srgbClr val="1B7F79"/>
                </a:solidFill>
                <a:latin typeface="Arial" pitchFamily="34" charset="0"/>
                <a:ea typeface="Arial" pitchFamily="34" charset="-122"/>
                <a:cs typeface="Arial" pitchFamily="34" charset="-120"/>
              </a:rPr>
              <a:t>Latency 141.4 → 137.5 ms/step</a:t>
            </a:r>
            <a:endParaRPr lang="en-US" sz="1050" dirty="0"/>
          </a:p>
        </p:txBody>
      </p:sp>
      <p:sp>
        <p:nvSpPr>
          <p:cNvPr id="10" name="Text 7"/>
          <p:cNvSpPr txBox="1"/>
          <p:nvPr/>
        </p:nvSpPr>
        <p:spPr>
          <a:xfrm>
            <a:off x="4663440" y="4343400"/>
            <a:ext cx="4023360" cy="457200"/>
          </a:xfrm>
          <a:prstGeom prst="rect">
            <a:avLst/>
          </a:prstGeom>
          <a:noFill/>
          <a:ln/>
        </p:spPr>
        <p:txBody>
          <a:bodyPr wrap="square" lIns="0" tIns="0" rIns="0" bIns="0" rtlCol="0" anchor="t"/>
          <a:lstStyle/>
          <a:p>
            <a:pPr algn="l" indent="0" marL="0">
              <a:buNone/>
            </a:pPr>
            <a:r>
              <a:rPr lang="en-US" sz="950" dirty="0">
                <a:solidFill>
                  <a:srgbClr val="5F6B7A"/>
                </a:solidFill>
                <a:latin typeface="Arial" pitchFamily="34" charset="0"/>
                <a:ea typeface="Arial" pitchFamily="34" charset="-122"/>
                <a:cs typeface="Arial" pitchFamily="34" charset="-120"/>
              </a:rPr>
              <a:t>Red = failure, green = success. Selected episodes, same task instances and initial states. Aggregate values from Table I.</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Same trick, same benchmark, different backbone</a:t>
            </a:r>
            <a:endParaRPr lang="en-US" sz="2600" dirty="0"/>
          </a:p>
        </p:txBody>
      </p:sp>
      <p:sp>
        <p:nvSpPr>
          <p:cNvPr id="3" name="Shape 1"/>
          <p:cNvSpPr/>
          <p:nvPr/>
        </p:nvSpPr>
        <p:spPr>
          <a:xfrm>
            <a:off x="457200" y="960120"/>
            <a:ext cx="2651760" cy="2377440"/>
          </a:xfrm>
          <a:prstGeom prst="roundRect">
            <a:avLst>
              <a:gd name="adj" fmla="val 3077"/>
            </a:avLst>
          </a:prstGeom>
          <a:solidFill>
            <a:srgbClr val="2A2F3A"/>
          </a:solidFill>
          <a:ln w="12700">
            <a:solidFill>
              <a:srgbClr val="8A94A6"/>
            </a:solidFill>
            <a:prstDash val="dash"/>
          </a:ln>
        </p:spPr>
      </p:sp>
      <p:sp>
        <p:nvSpPr>
          <p:cNvPr id="4" name="Shape 2"/>
          <p:cNvSpPr/>
          <p:nvPr/>
        </p:nvSpPr>
        <p:spPr>
          <a:xfrm>
            <a:off x="1508760" y="1764792"/>
            <a:ext cx="548640" cy="548640"/>
          </a:xfrm>
          <a:prstGeom prst="ellipse">
            <a:avLst/>
          </a:prstGeom>
          <a:solidFill>
            <a:srgbClr val="FFFFFF"/>
          </a:solidFill>
          <a:ln w="12700">
            <a:solidFill>
              <a:srgbClr val="FFFFFF"/>
            </a:solidFill>
            <a:prstDash val="solid"/>
          </a:ln>
        </p:spPr>
      </p:sp>
      <p:sp>
        <p:nvSpPr>
          <p:cNvPr id="5" name="Shape 3"/>
          <p:cNvSpPr/>
          <p:nvPr/>
        </p:nvSpPr>
        <p:spPr>
          <a:xfrm rot="5400000">
            <a:off x="1700784" y="1883664"/>
            <a:ext cx="219456" cy="310896"/>
          </a:xfrm>
          <a:prstGeom prst="triangle">
            <a:avLst/>
          </a:prstGeom>
          <a:solidFill>
            <a:srgbClr val="2A2F3A"/>
          </a:solidFill>
          <a:ln w="12700">
            <a:solidFill>
              <a:srgbClr val="2A2F3A"/>
            </a:solidFill>
            <a:prstDash val="solid"/>
          </a:ln>
        </p:spPr>
      </p:sp>
      <p:sp>
        <p:nvSpPr>
          <p:cNvPr id="6" name="Text 4"/>
          <p:cNvSpPr txBox="1"/>
          <p:nvPr/>
        </p:nvSpPr>
        <p:spPr>
          <a:xfrm>
            <a:off x="548640" y="237744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MiniVLA original</a:t>
            </a:r>
            <a:endParaRPr lang="en-US" sz="1200" dirty="0"/>
          </a:p>
        </p:txBody>
      </p:sp>
      <p:sp>
        <p:nvSpPr>
          <p:cNvPr id="7" name="Text 5"/>
          <p:cNvSpPr txBox="1"/>
          <p:nvPr/>
        </p:nvSpPr>
        <p:spPr>
          <a:xfrm>
            <a:off x="548640" y="262432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succeeds (green border)</a:t>
            </a:r>
            <a:endParaRPr lang="en-US" sz="950" dirty="0"/>
          </a:p>
        </p:txBody>
      </p:sp>
      <p:sp>
        <p:nvSpPr>
          <p:cNvPr id="8" name="Shape 6"/>
          <p:cNvSpPr/>
          <p:nvPr/>
        </p:nvSpPr>
        <p:spPr>
          <a:xfrm>
            <a:off x="3246120" y="960120"/>
            <a:ext cx="2651760" cy="2377440"/>
          </a:xfrm>
          <a:prstGeom prst="roundRect">
            <a:avLst>
              <a:gd name="adj" fmla="val 3077"/>
            </a:avLst>
          </a:prstGeom>
          <a:solidFill>
            <a:srgbClr val="2A2F3A"/>
          </a:solidFill>
          <a:ln w="12700">
            <a:solidFill>
              <a:srgbClr val="8A94A6"/>
            </a:solidFill>
            <a:prstDash val="dash"/>
          </a:ln>
        </p:spPr>
      </p:sp>
      <p:sp>
        <p:nvSpPr>
          <p:cNvPr id="9" name="Shape 7"/>
          <p:cNvSpPr/>
          <p:nvPr/>
        </p:nvSpPr>
        <p:spPr>
          <a:xfrm>
            <a:off x="4297680" y="1764792"/>
            <a:ext cx="548640" cy="548640"/>
          </a:xfrm>
          <a:prstGeom prst="ellipse">
            <a:avLst/>
          </a:prstGeom>
          <a:solidFill>
            <a:srgbClr val="FFFFFF"/>
          </a:solidFill>
          <a:ln w="12700">
            <a:solidFill>
              <a:srgbClr val="FFFFFF"/>
            </a:solidFill>
            <a:prstDash val="solid"/>
          </a:ln>
        </p:spPr>
      </p:sp>
      <p:sp>
        <p:nvSpPr>
          <p:cNvPr id="10" name="Shape 8"/>
          <p:cNvSpPr/>
          <p:nvPr/>
        </p:nvSpPr>
        <p:spPr>
          <a:xfrm rot="5400000">
            <a:off x="4489704" y="1883664"/>
            <a:ext cx="219456" cy="310896"/>
          </a:xfrm>
          <a:prstGeom prst="triangle">
            <a:avLst/>
          </a:prstGeom>
          <a:solidFill>
            <a:srgbClr val="2A2F3A"/>
          </a:solidFill>
          <a:ln w="12700">
            <a:solidFill>
              <a:srgbClr val="2A2F3A"/>
            </a:solidFill>
            <a:prstDash val="solid"/>
          </a:ln>
        </p:spPr>
      </p:sp>
      <p:sp>
        <p:nvSpPr>
          <p:cNvPr id="11" name="Text 9"/>
          <p:cNvSpPr txBox="1"/>
          <p:nvPr/>
        </p:nvSpPr>
        <p:spPr>
          <a:xfrm>
            <a:off x="3337560" y="237744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MiniVLA + pruning</a:t>
            </a:r>
            <a:endParaRPr lang="en-US" sz="1200" dirty="0"/>
          </a:p>
        </p:txBody>
      </p:sp>
      <p:sp>
        <p:nvSpPr>
          <p:cNvPr id="12" name="Text 10"/>
          <p:cNvSpPr txBox="1"/>
          <p:nvPr/>
        </p:nvSpPr>
        <p:spPr>
          <a:xfrm>
            <a:off x="3337560" y="262432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fails (red border)</a:t>
            </a:r>
            <a:endParaRPr lang="en-US" sz="950" dirty="0"/>
          </a:p>
        </p:txBody>
      </p:sp>
      <p:sp>
        <p:nvSpPr>
          <p:cNvPr id="13" name="Text 11"/>
          <p:cNvSpPr txBox="1"/>
          <p:nvPr/>
        </p:nvSpPr>
        <p:spPr>
          <a:xfrm>
            <a:off x="457200" y="3401568"/>
            <a:ext cx="5440680" cy="274320"/>
          </a:xfrm>
          <a:prstGeom prst="rect">
            <a:avLst/>
          </a:prstGeom>
          <a:noFill/>
          <a:ln/>
        </p:spPr>
        <p:txBody>
          <a:bodyPr wrap="square" lIns="0" tIns="0" rIns="0" bIns="0" rtlCol="0" anchor="t"/>
          <a:lstStyle/>
          <a:p>
            <a:pPr algn="l" indent="0" marL="0">
              <a:buNone/>
            </a:pPr>
            <a:r>
              <a:rPr lang="en-US" sz="1050" dirty="0">
                <a:solidFill>
                  <a:srgbClr val="5F6B7A"/>
                </a:solidFill>
                <a:latin typeface="Arial" pitchFamily="34" charset="0"/>
                <a:ea typeface="Arial" pitchFamily="34" charset="-122"/>
                <a:cs typeface="Arial" pitchFamily="34" charset="-120"/>
              </a:rPr>
              <a:t>Selected episode, same initial state, WidowX</a:t>
            </a:r>
            <a:endParaRPr lang="en-US" sz="1050" dirty="0"/>
          </a:p>
        </p:txBody>
      </p:sp>
      <p:sp>
        <p:nvSpPr>
          <p:cNvPr id="14" name="Shape 12"/>
          <p:cNvSpPr/>
          <p:nvPr/>
        </p:nvSpPr>
        <p:spPr>
          <a:xfrm>
            <a:off x="6126480" y="960120"/>
            <a:ext cx="2560320" cy="2377440"/>
          </a:xfrm>
          <a:prstGeom prst="roundRect">
            <a:avLst>
              <a:gd name="adj" fmla="val 4615"/>
            </a:avLst>
          </a:prstGeom>
          <a:solidFill>
            <a:srgbClr val="F3F5F7"/>
          </a:solidFill>
          <a:ln w="9525">
            <a:solidFill>
              <a:srgbClr val="D9DEE3"/>
            </a:solidFill>
            <a:prstDash val="solid"/>
          </a:ln>
        </p:spPr>
      </p:sp>
      <p:sp>
        <p:nvSpPr>
          <p:cNvPr id="15" name="Text 13"/>
          <p:cNvSpPr txBox="1"/>
          <p:nvPr/>
        </p:nvSpPr>
        <p:spPr>
          <a:xfrm>
            <a:off x="6126480" y="1051560"/>
            <a:ext cx="2560320" cy="320040"/>
          </a:xfrm>
          <a:prstGeom prst="rect">
            <a:avLst/>
          </a:prstGeom>
          <a:noFill/>
          <a:ln/>
        </p:spPr>
        <p:txBody>
          <a:bodyPr wrap="square" lIns="0" tIns="0" rIns="0" bIns="0" rtlCol="0" anchor="ctr"/>
          <a:lstStyle/>
          <a:p>
            <a:pPr algn="ctr" indent="0" marL="0">
              <a:buNone/>
            </a:pPr>
            <a:r>
              <a:rPr lang="en-US" sz="1300" b="1" dirty="0">
                <a:solidFill>
                  <a:srgbClr val="1F2933"/>
                </a:solidFill>
                <a:latin typeface="Arial" pitchFamily="34" charset="0"/>
                <a:ea typeface="Arial" pitchFamily="34" charset="-122"/>
                <a:cs typeface="Arial" pitchFamily="34" charset="-120"/>
              </a:rPr>
              <a:t>Depth pruning, WidowX</a:t>
            </a:r>
            <a:endParaRPr lang="en-US" sz="1300" dirty="0"/>
          </a:p>
        </p:txBody>
      </p:sp>
      <p:sp>
        <p:nvSpPr>
          <p:cNvPr id="16" name="Shape 14"/>
          <p:cNvSpPr/>
          <p:nvPr/>
        </p:nvSpPr>
        <p:spPr>
          <a:xfrm>
            <a:off x="6309360" y="1463040"/>
            <a:ext cx="2194560" cy="457200"/>
          </a:xfrm>
          <a:prstGeom prst="roundRect">
            <a:avLst>
              <a:gd name="adj" fmla="val 20000"/>
            </a:avLst>
          </a:prstGeom>
          <a:solidFill>
            <a:srgbClr val="DFF1E6"/>
          </a:solidFill>
          <a:ln w="12700">
            <a:solidFill>
              <a:srgbClr val="DFF1E6"/>
            </a:solidFill>
            <a:prstDash val="solid"/>
          </a:ln>
        </p:spPr>
      </p:sp>
      <p:sp>
        <p:nvSpPr>
          <p:cNvPr id="17" name="Text 15"/>
          <p:cNvSpPr txBox="1"/>
          <p:nvPr/>
        </p:nvSpPr>
        <p:spPr>
          <a:xfrm>
            <a:off x="6309360" y="1463040"/>
            <a:ext cx="2194560" cy="457200"/>
          </a:xfrm>
          <a:prstGeom prst="rect">
            <a:avLst/>
          </a:prstGeom>
          <a:noFill/>
          <a:ln/>
        </p:spPr>
        <p:txBody>
          <a:bodyPr wrap="square" lIns="0" tIns="0" rIns="0" bIns="0" rtlCol="0" anchor="ctr"/>
          <a:lstStyle/>
          <a:p>
            <a:pPr algn="ctr" indent="0" marL="0">
              <a:buNone/>
            </a:pPr>
            <a:r>
              <a:rPr lang="en-US" sz="1400" b="1" dirty="0">
                <a:solidFill>
                  <a:srgbClr val="2E8B57"/>
                </a:solidFill>
                <a:latin typeface="Arial" pitchFamily="34" charset="0"/>
                <a:ea typeface="Arial" pitchFamily="34" charset="-122"/>
                <a:cs typeface="Arial" pitchFamily="34" charset="-120"/>
              </a:rPr>
              <a:t>CogACT  +9.5</a:t>
            </a:r>
            <a:endParaRPr lang="en-US" sz="1400" dirty="0"/>
          </a:p>
        </p:txBody>
      </p:sp>
      <p:sp>
        <p:nvSpPr>
          <p:cNvPr id="18" name="Shape 16"/>
          <p:cNvSpPr/>
          <p:nvPr/>
        </p:nvSpPr>
        <p:spPr>
          <a:xfrm>
            <a:off x="6309360" y="2011680"/>
            <a:ext cx="2194560" cy="457200"/>
          </a:xfrm>
          <a:prstGeom prst="roundRect">
            <a:avLst>
              <a:gd name="adj" fmla="val 20000"/>
            </a:avLst>
          </a:prstGeom>
          <a:solidFill>
            <a:srgbClr val="F6E0DD"/>
          </a:solidFill>
          <a:ln w="12700">
            <a:solidFill>
              <a:srgbClr val="F6E0DD"/>
            </a:solidFill>
            <a:prstDash val="solid"/>
          </a:ln>
        </p:spPr>
      </p:sp>
      <p:sp>
        <p:nvSpPr>
          <p:cNvPr id="19" name="Text 17"/>
          <p:cNvSpPr txBox="1"/>
          <p:nvPr/>
        </p:nvSpPr>
        <p:spPr>
          <a:xfrm>
            <a:off x="6309360" y="2011680"/>
            <a:ext cx="2194560" cy="457200"/>
          </a:xfrm>
          <a:prstGeom prst="rect">
            <a:avLst/>
          </a:prstGeom>
          <a:noFill/>
          <a:ln/>
        </p:spPr>
        <p:txBody>
          <a:bodyPr wrap="square" lIns="0" tIns="0" rIns="0" bIns="0" rtlCol="0" anchor="ctr"/>
          <a:lstStyle/>
          <a:p>
            <a:pPr algn="ctr" indent="0" marL="0">
              <a:buNone/>
            </a:pPr>
            <a:r>
              <a:rPr lang="en-US" sz="1400" b="1" dirty="0">
                <a:solidFill>
                  <a:srgbClr val="B03A2E"/>
                </a:solidFill>
                <a:latin typeface="Arial" pitchFamily="34" charset="0"/>
                <a:ea typeface="Arial" pitchFamily="34" charset="-122"/>
                <a:cs typeface="Arial" pitchFamily="34" charset="-120"/>
              </a:rPr>
              <a:t>MiniVLA  −17.5</a:t>
            </a:r>
            <a:endParaRPr lang="en-US" sz="1400" dirty="0"/>
          </a:p>
        </p:txBody>
      </p:sp>
      <p:sp>
        <p:nvSpPr>
          <p:cNvPr id="20" name="Shape 18"/>
          <p:cNvSpPr/>
          <p:nvPr/>
        </p:nvSpPr>
        <p:spPr>
          <a:xfrm>
            <a:off x="6309360" y="2560320"/>
            <a:ext cx="2194560" cy="457200"/>
          </a:xfrm>
          <a:prstGeom prst="roundRect">
            <a:avLst>
              <a:gd name="adj" fmla="val 20000"/>
            </a:avLst>
          </a:prstGeom>
          <a:solidFill>
            <a:srgbClr val="F6E0DD"/>
          </a:solidFill>
          <a:ln w="12700">
            <a:solidFill>
              <a:srgbClr val="F6E0DD"/>
            </a:solidFill>
            <a:prstDash val="solid"/>
          </a:ln>
        </p:spPr>
      </p:sp>
      <p:sp>
        <p:nvSpPr>
          <p:cNvPr id="21" name="Text 19"/>
          <p:cNvSpPr txBox="1"/>
          <p:nvPr/>
        </p:nvSpPr>
        <p:spPr>
          <a:xfrm>
            <a:off x="6309360" y="2560320"/>
            <a:ext cx="2194560" cy="457200"/>
          </a:xfrm>
          <a:prstGeom prst="rect">
            <a:avLst/>
          </a:prstGeom>
          <a:noFill/>
          <a:ln/>
        </p:spPr>
        <p:txBody>
          <a:bodyPr wrap="square" lIns="0" tIns="0" rIns="0" bIns="0" rtlCol="0" anchor="ctr"/>
          <a:lstStyle/>
          <a:p>
            <a:pPr algn="ctr" indent="0" marL="0">
              <a:buNone/>
            </a:pPr>
            <a:r>
              <a:rPr lang="en-US" sz="1400" b="1" dirty="0">
                <a:solidFill>
                  <a:srgbClr val="B03A2E"/>
                </a:solidFill>
                <a:latin typeface="Arial" pitchFamily="34" charset="0"/>
                <a:ea typeface="Arial" pitchFamily="34" charset="-122"/>
                <a:cs typeface="Arial" pitchFamily="34" charset="-120"/>
              </a:rPr>
              <a:t>SpatialVLA  −6.5</a:t>
            </a:r>
            <a:endParaRPr lang="en-US" sz="1400" dirty="0"/>
          </a:p>
        </p:txBody>
      </p:sp>
      <p:sp>
        <p:nvSpPr>
          <p:cNvPr id="22" name="Shape 20"/>
          <p:cNvSpPr/>
          <p:nvPr/>
        </p:nvSpPr>
        <p:spPr>
          <a:xfrm>
            <a:off x="457200" y="3840480"/>
            <a:ext cx="8229600" cy="777240"/>
          </a:xfrm>
          <a:prstGeom prst="roundRect">
            <a:avLst>
              <a:gd name="adj" fmla="val 11765"/>
            </a:avLst>
          </a:prstGeom>
          <a:solidFill>
            <a:srgbClr val="16213A"/>
          </a:solidFill>
          <a:ln w="12700">
            <a:solidFill>
              <a:srgbClr val="16213A"/>
            </a:solidFill>
            <a:prstDash val="solid"/>
          </a:ln>
        </p:spPr>
      </p:sp>
      <p:sp>
        <p:nvSpPr>
          <p:cNvPr id="23" name="Text 21"/>
          <p:cNvSpPr txBox="1"/>
          <p:nvPr/>
        </p:nvSpPr>
        <p:spPr>
          <a:xfrm>
            <a:off x="640080" y="3840480"/>
            <a:ext cx="7863840" cy="77724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Structural redundancy is not a property of the trick alone. It depends on how each backbone uses its decoder layers during control.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Which tricks are actually faster?</a:t>
            </a:r>
            <a:endParaRPr lang="en-US" sz="2600" dirty="0"/>
          </a:p>
        </p:txBody>
      </p:sp>
      <p:pic>
        <p:nvPicPr>
          <p:cNvPr id="3" name="Image 0" descr="/tmp/claude-0/-home-user-BiVLA/4327cefa-ba5d-5e2e-9d87-c73dd3a8ccbb/scratchpad/video_ppt/assets/fig4_paper_nolegend.png">    </p:cNvPr>
          <p:cNvPicPr>
            <a:picLocks noChangeAspect="1"/>
          </p:cNvPicPr>
          <p:nvPr/>
        </p:nvPicPr>
        <p:blipFill>
          <a:blip r:embed="rId1"/>
          <a:stretch>
            <a:fillRect/>
          </a:stretch>
        </p:blipFill>
        <p:spPr>
          <a:xfrm>
            <a:off x="365760" y="868680"/>
            <a:ext cx="4297680" cy="3520440"/>
          </a:xfrm>
          <a:prstGeom prst="rect">
            <a:avLst/>
          </a:prstGeom>
        </p:spPr>
      </p:pic>
      <p:sp>
        <p:nvSpPr>
          <p:cNvPr id="4" name="Shape 1"/>
          <p:cNvSpPr/>
          <p:nvPr/>
        </p:nvSpPr>
        <p:spPr>
          <a:xfrm>
            <a:off x="457200" y="4480560"/>
            <a:ext cx="146304" cy="146304"/>
          </a:xfrm>
          <a:prstGeom prst="rect">
            <a:avLst/>
          </a:prstGeom>
          <a:solidFill>
            <a:srgbClr val="222222"/>
          </a:solidFill>
          <a:ln w="12700">
            <a:solidFill>
              <a:srgbClr val="222222"/>
            </a:solidFill>
            <a:prstDash val="solid"/>
          </a:ln>
        </p:spPr>
      </p:sp>
      <p:sp>
        <p:nvSpPr>
          <p:cNvPr id="5" name="Text 2"/>
          <p:cNvSpPr txBox="1"/>
          <p:nvPr/>
        </p:nvSpPr>
        <p:spPr>
          <a:xfrm>
            <a:off x="658368" y="44348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Original</a:t>
            </a:r>
            <a:endParaRPr lang="en-US" sz="950" dirty="0"/>
          </a:p>
        </p:txBody>
      </p:sp>
      <p:sp>
        <p:nvSpPr>
          <p:cNvPr id="6" name="Shape 3"/>
          <p:cNvSpPr/>
          <p:nvPr/>
        </p:nvSpPr>
        <p:spPr>
          <a:xfrm>
            <a:off x="1874520" y="4480560"/>
            <a:ext cx="146304" cy="146304"/>
          </a:xfrm>
          <a:prstGeom prst="rect">
            <a:avLst/>
          </a:prstGeom>
          <a:solidFill>
            <a:srgbClr val="0072B2"/>
          </a:solidFill>
          <a:ln w="12700">
            <a:solidFill>
              <a:srgbClr val="0072B2"/>
            </a:solidFill>
            <a:prstDash val="solid"/>
          </a:ln>
        </p:spPr>
      </p:sp>
      <p:sp>
        <p:nvSpPr>
          <p:cNvPr id="7" name="Text 4"/>
          <p:cNvSpPr txBox="1"/>
          <p:nvPr/>
        </p:nvSpPr>
        <p:spPr>
          <a:xfrm>
            <a:off x="2075688" y="44348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Foveation</a:t>
            </a:r>
            <a:endParaRPr lang="en-US" sz="950" dirty="0"/>
          </a:p>
        </p:txBody>
      </p:sp>
      <p:sp>
        <p:nvSpPr>
          <p:cNvPr id="8" name="Shape 5"/>
          <p:cNvSpPr/>
          <p:nvPr/>
        </p:nvSpPr>
        <p:spPr>
          <a:xfrm>
            <a:off x="3291840" y="4480560"/>
            <a:ext cx="146304" cy="146304"/>
          </a:xfrm>
          <a:prstGeom prst="rect">
            <a:avLst/>
          </a:prstGeom>
          <a:solidFill>
            <a:srgbClr val="D55E00"/>
          </a:solidFill>
          <a:ln w="12700">
            <a:solidFill>
              <a:srgbClr val="D55E00"/>
            </a:solidFill>
            <a:prstDash val="solid"/>
          </a:ln>
        </p:spPr>
      </p:sp>
      <p:sp>
        <p:nvSpPr>
          <p:cNvPr id="9" name="Text 6"/>
          <p:cNvSpPr txBox="1"/>
          <p:nvPr/>
        </p:nvSpPr>
        <p:spPr>
          <a:xfrm>
            <a:off x="3493008" y="44348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Action repeat</a:t>
            </a:r>
            <a:endParaRPr lang="en-US" sz="950" dirty="0"/>
          </a:p>
        </p:txBody>
      </p:sp>
      <p:sp>
        <p:nvSpPr>
          <p:cNvPr id="10" name="Shape 7"/>
          <p:cNvSpPr/>
          <p:nvPr/>
        </p:nvSpPr>
        <p:spPr>
          <a:xfrm>
            <a:off x="457200" y="4709160"/>
            <a:ext cx="146304" cy="146304"/>
          </a:xfrm>
          <a:prstGeom prst="rect">
            <a:avLst/>
          </a:prstGeom>
          <a:solidFill>
            <a:srgbClr val="009E73"/>
          </a:solidFill>
          <a:ln w="12700">
            <a:solidFill>
              <a:srgbClr val="009E73"/>
            </a:solidFill>
            <a:prstDash val="solid"/>
          </a:ln>
        </p:spPr>
      </p:sp>
      <p:sp>
        <p:nvSpPr>
          <p:cNvPr id="11" name="Text 8"/>
          <p:cNvSpPr txBox="1"/>
          <p:nvPr/>
        </p:nvSpPr>
        <p:spPr>
          <a:xfrm>
            <a:off x="658368" y="46634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Depth pruning</a:t>
            </a:r>
            <a:endParaRPr lang="en-US" sz="950" dirty="0"/>
          </a:p>
        </p:txBody>
      </p:sp>
      <p:sp>
        <p:nvSpPr>
          <p:cNvPr id="12" name="Shape 9"/>
          <p:cNvSpPr/>
          <p:nvPr/>
        </p:nvSpPr>
        <p:spPr>
          <a:xfrm>
            <a:off x="1874520" y="4709160"/>
            <a:ext cx="146304" cy="146304"/>
          </a:xfrm>
          <a:prstGeom prst="rect">
            <a:avLst/>
          </a:prstGeom>
          <a:solidFill>
            <a:srgbClr val="CC79A7"/>
          </a:solidFill>
          <a:ln w="12700">
            <a:solidFill>
              <a:srgbClr val="CC79A7"/>
            </a:solidFill>
            <a:prstDash val="solid"/>
          </a:ln>
        </p:spPr>
      </p:sp>
      <p:sp>
        <p:nvSpPr>
          <p:cNvPr id="13" name="Text 10"/>
          <p:cNvSpPr txBox="1"/>
          <p:nvPr/>
        </p:nvSpPr>
        <p:spPr>
          <a:xfrm>
            <a:off x="2075688" y="46634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Guarded reuse</a:t>
            </a:r>
            <a:endParaRPr lang="en-US" sz="950" dirty="0"/>
          </a:p>
        </p:txBody>
      </p:sp>
      <p:sp>
        <p:nvSpPr>
          <p:cNvPr id="14" name="Shape 11"/>
          <p:cNvSpPr/>
          <p:nvPr/>
        </p:nvSpPr>
        <p:spPr>
          <a:xfrm>
            <a:off x="3291840" y="4709160"/>
            <a:ext cx="146304" cy="146304"/>
          </a:xfrm>
          <a:prstGeom prst="rect">
            <a:avLst/>
          </a:prstGeom>
          <a:solidFill>
            <a:srgbClr val="8C650F"/>
          </a:solidFill>
          <a:ln w="12700">
            <a:solidFill>
              <a:srgbClr val="8C650F"/>
            </a:solidFill>
            <a:prstDash val="solid"/>
          </a:ln>
        </p:spPr>
      </p:sp>
      <p:sp>
        <p:nvSpPr>
          <p:cNvPr id="15" name="Text 12"/>
          <p:cNvSpPr txBox="1"/>
          <p:nvPr/>
        </p:nvSpPr>
        <p:spPr>
          <a:xfrm>
            <a:off x="3493008" y="4663440"/>
            <a:ext cx="1188720" cy="237744"/>
          </a:xfrm>
          <a:prstGeom prst="rect">
            <a:avLst/>
          </a:prstGeom>
          <a:noFill/>
          <a:ln/>
        </p:spPr>
        <p:txBody>
          <a:bodyPr wrap="square" lIns="0" tIns="0" rIns="0" bIns="0" rtlCol="0" anchor="ctr"/>
          <a:lstStyle/>
          <a:p>
            <a:pPr indent="0" marL="0">
              <a:buNone/>
            </a:pPr>
            <a:r>
              <a:rPr lang="en-US" sz="950" dirty="0">
                <a:solidFill>
                  <a:srgbClr val="1F2933"/>
                </a:solidFill>
                <a:latin typeface="Arial" pitchFamily="34" charset="0"/>
                <a:ea typeface="Arial" pitchFamily="34" charset="-122"/>
                <a:cs typeface="Arial" pitchFamily="34" charset="-120"/>
              </a:rPr>
              <a:t>Temporal fusion</a:t>
            </a:r>
            <a:endParaRPr lang="en-US" sz="950" dirty="0"/>
          </a:p>
        </p:txBody>
      </p:sp>
      <p:sp>
        <p:nvSpPr>
          <p:cNvPr id="16" name="Text 13"/>
          <p:cNvSpPr txBox="1"/>
          <p:nvPr/>
        </p:nvSpPr>
        <p:spPr>
          <a:xfrm>
            <a:off x="4937760" y="868680"/>
            <a:ext cx="3749040" cy="64008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Fig. 4, SimplerEnv WidowX. Star = original, shaded = faster and no worse. Colour = trick; circle, square, triangle = first, second, third setting of that trick.</a:t>
            </a:r>
            <a:endParaRPr lang="en-US" sz="1000" dirty="0"/>
          </a:p>
        </p:txBody>
      </p:sp>
      <p:sp>
        <p:nvSpPr>
          <p:cNvPr id="17" name="Shape 14"/>
          <p:cNvSpPr/>
          <p:nvPr/>
        </p:nvSpPr>
        <p:spPr>
          <a:xfrm>
            <a:off x="4937760" y="1600200"/>
            <a:ext cx="1234440" cy="365760"/>
          </a:xfrm>
          <a:prstGeom prst="roundRect">
            <a:avLst>
              <a:gd name="adj" fmla="val 25000"/>
            </a:avLst>
          </a:prstGeom>
          <a:solidFill>
            <a:srgbClr val="16213A"/>
          </a:solidFill>
          <a:ln w="12700">
            <a:solidFill>
              <a:srgbClr val="16213A"/>
            </a:solidFill>
            <a:prstDash val="solid"/>
          </a:ln>
        </p:spPr>
      </p:sp>
      <p:sp>
        <p:nvSpPr>
          <p:cNvPr id="18" name="Text 15"/>
          <p:cNvSpPr txBox="1"/>
          <p:nvPr/>
        </p:nvSpPr>
        <p:spPr>
          <a:xfrm>
            <a:off x="4937760" y="160020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Q2  Speed</a:t>
            </a:r>
            <a:endParaRPr lang="en-US" sz="1100" dirty="0"/>
          </a:p>
        </p:txBody>
      </p:sp>
      <p:sp>
        <p:nvSpPr>
          <p:cNvPr id="19" name="Text 16"/>
          <p:cNvSpPr txBox="1"/>
          <p:nvPr/>
        </p:nvSpPr>
        <p:spPr>
          <a:xfrm>
            <a:off x="4937760" y="2057400"/>
            <a:ext cx="3749040" cy="822960"/>
          </a:xfrm>
          <a:prstGeom prst="rect">
            <a:avLst/>
          </a:prstGeom>
          <a:noFill/>
          <a:ln/>
        </p:spPr>
        <p:txBody>
          <a:bodyPr wrap="square" lIns="0" tIns="0" rIns="0" bIns="0" rtlCol="0" anchor="t"/>
          <a:lstStyle/>
          <a:p>
            <a:pPr indent="0" marL="0">
              <a:buNone/>
            </a:pPr>
            <a:r>
              <a:rPr lang="en-US" sz="1200" b="1" dirty="0">
                <a:solidFill>
                  <a:srgbClr val="1F2933"/>
                </a:solidFill>
                <a:latin typeface="Arial" pitchFamily="34" charset="0"/>
                <a:ea typeface="Arial" pitchFamily="34" charset="-122"/>
                <a:cs typeface="Arial" pitchFamily="34" charset="-120"/>
              </a:rPr>
              <a:t>Action repeat gives the largest speedup, depth pruning gives decoder-level savings, guarded reuse gives the safest trade-off.</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937760" y="3063240"/>
          <a:ext cx="3749040" cy="914400"/>
        </p:xfrm>
        <a:graphic>
          <a:graphicData uri="http://schemas.openxmlformats.org/drawingml/2006/table">
            <a:tbl>
              <a:tblPr/>
              <a:tblGrid>
                <a:gridCol w="2331720"/>
                <a:gridCol w="141732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Latency, ms per step</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Original → trick</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16213A"/>
                    </a:solidFill>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Repeat · SpatialVLA WidowX</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C8641E"/>
                          </a:solidFill>
                          <a:latin typeface="Arial" pitchFamily="34" charset="0"/>
                          <a:ea typeface="Arial" pitchFamily="34" charset="-122"/>
                          <a:cs typeface="Arial" pitchFamily="34" charset="-120"/>
                        </a:rPr>
                        <a:t>423.5 → 235.1</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Repeat · OpenVLA LIBERO Long</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C8641E"/>
                          </a:solidFill>
                          <a:latin typeface="Arial" pitchFamily="34" charset="0"/>
                          <a:ea typeface="Arial" pitchFamily="34" charset="-122"/>
                          <a:cs typeface="Arial" pitchFamily="34" charset="-120"/>
                        </a:rPr>
                        <a:t>171.6 → 93.2</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Pruning · OpenVLA WidowX</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1B7F79"/>
                          </a:solidFill>
                          <a:latin typeface="Arial" pitchFamily="34" charset="0"/>
                          <a:ea typeface="Arial" pitchFamily="34" charset="-122"/>
                          <a:cs typeface="Arial" pitchFamily="34" charset="-120"/>
                        </a:rPr>
                        <a:t>210.2 → 199.4</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r h="274320">
                <a:tc>
                  <a:txBody>
                    <a:bodyPr/>
                    <a:lstStyle/>
                    <a:p>
                      <a:pPr indent="0" marL="0">
                        <a:buNone/>
                      </a:pPr>
                      <a:r>
                        <a:rPr lang="en-US" sz="1000" dirty="0">
                          <a:solidFill>
                            <a:srgbClr val="1F2933"/>
                          </a:solidFill>
                          <a:latin typeface="Arial" pitchFamily="34" charset="0"/>
                          <a:ea typeface="Arial" pitchFamily="34" charset="-122"/>
                          <a:cs typeface="Arial" pitchFamily="34" charset="-120"/>
                        </a:rPr>
                        <a:t>Reuse · SmolVLA LIBERO Long</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algn="ctr" indent="0" marL="0">
                        <a:buNone/>
                      </a:pPr>
                      <a:r>
                        <a:rPr lang="en-US" sz="1000" b="1" dirty="0">
                          <a:solidFill>
                            <a:srgbClr val="1B7F79"/>
                          </a:solidFill>
                          <a:latin typeface="Arial" pitchFamily="34" charset="0"/>
                          <a:ea typeface="Arial" pitchFamily="34" charset="-122"/>
                          <a:cs typeface="Arial" pitchFamily="34" charset="-120"/>
                        </a:rPr>
                        <a:t>289.5 → 268.9</a:t>
                      </a:r>
                      <a:endParaRPr lang="en-US" sz="1000" dirty="0">
                        <a:latin typeface="Arial" charset="0"/>
                        <a:ea typeface="Arial" charset="0"/>
                        <a:cs typeface="Arial" charset="0"/>
                      </a:endParaRPr>
                    </a:p>
                  </a:txBody>
                  <a:tcPr marL="27432" marR="27432"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Open loop has a cost, gating keeps it safer</a:t>
            </a:r>
            <a:endParaRPr lang="en-US" sz="2600" dirty="0"/>
          </a:p>
        </p:txBody>
      </p:sp>
      <p:sp>
        <p:nvSpPr>
          <p:cNvPr id="3" name="Shape 1"/>
          <p:cNvSpPr/>
          <p:nvPr/>
        </p:nvSpPr>
        <p:spPr>
          <a:xfrm>
            <a:off x="457200" y="960120"/>
            <a:ext cx="2651760" cy="1965960"/>
          </a:xfrm>
          <a:prstGeom prst="roundRect">
            <a:avLst>
              <a:gd name="adj" fmla="val 3721"/>
            </a:avLst>
          </a:prstGeom>
          <a:solidFill>
            <a:srgbClr val="2A2F3A"/>
          </a:solidFill>
          <a:ln w="12700">
            <a:solidFill>
              <a:srgbClr val="8A94A6"/>
            </a:solidFill>
            <a:prstDash val="dash"/>
          </a:ln>
        </p:spPr>
      </p:sp>
      <p:sp>
        <p:nvSpPr>
          <p:cNvPr id="4" name="Shape 2"/>
          <p:cNvSpPr/>
          <p:nvPr/>
        </p:nvSpPr>
        <p:spPr>
          <a:xfrm>
            <a:off x="1508760" y="1559052"/>
            <a:ext cx="548640" cy="548640"/>
          </a:xfrm>
          <a:prstGeom prst="ellipse">
            <a:avLst/>
          </a:prstGeom>
          <a:solidFill>
            <a:srgbClr val="FFFFFF"/>
          </a:solidFill>
          <a:ln w="12700">
            <a:solidFill>
              <a:srgbClr val="FFFFFF"/>
            </a:solidFill>
            <a:prstDash val="solid"/>
          </a:ln>
        </p:spPr>
      </p:sp>
      <p:sp>
        <p:nvSpPr>
          <p:cNvPr id="5" name="Shape 3"/>
          <p:cNvSpPr/>
          <p:nvPr/>
        </p:nvSpPr>
        <p:spPr>
          <a:xfrm rot="5400000">
            <a:off x="1700784" y="1677924"/>
            <a:ext cx="219456" cy="310896"/>
          </a:xfrm>
          <a:prstGeom prst="triangle">
            <a:avLst/>
          </a:prstGeom>
          <a:solidFill>
            <a:srgbClr val="2A2F3A"/>
          </a:solidFill>
          <a:ln w="12700">
            <a:solidFill>
              <a:srgbClr val="2A2F3A"/>
            </a:solidFill>
            <a:prstDash val="solid"/>
          </a:ln>
        </p:spPr>
      </p:sp>
      <p:sp>
        <p:nvSpPr>
          <p:cNvPr id="6" name="Text 4"/>
          <p:cNvSpPr txBox="1"/>
          <p:nvPr/>
        </p:nvSpPr>
        <p:spPr>
          <a:xfrm>
            <a:off x="54864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Original</a:t>
            </a:r>
            <a:endParaRPr lang="en-US" sz="1200" dirty="0"/>
          </a:p>
        </p:txBody>
      </p:sp>
      <p:sp>
        <p:nvSpPr>
          <p:cNvPr id="7" name="Text 5"/>
          <p:cNvSpPr txBox="1"/>
          <p:nvPr/>
        </p:nvSpPr>
        <p:spPr>
          <a:xfrm>
            <a:off x="54864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policy call every step</a:t>
            </a:r>
            <a:endParaRPr lang="en-US" sz="950" dirty="0"/>
          </a:p>
        </p:txBody>
      </p:sp>
      <p:sp>
        <p:nvSpPr>
          <p:cNvPr id="8" name="Text 6"/>
          <p:cNvSpPr txBox="1"/>
          <p:nvPr/>
        </p:nvSpPr>
        <p:spPr>
          <a:xfrm>
            <a:off x="45720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9" name="Shape 7"/>
          <p:cNvSpPr/>
          <p:nvPr/>
        </p:nvSpPr>
        <p:spPr>
          <a:xfrm>
            <a:off x="3246120" y="960120"/>
            <a:ext cx="2651760" cy="1965960"/>
          </a:xfrm>
          <a:prstGeom prst="roundRect">
            <a:avLst>
              <a:gd name="adj" fmla="val 3721"/>
            </a:avLst>
          </a:prstGeom>
          <a:solidFill>
            <a:srgbClr val="2A2F3A"/>
          </a:solidFill>
          <a:ln w="12700">
            <a:solidFill>
              <a:srgbClr val="8A94A6"/>
            </a:solidFill>
            <a:prstDash val="dash"/>
          </a:ln>
        </p:spPr>
      </p:sp>
      <p:sp>
        <p:nvSpPr>
          <p:cNvPr id="10" name="Shape 8"/>
          <p:cNvSpPr/>
          <p:nvPr/>
        </p:nvSpPr>
        <p:spPr>
          <a:xfrm>
            <a:off x="4297680" y="1559052"/>
            <a:ext cx="548640" cy="548640"/>
          </a:xfrm>
          <a:prstGeom prst="ellipse">
            <a:avLst/>
          </a:prstGeom>
          <a:solidFill>
            <a:srgbClr val="FFFFFF"/>
          </a:solidFill>
          <a:ln w="12700">
            <a:solidFill>
              <a:srgbClr val="FFFFFF"/>
            </a:solidFill>
            <a:prstDash val="solid"/>
          </a:ln>
        </p:spPr>
      </p:sp>
      <p:sp>
        <p:nvSpPr>
          <p:cNvPr id="11" name="Shape 9"/>
          <p:cNvSpPr/>
          <p:nvPr/>
        </p:nvSpPr>
        <p:spPr>
          <a:xfrm rot="5400000">
            <a:off x="4489704" y="1677924"/>
            <a:ext cx="219456" cy="310896"/>
          </a:xfrm>
          <a:prstGeom prst="triangle">
            <a:avLst/>
          </a:prstGeom>
          <a:solidFill>
            <a:srgbClr val="2A2F3A"/>
          </a:solidFill>
          <a:ln w="12700">
            <a:solidFill>
              <a:srgbClr val="2A2F3A"/>
            </a:solidFill>
            <a:prstDash val="solid"/>
          </a:ln>
        </p:spPr>
      </p:sp>
      <p:sp>
        <p:nvSpPr>
          <p:cNvPr id="12" name="Text 10"/>
          <p:cNvSpPr txBox="1"/>
          <p:nvPr/>
        </p:nvSpPr>
        <p:spPr>
          <a:xfrm>
            <a:off x="333756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Action repeat</a:t>
            </a:r>
            <a:endParaRPr lang="en-US" sz="1200" dirty="0"/>
          </a:p>
        </p:txBody>
      </p:sp>
      <p:sp>
        <p:nvSpPr>
          <p:cNvPr id="13" name="Text 11"/>
          <p:cNvSpPr txBox="1"/>
          <p:nvPr/>
        </p:nvSpPr>
        <p:spPr>
          <a:xfrm>
            <a:off x="333756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held actions, episode fails</a:t>
            </a:r>
            <a:endParaRPr lang="en-US" sz="950" dirty="0"/>
          </a:p>
        </p:txBody>
      </p:sp>
      <p:sp>
        <p:nvSpPr>
          <p:cNvPr id="14" name="Text 12"/>
          <p:cNvSpPr txBox="1"/>
          <p:nvPr/>
        </p:nvSpPr>
        <p:spPr>
          <a:xfrm>
            <a:off x="324612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15" name="Shape 13"/>
          <p:cNvSpPr/>
          <p:nvPr/>
        </p:nvSpPr>
        <p:spPr>
          <a:xfrm>
            <a:off x="6035040" y="960120"/>
            <a:ext cx="2651760" cy="1965960"/>
          </a:xfrm>
          <a:prstGeom prst="roundRect">
            <a:avLst>
              <a:gd name="adj" fmla="val 3721"/>
            </a:avLst>
          </a:prstGeom>
          <a:solidFill>
            <a:srgbClr val="2A2F3A"/>
          </a:solidFill>
          <a:ln w="12700">
            <a:solidFill>
              <a:srgbClr val="8A94A6"/>
            </a:solidFill>
            <a:prstDash val="dash"/>
          </a:ln>
        </p:spPr>
      </p:sp>
      <p:sp>
        <p:nvSpPr>
          <p:cNvPr id="16" name="Shape 14"/>
          <p:cNvSpPr/>
          <p:nvPr/>
        </p:nvSpPr>
        <p:spPr>
          <a:xfrm>
            <a:off x="7086600" y="1559052"/>
            <a:ext cx="548640" cy="548640"/>
          </a:xfrm>
          <a:prstGeom prst="ellipse">
            <a:avLst/>
          </a:prstGeom>
          <a:solidFill>
            <a:srgbClr val="FFFFFF"/>
          </a:solidFill>
          <a:ln w="12700">
            <a:solidFill>
              <a:srgbClr val="FFFFFF"/>
            </a:solidFill>
            <a:prstDash val="solid"/>
          </a:ln>
        </p:spPr>
      </p:sp>
      <p:sp>
        <p:nvSpPr>
          <p:cNvPr id="17" name="Shape 15"/>
          <p:cNvSpPr/>
          <p:nvPr/>
        </p:nvSpPr>
        <p:spPr>
          <a:xfrm rot="5400000">
            <a:off x="7278624" y="1677924"/>
            <a:ext cx="219456" cy="310896"/>
          </a:xfrm>
          <a:prstGeom prst="triangle">
            <a:avLst/>
          </a:prstGeom>
          <a:solidFill>
            <a:srgbClr val="2A2F3A"/>
          </a:solidFill>
          <a:ln w="12700">
            <a:solidFill>
              <a:srgbClr val="2A2F3A"/>
            </a:solidFill>
            <a:prstDash val="solid"/>
          </a:ln>
        </p:spPr>
      </p:sp>
      <p:sp>
        <p:nvSpPr>
          <p:cNvPr id="18" name="Text 16"/>
          <p:cNvSpPr txBox="1"/>
          <p:nvPr/>
        </p:nvSpPr>
        <p:spPr>
          <a:xfrm>
            <a:off x="6126480" y="2171700"/>
            <a:ext cx="24688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CLIP: Guarded reuse</a:t>
            </a:r>
            <a:endParaRPr lang="en-US" sz="1200" dirty="0"/>
          </a:p>
        </p:txBody>
      </p:sp>
      <p:sp>
        <p:nvSpPr>
          <p:cNvPr id="19" name="Text 17"/>
          <p:cNvSpPr txBox="1"/>
          <p:nvPr/>
        </p:nvSpPr>
        <p:spPr>
          <a:xfrm>
            <a:off x="6126480" y="2418588"/>
            <a:ext cx="2468880" cy="365760"/>
          </a:xfrm>
          <a:prstGeom prst="rect">
            <a:avLst/>
          </a:prstGeom>
          <a:noFill/>
          <a:ln/>
        </p:spPr>
        <p:txBody>
          <a:bodyPr wrap="square" lIns="0" tIns="0" rIns="0" bIns="0" rtlCol="0" anchor="t"/>
          <a:lstStyle/>
          <a:p>
            <a:pPr algn="ctr" indent="0" marL="0">
              <a:buNone/>
            </a:pPr>
            <a:r>
              <a:rPr lang="en-US" sz="950" dirty="0">
                <a:solidFill>
                  <a:srgbClr val="C9D1DC"/>
                </a:solidFill>
                <a:latin typeface="Arial" pitchFamily="34" charset="0"/>
                <a:ea typeface="Arial" pitchFamily="34" charset="-122"/>
                <a:cs typeface="Arial" pitchFamily="34" charset="-120"/>
              </a:rPr>
              <a:t>calls skipped only when the gates pass</a:t>
            </a:r>
            <a:endParaRPr lang="en-US" sz="950" dirty="0"/>
          </a:p>
        </p:txBody>
      </p:sp>
      <p:sp>
        <p:nvSpPr>
          <p:cNvPr id="20" name="Text 18"/>
          <p:cNvSpPr txBox="1"/>
          <p:nvPr/>
        </p:nvSpPr>
        <p:spPr>
          <a:xfrm>
            <a:off x="6035040" y="2971800"/>
            <a:ext cx="2651760" cy="274320"/>
          </a:xfrm>
          <a:prstGeom prst="rect">
            <a:avLst/>
          </a:prstGeom>
          <a:noFill/>
          <a:ln/>
        </p:spPr>
        <p:txBody>
          <a:bodyPr wrap="square" lIns="0" tIns="0" rIns="0" bIns="0" rtlCol="0" anchor="t"/>
          <a:lstStyle/>
          <a:p>
            <a:pPr algn="ctr" indent="0" marL="0">
              <a:buNone/>
            </a:pPr>
            <a:r>
              <a:rPr lang="en-US" sz="1000" dirty="0">
                <a:solidFill>
                  <a:srgbClr val="5F6B7A"/>
                </a:solidFill>
                <a:latin typeface="Arial" pitchFamily="34" charset="0"/>
                <a:ea typeface="Arial" pitchFamily="34" charset="-122"/>
                <a:cs typeface="Arial" pitchFamily="34" charset="-120"/>
              </a:rPr>
              <a:t>policy calls used: ___</a:t>
            </a:r>
            <a:endParaRPr lang="en-US" sz="1000" dirty="0"/>
          </a:p>
        </p:txBody>
      </p:sp>
      <p:sp>
        <p:nvSpPr>
          <p:cNvPr id="21" name="Shape 19"/>
          <p:cNvSpPr/>
          <p:nvPr/>
        </p:nvSpPr>
        <p:spPr>
          <a:xfrm>
            <a:off x="457200" y="3383280"/>
            <a:ext cx="4023360" cy="457200"/>
          </a:xfrm>
          <a:prstGeom prst="roundRect">
            <a:avLst>
              <a:gd name="adj" fmla="val 20000"/>
            </a:avLst>
          </a:prstGeom>
          <a:solidFill>
            <a:srgbClr val="F6E0DD"/>
          </a:solidFill>
          <a:ln w="12700">
            <a:solidFill>
              <a:srgbClr val="F6E0DD"/>
            </a:solidFill>
            <a:prstDash val="solid"/>
          </a:ln>
        </p:spPr>
      </p:sp>
      <p:sp>
        <p:nvSpPr>
          <p:cNvPr id="22" name="Text 20"/>
          <p:cNvSpPr txBox="1"/>
          <p:nvPr/>
        </p:nvSpPr>
        <p:spPr>
          <a:xfrm>
            <a:off x="457200" y="3383280"/>
            <a:ext cx="4023360" cy="457200"/>
          </a:xfrm>
          <a:prstGeom prst="rect">
            <a:avLst/>
          </a:prstGeom>
          <a:noFill/>
          <a:ln/>
        </p:spPr>
        <p:txBody>
          <a:bodyPr wrap="square" lIns="0" tIns="0" rIns="0" bIns="0" rtlCol="0" anchor="ctr"/>
          <a:lstStyle/>
          <a:p>
            <a:pPr algn="ctr" indent="0" marL="0">
              <a:buNone/>
            </a:pPr>
            <a:r>
              <a:rPr lang="en-US" sz="1050" b="1" dirty="0">
                <a:solidFill>
                  <a:srgbClr val="B03A2E"/>
                </a:solidFill>
                <a:latin typeface="Arial" pitchFamily="34" charset="0"/>
                <a:ea typeface="Arial" pitchFamily="34" charset="-122"/>
                <a:cs typeface="Arial" pitchFamily="34" charset="-120"/>
              </a:rPr>
              <a:t>Action repeat (k = 2, best setting), WidowX: CogACT −38.0 · UniVLA −75.0</a:t>
            </a:r>
            <a:endParaRPr lang="en-US" sz="1050" dirty="0"/>
          </a:p>
        </p:txBody>
      </p:sp>
      <p:sp>
        <p:nvSpPr>
          <p:cNvPr id="23" name="Shape 21"/>
          <p:cNvSpPr/>
          <p:nvPr/>
        </p:nvSpPr>
        <p:spPr>
          <a:xfrm>
            <a:off x="457200" y="3931920"/>
            <a:ext cx="4023360" cy="457200"/>
          </a:xfrm>
          <a:prstGeom prst="roundRect">
            <a:avLst>
              <a:gd name="adj" fmla="val 20000"/>
            </a:avLst>
          </a:prstGeom>
          <a:solidFill>
            <a:srgbClr val="F3F5F7"/>
          </a:solidFill>
          <a:ln w="12700">
            <a:solidFill>
              <a:srgbClr val="F3F5F7"/>
            </a:solidFill>
            <a:prstDash val="solid"/>
          </a:ln>
        </p:spPr>
      </p:sp>
      <p:sp>
        <p:nvSpPr>
          <p:cNvPr id="24" name="Text 22"/>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100" b="1" dirty="0">
                <a:solidFill>
                  <a:srgbClr val="1F2933"/>
                </a:solidFill>
                <a:latin typeface="Arial" pitchFamily="34" charset="0"/>
                <a:ea typeface="Arial" pitchFamily="34" charset="-122"/>
                <a:cs typeface="Arial" pitchFamily="34" charset="-120"/>
              </a:rPr>
              <a:t>Fractal (milder): CogACT −1.2 · SpatialVLA 0.0</a:t>
            </a:r>
            <a:endParaRPr lang="en-US" sz="1100" dirty="0"/>
          </a:p>
        </p:txBody>
      </p:sp>
      <p:sp>
        <p:nvSpPr>
          <p:cNvPr id="25" name="Shape 23"/>
          <p:cNvSpPr/>
          <p:nvPr/>
        </p:nvSpPr>
        <p:spPr>
          <a:xfrm>
            <a:off x="4663440" y="3383280"/>
            <a:ext cx="4023360" cy="457200"/>
          </a:xfrm>
          <a:prstGeom prst="roundRect">
            <a:avLst>
              <a:gd name="adj" fmla="val 20000"/>
            </a:avLst>
          </a:prstGeom>
          <a:solidFill>
            <a:srgbClr val="DDEFEC"/>
          </a:solidFill>
          <a:ln w="12700">
            <a:solidFill>
              <a:srgbClr val="DDEFEC"/>
            </a:solidFill>
            <a:prstDash val="solid"/>
          </a:ln>
        </p:spPr>
      </p:sp>
      <p:sp>
        <p:nvSpPr>
          <p:cNvPr id="26" name="Text 24"/>
          <p:cNvSpPr txBox="1"/>
          <p:nvPr/>
        </p:nvSpPr>
        <p:spPr>
          <a:xfrm>
            <a:off x="4663440" y="3383280"/>
            <a:ext cx="4023360" cy="457200"/>
          </a:xfrm>
          <a:prstGeom prst="rect">
            <a:avLst/>
          </a:prstGeom>
          <a:noFill/>
          <a:ln/>
        </p:spPr>
        <p:txBody>
          <a:bodyPr wrap="square" lIns="0" tIns="0" rIns="0" bIns="0" rtlCol="0" anchor="ctr"/>
          <a:lstStyle/>
          <a:p>
            <a:pPr algn="ctr" indent="0" marL="0">
              <a:buNone/>
            </a:pPr>
            <a:r>
              <a:rPr lang="en-US" sz="1100" b="1" dirty="0">
                <a:solidFill>
                  <a:srgbClr val="1B7F79"/>
                </a:solidFill>
                <a:latin typeface="Arial" pitchFamily="34" charset="0"/>
                <a:ea typeface="Arial" pitchFamily="34" charset="-122"/>
                <a:cs typeface="Arial" pitchFamily="34" charset="-120"/>
              </a:rPr>
              <a:t>Guarded reuse, SmolVLA LIBERO Long: 289.5 → 268.9 ms</a:t>
            </a:r>
            <a:endParaRPr lang="en-US" sz="1100" dirty="0"/>
          </a:p>
        </p:txBody>
      </p:sp>
      <p:sp>
        <p:nvSpPr>
          <p:cNvPr id="27" name="Shape 25"/>
          <p:cNvSpPr/>
          <p:nvPr/>
        </p:nvSpPr>
        <p:spPr>
          <a:xfrm>
            <a:off x="4663440" y="3931920"/>
            <a:ext cx="4023360" cy="457200"/>
          </a:xfrm>
          <a:prstGeom prst="roundRect">
            <a:avLst>
              <a:gd name="adj" fmla="val 20000"/>
            </a:avLst>
          </a:prstGeom>
          <a:solidFill>
            <a:srgbClr val="DFF1E6"/>
          </a:solidFill>
          <a:ln w="12700">
            <a:solidFill>
              <a:srgbClr val="DFF1E6"/>
            </a:solidFill>
            <a:prstDash val="solid"/>
          </a:ln>
        </p:spPr>
      </p:sp>
      <p:sp>
        <p:nvSpPr>
          <p:cNvPr id="28" name="Text 26"/>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100" b="1" dirty="0">
                <a:solidFill>
                  <a:srgbClr val="2E8B57"/>
                </a:solidFill>
                <a:latin typeface="Arial" pitchFamily="34" charset="0"/>
                <a:ea typeface="Arial" pitchFamily="34" charset="-122"/>
                <a:cs typeface="Arial" pitchFamily="34" charset="-120"/>
              </a:rPr>
              <a:t>success unchanged at 42.0 %</a:t>
            </a:r>
            <a:endParaRPr lang="en-US" sz="1100" dirty="0"/>
          </a:p>
        </p:txBody>
      </p:sp>
      <p:sp>
        <p:nvSpPr>
          <p:cNvPr id="29" name="Text 27"/>
          <p:cNvSpPr txBox="1"/>
          <p:nvPr/>
        </p:nvSpPr>
        <p:spPr>
          <a:xfrm>
            <a:off x="457200" y="4434840"/>
            <a:ext cx="8229600" cy="27432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Same CogACT WidowX episode and initial state in all three panels. Deltas from Tables I and II, best setting per trick.</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Does the effect transfer across models?</a:t>
            </a:r>
            <a:endParaRPr lang="en-US" sz="2600" dirty="0"/>
          </a:p>
        </p:txBody>
      </p:sp>
      <p:pic>
        <p:nvPicPr>
          <p:cNvPr id="3" name="Image 0" descr="/tmp/claude-0/-home-user-BiVLA/4327cefa-ba5d-5e2e-9d87-c73dd3a8ccbb/scratchpad/video_ppt/assets/consistency.png">    </p:cNvPr>
          <p:cNvPicPr>
            <a:picLocks noChangeAspect="1"/>
          </p:cNvPicPr>
          <p:nvPr/>
        </p:nvPicPr>
        <p:blipFill>
          <a:blip r:embed="rId1"/>
          <a:stretch>
            <a:fillRect/>
          </a:stretch>
        </p:blipFill>
        <p:spPr>
          <a:xfrm>
            <a:off x="457200" y="914400"/>
            <a:ext cx="5120640" cy="2523744"/>
          </a:xfrm>
          <a:prstGeom prst="rect">
            <a:avLst/>
          </a:prstGeom>
        </p:spPr>
      </p:pic>
      <p:sp>
        <p:nvSpPr>
          <p:cNvPr id="4" name="Text 1"/>
          <p:cNvSpPr txBox="1"/>
          <p:nvPr/>
        </p:nvSpPr>
        <p:spPr>
          <a:xfrm>
            <a:off x="457200" y="3474720"/>
            <a:ext cx="5120640" cy="457200"/>
          </a:xfrm>
          <a:prstGeom prst="rect">
            <a:avLst/>
          </a:prstGeom>
          <a:noFill/>
          <a:ln/>
        </p:spPr>
        <p:txBody>
          <a:bodyPr wrap="square" lIns="0" tIns="0" rIns="0" bIns="0" rtlCol="0" anchor="t"/>
          <a:lstStyle/>
          <a:p>
            <a:pPr algn="l" indent="0" marL="0">
              <a:buNone/>
            </a:pPr>
            <a:r>
              <a:rPr lang="en-US" sz="1000" dirty="0">
                <a:solidFill>
                  <a:srgbClr val="5F6B7A"/>
                </a:solidFill>
                <a:latin typeface="Arial" pitchFamily="34" charset="0"/>
                <a:ea typeface="Arial" pitchFamily="34" charset="-122"/>
                <a:cs typeface="Arial" pitchFamily="34" charset="-120"/>
              </a:rPr>
              <a:t>For each setting: how many of 13 backbone and environment pairs got lower, unchanged, or higher success. LIBERO episodes are pooled over the four suites, so 13 pairs stand for the 22.</a:t>
            </a:r>
            <a:endParaRPr lang="en-US" sz="1000" dirty="0"/>
          </a:p>
        </p:txBody>
      </p:sp>
      <p:sp>
        <p:nvSpPr>
          <p:cNvPr id="5" name="Shape 2"/>
          <p:cNvSpPr/>
          <p:nvPr/>
        </p:nvSpPr>
        <p:spPr>
          <a:xfrm>
            <a:off x="5852160" y="1005840"/>
            <a:ext cx="1234440" cy="365760"/>
          </a:xfrm>
          <a:prstGeom prst="roundRect">
            <a:avLst>
              <a:gd name="adj" fmla="val 25000"/>
            </a:avLst>
          </a:prstGeom>
          <a:solidFill>
            <a:srgbClr val="16213A"/>
          </a:solidFill>
          <a:ln w="12700">
            <a:solidFill>
              <a:srgbClr val="16213A"/>
            </a:solidFill>
            <a:prstDash val="solid"/>
          </a:ln>
        </p:spPr>
      </p:sp>
      <p:sp>
        <p:nvSpPr>
          <p:cNvPr id="6" name="Text 3"/>
          <p:cNvSpPr txBox="1"/>
          <p:nvPr/>
        </p:nvSpPr>
        <p:spPr>
          <a:xfrm>
            <a:off x="5852160" y="1005840"/>
            <a:ext cx="1234440" cy="365760"/>
          </a:xfrm>
          <a:prstGeom prst="rect">
            <a:avLst/>
          </a:prstGeom>
          <a:noFill/>
          <a:ln/>
        </p:spPr>
        <p:txBody>
          <a:bodyPr wrap="square" lIns="0" tIns="0" rIns="0" bIns="0" rtlCol="0" anchor="ctr"/>
          <a:lstStyle/>
          <a:p>
            <a:pPr algn="ctr" indent="0" marL="0">
              <a:buNone/>
            </a:pPr>
            <a:r>
              <a:rPr lang="en-US" sz="1100" b="1" dirty="0">
                <a:solidFill>
                  <a:srgbClr val="F5F7FA"/>
                </a:solidFill>
                <a:latin typeface="Arial" pitchFamily="34" charset="0"/>
                <a:ea typeface="Arial" pitchFamily="34" charset="-122"/>
                <a:cs typeface="Arial" pitchFamily="34" charset="-120"/>
              </a:rPr>
              <a:t>Q3  Transfer</a:t>
            </a:r>
            <a:endParaRPr lang="en-US" sz="1100" dirty="0"/>
          </a:p>
        </p:txBody>
      </p:sp>
      <p:sp>
        <p:nvSpPr>
          <p:cNvPr id="7" name="Text 4"/>
          <p:cNvSpPr txBox="1"/>
          <p:nvPr/>
        </p:nvSpPr>
        <p:spPr>
          <a:xfrm>
            <a:off x="5852160" y="1417320"/>
            <a:ext cx="2834640" cy="502920"/>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Effects are a joint property of the trick, the backbone, and the task distribution.</a:t>
            </a:r>
            <a:endParaRPr lang="en-US" sz="1200" dirty="0"/>
          </a:p>
        </p:txBody>
      </p:sp>
      <p:sp>
        <p:nvSpPr>
          <p:cNvPr id="8" name="Shape 5"/>
          <p:cNvSpPr/>
          <p:nvPr/>
        </p:nvSpPr>
        <p:spPr>
          <a:xfrm>
            <a:off x="5852160" y="2011680"/>
            <a:ext cx="2834640" cy="502920"/>
          </a:xfrm>
          <a:prstGeom prst="roundRect">
            <a:avLst>
              <a:gd name="adj" fmla="val 18182"/>
            </a:avLst>
          </a:prstGeom>
          <a:solidFill>
            <a:srgbClr val="F9E6D8"/>
          </a:solidFill>
          <a:ln w="12700">
            <a:solidFill>
              <a:srgbClr val="F9E6D8"/>
            </a:solidFill>
            <a:prstDash val="solid"/>
          </a:ln>
        </p:spPr>
      </p:sp>
      <p:sp>
        <p:nvSpPr>
          <p:cNvPr id="9" name="Text 6"/>
          <p:cNvSpPr txBox="1"/>
          <p:nvPr/>
        </p:nvSpPr>
        <p:spPr>
          <a:xfrm>
            <a:off x="5852160" y="201168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Depth pruning, WidowX: CogACT +9.5 · MiniVLA −17.5</a:t>
            </a:r>
            <a:endParaRPr lang="en-US" sz="1050" dirty="0"/>
          </a:p>
        </p:txBody>
      </p:sp>
      <p:sp>
        <p:nvSpPr>
          <p:cNvPr id="10" name="Shape 7"/>
          <p:cNvSpPr/>
          <p:nvPr/>
        </p:nvSpPr>
        <p:spPr>
          <a:xfrm>
            <a:off x="5852160" y="2606040"/>
            <a:ext cx="2834640" cy="502920"/>
          </a:xfrm>
          <a:prstGeom prst="roundRect">
            <a:avLst>
              <a:gd name="adj" fmla="val 18182"/>
            </a:avLst>
          </a:prstGeom>
          <a:solidFill>
            <a:srgbClr val="F9E6D8"/>
          </a:solidFill>
          <a:ln w="12700">
            <a:solidFill>
              <a:srgbClr val="F9E6D8"/>
            </a:solidFill>
            <a:prstDash val="solid"/>
          </a:ln>
        </p:spPr>
      </p:sp>
      <p:sp>
        <p:nvSpPr>
          <p:cNvPr id="11" name="Text 8"/>
          <p:cNvSpPr txBox="1"/>
          <p:nvPr/>
        </p:nvSpPr>
        <p:spPr>
          <a:xfrm>
            <a:off x="5852160" y="2606040"/>
            <a:ext cx="2834640" cy="502920"/>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Foveation, LIBERO Goal: UniVLA +7.0 · SmolVLA −13.0</a:t>
            </a:r>
            <a:endParaRPr lang="en-US" sz="1050" dirty="0"/>
          </a:p>
        </p:txBody>
      </p:sp>
      <p:sp>
        <p:nvSpPr>
          <p:cNvPr id="12" name="Shape 9"/>
          <p:cNvSpPr/>
          <p:nvPr/>
        </p:nvSpPr>
        <p:spPr>
          <a:xfrm>
            <a:off x="5852160" y="3200400"/>
            <a:ext cx="2834640" cy="566928"/>
          </a:xfrm>
          <a:prstGeom prst="roundRect">
            <a:avLst>
              <a:gd name="adj" fmla="val 16129"/>
            </a:avLst>
          </a:prstGeom>
          <a:solidFill>
            <a:srgbClr val="F9E6D8"/>
          </a:solidFill>
          <a:ln w="12700">
            <a:solidFill>
              <a:srgbClr val="F9E6D8"/>
            </a:solidFill>
            <a:prstDash val="solid"/>
          </a:ln>
        </p:spPr>
      </p:sp>
      <p:sp>
        <p:nvSpPr>
          <p:cNvPr id="13" name="Text 10"/>
          <p:cNvSpPr txBox="1"/>
          <p:nvPr/>
        </p:nvSpPr>
        <p:spPr>
          <a:xfrm>
            <a:off x="5852160" y="3200400"/>
            <a:ext cx="2834640" cy="566928"/>
          </a:xfrm>
          <a:prstGeom prst="rect">
            <a:avLst/>
          </a:prstGeom>
          <a:noFill/>
          <a:ln/>
        </p:spPr>
        <p:txBody>
          <a:bodyPr wrap="square" lIns="0" tIns="0" rIns="0" bIns="0" rtlCol="0" anchor="ctr"/>
          <a:lstStyle/>
          <a:p>
            <a:pPr algn="ctr" indent="0" marL="0">
              <a:buNone/>
            </a:pPr>
            <a:r>
              <a:rPr lang="en-US" sz="1050" b="1" dirty="0">
                <a:solidFill>
                  <a:srgbClr val="C8641E"/>
                </a:solidFill>
                <a:latin typeface="Arial" pitchFamily="34" charset="0"/>
                <a:ea typeface="Arial" pitchFamily="34" charset="-122"/>
                <a:cs typeface="Arial" pitchFamily="34" charset="-120"/>
              </a:rPr>
              <a:t>Action repeat: often harmful on WidowX, milder on Fractal for some backbones</a:t>
            </a:r>
            <a:endParaRPr lang="en-US" sz="1050" dirty="0"/>
          </a:p>
        </p:txBody>
      </p:sp>
      <p:sp>
        <p:nvSpPr>
          <p:cNvPr id="14" name="Shape 11"/>
          <p:cNvSpPr/>
          <p:nvPr/>
        </p:nvSpPr>
        <p:spPr>
          <a:xfrm>
            <a:off x="457200" y="4069080"/>
            <a:ext cx="8229600" cy="548640"/>
          </a:xfrm>
          <a:prstGeom prst="roundRect">
            <a:avLst>
              <a:gd name="adj" fmla="val 16667"/>
            </a:avLst>
          </a:prstGeom>
          <a:solidFill>
            <a:srgbClr val="16213A"/>
          </a:solidFill>
          <a:ln w="12700">
            <a:solidFill>
              <a:srgbClr val="16213A"/>
            </a:solidFill>
            <a:prstDash val="solid"/>
          </a:ln>
        </p:spPr>
      </p:sp>
      <p:sp>
        <p:nvSpPr>
          <p:cNvPr id="15" name="Text 12"/>
          <p:cNvSpPr txBox="1"/>
          <p:nvPr/>
        </p:nvSpPr>
        <p:spPr>
          <a:xfrm>
            <a:off x="548640" y="4069080"/>
            <a:ext cx="8046720" cy="54864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No trick is plug-and-play: each one needs matched evaluation under the target backbone and environment.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indent="0" marL="0">
              <a:buNone/>
            </a:pPr>
            <a:r>
              <a:rPr lang="en-US" sz="2600" b="1" dirty="0">
                <a:solidFill>
                  <a:srgbClr val="1F2933"/>
                </a:solidFill>
                <a:latin typeface="Arial" pitchFamily="34" charset="0"/>
                <a:ea typeface="Arial" pitchFamily="34" charset="-122"/>
                <a:cs typeface="Arial" pitchFamily="34" charset="-120"/>
              </a:rPr>
              <a:t>Takeaways</a:t>
            </a:r>
            <a:endParaRPr lang="en-US" sz="2600" dirty="0"/>
          </a:p>
        </p:txBody>
      </p:sp>
      <p:sp>
        <p:nvSpPr>
          <p:cNvPr id="3" name="Shape 1"/>
          <p:cNvSpPr/>
          <p:nvPr/>
        </p:nvSpPr>
        <p:spPr>
          <a:xfrm>
            <a:off x="457200" y="1005840"/>
            <a:ext cx="4023360" cy="1188720"/>
          </a:xfrm>
          <a:prstGeom prst="roundRect">
            <a:avLst>
              <a:gd name="adj" fmla="val 9231"/>
            </a:avLst>
          </a:prstGeom>
          <a:solidFill>
            <a:srgbClr val="DFF1E6"/>
          </a:solidFill>
          <a:ln w="9525">
            <a:solidFill>
              <a:srgbClr val="DFF1E6"/>
            </a:solidFill>
            <a:prstDash val="solid"/>
          </a:ln>
        </p:spPr>
      </p:sp>
      <p:sp>
        <p:nvSpPr>
          <p:cNvPr id="4" name="Text 2"/>
          <p:cNvSpPr txBox="1"/>
          <p:nvPr/>
        </p:nvSpPr>
        <p:spPr>
          <a:xfrm>
            <a:off x="640080" y="1115568"/>
            <a:ext cx="3657600" cy="365760"/>
          </a:xfrm>
          <a:prstGeom prst="rect">
            <a:avLst/>
          </a:prstGeom>
          <a:noFill/>
          <a:ln/>
        </p:spPr>
        <p:txBody>
          <a:bodyPr wrap="square" lIns="0" tIns="0" rIns="0" bIns="0" rtlCol="0" anchor="ctr"/>
          <a:lstStyle/>
          <a:p>
            <a:pPr indent="0" marL="0">
              <a:buNone/>
            </a:pPr>
            <a:r>
              <a:rPr lang="en-US" sz="1600" b="1" dirty="0">
                <a:solidFill>
                  <a:srgbClr val="2E8B57"/>
                </a:solidFill>
                <a:latin typeface="Arial" pitchFamily="34" charset="0"/>
                <a:ea typeface="Arial" pitchFamily="34" charset="-122"/>
                <a:cs typeface="Arial" pitchFamily="34" charset="-120"/>
              </a:rPr>
              <a:t>Guarded reuse</a:t>
            </a:r>
            <a:endParaRPr lang="en-US" sz="1600" dirty="0"/>
          </a:p>
        </p:txBody>
      </p:sp>
      <p:sp>
        <p:nvSpPr>
          <p:cNvPr id="5" name="Text 3"/>
          <p:cNvSpPr txBox="1"/>
          <p:nvPr/>
        </p:nvSpPr>
        <p:spPr>
          <a:xfrm>
            <a:off x="64008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Most reliable. Preserves success, modest speedup when the gates open.</a:t>
            </a:r>
            <a:endParaRPr lang="en-US" sz="1250" dirty="0"/>
          </a:p>
        </p:txBody>
      </p:sp>
      <p:sp>
        <p:nvSpPr>
          <p:cNvPr id="6" name="Shape 4"/>
          <p:cNvSpPr/>
          <p:nvPr/>
        </p:nvSpPr>
        <p:spPr>
          <a:xfrm>
            <a:off x="4663440" y="1005840"/>
            <a:ext cx="4023360" cy="1188720"/>
          </a:xfrm>
          <a:prstGeom prst="roundRect">
            <a:avLst>
              <a:gd name="adj" fmla="val 9231"/>
            </a:avLst>
          </a:prstGeom>
          <a:solidFill>
            <a:srgbClr val="F9E6D8"/>
          </a:solidFill>
          <a:ln w="9525">
            <a:solidFill>
              <a:srgbClr val="F9E6D8"/>
            </a:solidFill>
            <a:prstDash val="solid"/>
          </a:ln>
        </p:spPr>
      </p:sp>
      <p:sp>
        <p:nvSpPr>
          <p:cNvPr id="7" name="Text 5"/>
          <p:cNvSpPr txBox="1"/>
          <p:nvPr/>
        </p:nvSpPr>
        <p:spPr>
          <a:xfrm>
            <a:off x="4846320" y="1115568"/>
            <a:ext cx="3657600" cy="365760"/>
          </a:xfrm>
          <a:prstGeom prst="rect">
            <a:avLst/>
          </a:prstGeom>
          <a:noFill/>
          <a:ln/>
        </p:spPr>
        <p:txBody>
          <a:bodyPr wrap="square" lIns="0" tIns="0" rIns="0" bIns="0" rtlCol="0" anchor="ctr"/>
          <a:lstStyle/>
          <a:p>
            <a:pPr indent="0" marL="0">
              <a:buNone/>
            </a:pPr>
            <a:r>
              <a:rPr lang="en-US" sz="1600" b="1" dirty="0">
                <a:solidFill>
                  <a:srgbClr val="C8641E"/>
                </a:solidFill>
                <a:latin typeface="Arial" pitchFamily="34" charset="0"/>
                <a:ea typeface="Arial" pitchFamily="34" charset="-122"/>
                <a:cs typeface="Arial" pitchFamily="34" charset="-120"/>
              </a:rPr>
              <a:t>Action repeat</a:t>
            </a:r>
            <a:endParaRPr lang="en-US" sz="1600" dirty="0"/>
          </a:p>
        </p:txBody>
      </p:sp>
      <p:sp>
        <p:nvSpPr>
          <p:cNvPr id="8" name="Text 6"/>
          <p:cNvSpPr txBox="1"/>
          <p:nvPr/>
        </p:nvSpPr>
        <p:spPr>
          <a:xfrm>
            <a:off x="4846320" y="14813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Largest speedup, but the risk of long open-loop execution.</a:t>
            </a:r>
            <a:endParaRPr lang="en-US" sz="1250" dirty="0"/>
          </a:p>
        </p:txBody>
      </p:sp>
      <p:sp>
        <p:nvSpPr>
          <p:cNvPr id="9" name="Shape 7"/>
          <p:cNvSpPr/>
          <p:nvPr/>
        </p:nvSpPr>
        <p:spPr>
          <a:xfrm>
            <a:off x="457200" y="2377440"/>
            <a:ext cx="4023360" cy="1188720"/>
          </a:xfrm>
          <a:prstGeom prst="roundRect">
            <a:avLst>
              <a:gd name="adj" fmla="val 9231"/>
            </a:avLst>
          </a:prstGeom>
          <a:solidFill>
            <a:srgbClr val="DDEFEC"/>
          </a:solidFill>
          <a:ln w="9525">
            <a:solidFill>
              <a:srgbClr val="DDEFEC"/>
            </a:solidFill>
            <a:prstDash val="solid"/>
          </a:ln>
        </p:spPr>
      </p:sp>
      <p:sp>
        <p:nvSpPr>
          <p:cNvPr id="10" name="Text 8"/>
          <p:cNvSpPr txBox="1"/>
          <p:nvPr/>
        </p:nvSpPr>
        <p:spPr>
          <a:xfrm>
            <a:off x="640080" y="2487168"/>
            <a:ext cx="3657600" cy="365760"/>
          </a:xfrm>
          <a:prstGeom prst="rect">
            <a:avLst/>
          </a:prstGeom>
          <a:noFill/>
          <a:ln/>
        </p:spPr>
        <p:txBody>
          <a:bodyPr wrap="square" lIns="0" tIns="0" rIns="0" bIns="0" rtlCol="0" anchor="ctr"/>
          <a:lstStyle/>
          <a:p>
            <a:pPr indent="0" marL="0">
              <a:buNone/>
            </a:pPr>
            <a:r>
              <a:rPr lang="en-US" sz="1600" b="1" dirty="0">
                <a:solidFill>
                  <a:srgbClr val="1B7F79"/>
                </a:solidFill>
                <a:latin typeface="Arial" pitchFamily="34" charset="0"/>
                <a:ea typeface="Arial" pitchFamily="34" charset="-122"/>
                <a:cs typeface="Arial" pitchFamily="34" charset="-120"/>
              </a:rPr>
              <a:t>Depth pruning</a:t>
            </a:r>
            <a:endParaRPr lang="en-US" sz="1600" dirty="0"/>
          </a:p>
        </p:txBody>
      </p:sp>
      <p:sp>
        <p:nvSpPr>
          <p:cNvPr id="11" name="Text 9"/>
          <p:cNvSpPr txBox="1"/>
          <p:nvPr/>
        </p:nvSpPr>
        <p:spPr>
          <a:xfrm>
            <a:off x="64008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Decoder-level savings, benefit depends on the backbone.</a:t>
            </a:r>
            <a:endParaRPr lang="en-US" sz="1250" dirty="0"/>
          </a:p>
        </p:txBody>
      </p:sp>
      <p:sp>
        <p:nvSpPr>
          <p:cNvPr id="12" name="Shape 10"/>
          <p:cNvSpPr/>
          <p:nvPr/>
        </p:nvSpPr>
        <p:spPr>
          <a:xfrm>
            <a:off x="4663440" y="2377440"/>
            <a:ext cx="4023360" cy="1188720"/>
          </a:xfrm>
          <a:prstGeom prst="roundRect">
            <a:avLst>
              <a:gd name="adj" fmla="val 9231"/>
            </a:avLst>
          </a:prstGeom>
          <a:solidFill>
            <a:srgbClr val="E1EAF7"/>
          </a:solidFill>
          <a:ln w="9525">
            <a:solidFill>
              <a:srgbClr val="E1EAF7"/>
            </a:solidFill>
            <a:prstDash val="solid"/>
          </a:ln>
        </p:spPr>
      </p:sp>
      <p:sp>
        <p:nvSpPr>
          <p:cNvPr id="13" name="Text 11"/>
          <p:cNvSpPr txBox="1"/>
          <p:nvPr/>
        </p:nvSpPr>
        <p:spPr>
          <a:xfrm>
            <a:off x="4846320" y="2487168"/>
            <a:ext cx="3657600" cy="365760"/>
          </a:xfrm>
          <a:prstGeom prst="rect">
            <a:avLst/>
          </a:prstGeom>
          <a:noFill/>
          <a:ln/>
        </p:spPr>
        <p:txBody>
          <a:bodyPr wrap="square" lIns="0" tIns="0" rIns="0" bIns="0" rtlCol="0" anchor="ctr"/>
          <a:lstStyle/>
          <a:p>
            <a:pPr indent="0" marL="0">
              <a:buNone/>
            </a:pPr>
            <a:r>
              <a:rPr lang="en-US" sz="1600" b="1" dirty="0">
                <a:solidFill>
                  <a:srgbClr val="2F6DB5"/>
                </a:solidFill>
                <a:latin typeface="Arial" pitchFamily="34" charset="0"/>
                <a:ea typeface="Arial" pitchFamily="34" charset="-122"/>
                <a:cs typeface="Arial" pitchFamily="34" charset="-120"/>
              </a:rPr>
              <a:t>Foveation · Temporal fusion</a:t>
            </a:r>
            <a:endParaRPr lang="en-US" sz="1600" dirty="0"/>
          </a:p>
        </p:txBody>
      </p:sp>
      <p:sp>
        <p:nvSpPr>
          <p:cNvPr id="14" name="Text 12"/>
          <p:cNvSpPr txBox="1"/>
          <p:nvPr/>
        </p:nvSpPr>
        <p:spPr>
          <a:xfrm>
            <a:off x="4846320" y="2852928"/>
            <a:ext cx="3657600" cy="64008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Test how much the visual representation can change while the policy stays stable.</a:t>
            </a:r>
            <a:endParaRPr lang="en-US" sz="1250" dirty="0"/>
          </a:p>
        </p:txBody>
      </p:sp>
      <p:sp>
        <p:nvSpPr>
          <p:cNvPr id="15" name="Shape 13"/>
          <p:cNvSpPr/>
          <p:nvPr/>
        </p:nvSpPr>
        <p:spPr>
          <a:xfrm>
            <a:off x="457200" y="3886200"/>
            <a:ext cx="8229600" cy="731520"/>
          </a:xfrm>
          <a:prstGeom prst="roundRect">
            <a:avLst>
              <a:gd name="adj" fmla="val 12500"/>
            </a:avLst>
          </a:prstGeom>
          <a:solidFill>
            <a:srgbClr val="16213A"/>
          </a:solidFill>
          <a:ln w="12700">
            <a:solidFill>
              <a:srgbClr val="16213A"/>
            </a:solidFill>
            <a:prstDash val="solid"/>
          </a:ln>
        </p:spPr>
      </p:sp>
      <p:sp>
        <p:nvSpPr>
          <p:cNvPr id="16" name="Text 14"/>
          <p:cNvSpPr txBox="1"/>
          <p:nvPr/>
        </p:nvSpPr>
        <p:spPr>
          <a:xfrm>
            <a:off x="640080" y="3886200"/>
            <a:ext cx="7863840" cy="73152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VLA efficiency is policy- and environment-dependent. Evaluate every trick under the target backbone and environment before applying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 of Tricks for Training-Free VLA Models, accompanying video (v2)</dc:title>
  <dc:subject>PptxGenJS Presentation</dc:subject>
  <dc:creator>PptxGenJS</dc:creator>
  <cp:lastModifiedBy>PptxGenJS</cp:lastModifiedBy>
  <cp:revision>1</cp:revision>
  <dcterms:created xsi:type="dcterms:W3CDTF">2026-09-20T08:27:37Z</dcterms:created>
  <dcterms:modified xsi:type="dcterms:W3CDTF">2026-09-20T08:27:37Z</dcterms:modified>
</cp:coreProperties>
</file>