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control step runs a vision encoder and a language backbone. Training-free tricks promise cheaper inference, but each is reported on one model and one benchmark. Do the gains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11 s  |  26 words (2.4 w/s)
NARRATION:
Trick three, depth pruning. Decoder blocks that barely change their hidden states are removed, one, two, or four of them.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Fig. 4.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Before rendering, fill the three "policy calls used" counters from that episode: original = number of steps, k = 4 = about steps / 4, guarded = steps minus skipped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(Project Page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4"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5"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Coloured boxes are where the five tricks enter; the visual encoder and the action decoder run at every step.</a:t>
            </a:r>
            <a:endParaRPr lang="en-US" sz="1100" dirty="0"/>
          </a:p>
        </p:txBody>
      </p:sp>
      <p:sp>
        <p:nvSpPr>
          <p:cNvPr id="6"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Hundreds of milliseconds per step, which limits how often the policy can observe, decide, and correct.</a:t>
            </a:r>
            <a:endParaRPr lang="en-US" sz="1400" dirty="0"/>
          </a:p>
        </p:txBody>
      </p:sp>
      <p:sp>
        <p:nvSpPr>
          <p:cNvPr id="7"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Training-free tricks are reported one at a time. </a:t>
            </a:r>
            <a:pPr indent="0" marL="0">
              <a:buNone/>
            </a:pPr>
            <a:r>
              <a:rPr lang="en-US" sz="1400" dirty="0">
                <a:solidFill>
                  <a:srgbClr val="1F2933"/>
                </a:solidFill>
                <a:latin typeface="Arial" pitchFamily="34" charset="0"/>
                <a:ea typeface="Arial" pitchFamily="34" charset="-122"/>
                <a:cs typeface="Arial" pitchFamily="34" charset="-120"/>
              </a:rPr>
              <a:t>Foveation, action repeat, depth pruning, guarded reuse, temporal fusion: each on one backbone, one benchmark, one implementation.</a:t>
            </a:r>
            <a:endParaRPr lang="en-US" sz="1400" dirty="0"/>
          </a:p>
        </p:txBody>
      </p:sp>
      <p:sp>
        <p:nvSpPr>
          <p:cNvPr id="8"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9"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3"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5"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6"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 k = 4</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6"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the 1, 2, or 4 lowest; none adjacent, first and last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6"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entropy, or language attention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7" name="Image 1" descr="/tmp/claude-0/-home-user-BiVLA/4327cefa-ba5d-5e2e-9d87-c73dd3a8ccbb/scratchpad/video_ppt/assets/m_cache.png">    </p:cNvPr>
          <p:cNvPicPr>
            <a:picLocks noChangeAspect="1"/>
          </p:cNvPicPr>
          <p:nvPr/>
        </p:nvPicPr>
        <p:blipFill>
          <a:blip r:embed="rId2"/>
          <a:stretch>
            <a:fillRect/>
          </a:stretch>
        </p:blipFill>
        <p:spPr>
          <a:xfrm>
            <a:off x="457200" y="2971800"/>
            <a:ext cx="2331720" cy="1426464"/>
          </a:xfrm>
          <a:prstGeom prst="rect">
            <a:avLst/>
          </a:prstGeom>
        </p:spPr>
      </p:pic>
      <p:sp>
        <p:nvSpPr>
          <p:cNvPr id="8" name="Text 4"/>
          <p:cNvSpPr txBox="1"/>
          <p:nvPr/>
        </p:nvSpPr>
        <p:spPr>
          <a:xfrm>
            <a:off x="457200" y="4480560"/>
            <a:ext cx="2377440" cy="27432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9"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0"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1"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2"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3"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4"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5"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6"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7"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8"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9"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0"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all paired with the original</a:t>
            </a:r>
            <a:endParaRPr lang="en-US" sz="1050" dirty="0"/>
          </a:p>
        </p:txBody>
      </p:sp>
      <p:sp>
        <p:nvSpPr>
          <p:cNvPr id="11"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3"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4"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7"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9"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3"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5"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7"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8"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19"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0"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1"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2"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3"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4"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5"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6"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7"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8"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29"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3"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4" name="Shape 1"/>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5" name="Text 2"/>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6" name="Shape 3"/>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7" name="Text 4"/>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8" name="Shape 5"/>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9" name="Text 6"/>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0" name="Text 7"/>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3" name="Shape 1"/>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4" name="Shape 2"/>
          <p:cNvSpPr/>
          <p:nvPr/>
        </p:nvSpPr>
        <p:spPr>
          <a:xfrm>
            <a:off x="1508760" y="176479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7" name="Text 5"/>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8" name="Shape 6"/>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9" name="Shape 7"/>
          <p:cNvSpPr/>
          <p:nvPr/>
        </p:nvSpPr>
        <p:spPr>
          <a:xfrm>
            <a:off x="4297680" y="1764792"/>
            <a:ext cx="548640" cy="548640"/>
          </a:xfrm>
          <a:prstGeom prst="ellipse">
            <a:avLst/>
          </a:prstGeom>
          <a:solidFill>
            <a:srgbClr val="FFFFFF"/>
          </a:solidFill>
          <a:ln w="12700">
            <a:solidFill>
              <a:srgbClr val="FFFFFF"/>
            </a:solidFill>
            <a:prstDash val="solid"/>
          </a:ln>
        </p:spPr>
      </p:sp>
      <p:sp>
        <p:nvSpPr>
          <p:cNvPr id="10" name="Shape 8"/>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1" name="Text 9"/>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2" name="Text 10"/>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3" name="Text 11"/>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4" name="Shape 12"/>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5" name="Text 13"/>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6" name="Shape 14"/>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7" name="Text 15"/>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8" name="Shape 16"/>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19" name="Text 17"/>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0" name="Shape 18"/>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1" name="Text 19"/>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2" name="Shape 20"/>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3" name="Text 21"/>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3" name="Image 0" descr="/tmp/claude-0/-home-user-BiVLA/4327cefa-ba5d-5e2e-9d87-c73dd3a8ccbb/scratchpad/video_ppt/assets/fig4_tradeoff_row.png">    </p:cNvPr>
          <p:cNvPicPr>
            <a:picLocks noChangeAspect="1"/>
          </p:cNvPicPr>
          <p:nvPr/>
        </p:nvPicPr>
        <p:blipFill>
          <a:blip r:embed="rId1"/>
          <a:stretch>
            <a:fillRect/>
          </a:stretch>
        </p:blipFill>
        <p:spPr>
          <a:xfrm>
            <a:off x="822960" y="868680"/>
            <a:ext cx="7498080" cy="2551176"/>
          </a:xfrm>
          <a:prstGeom prst="rect">
            <a:avLst/>
          </a:prstGeom>
        </p:spPr>
      </p:pic>
      <p:sp>
        <p:nvSpPr>
          <p:cNvPr id="4" name="Text 1"/>
          <p:cNvSpPr txBox="1"/>
          <p:nvPr/>
        </p:nvSpPr>
        <p:spPr>
          <a:xfrm>
            <a:off x="457200" y="3456432"/>
            <a:ext cx="8229600" cy="32004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Six WidowX backbones, left to right: CogACT, CronusVLA, MiniVLA, OpenVLA, SpatialVLA, UniVLA.  Star = original, shaded = faster and no worse, colour = trick, symbol = setting.</a:t>
            </a:r>
            <a:endParaRPr lang="en-US" sz="1000" dirty="0"/>
          </a:p>
        </p:txBody>
      </p:sp>
      <p:sp>
        <p:nvSpPr>
          <p:cNvPr id="5" name="Shape 2"/>
          <p:cNvSpPr/>
          <p:nvPr/>
        </p:nvSpPr>
        <p:spPr>
          <a:xfrm>
            <a:off x="457200" y="3840480"/>
            <a:ext cx="1234440" cy="365760"/>
          </a:xfrm>
          <a:prstGeom prst="roundRect">
            <a:avLst>
              <a:gd name="adj" fmla="val 25000"/>
            </a:avLst>
          </a:prstGeom>
          <a:solidFill>
            <a:srgbClr val="16213A"/>
          </a:solidFill>
          <a:ln w="12700">
            <a:solidFill>
              <a:srgbClr val="16213A"/>
            </a:solidFill>
            <a:prstDash val="solid"/>
          </a:ln>
        </p:spPr>
      </p:sp>
      <p:sp>
        <p:nvSpPr>
          <p:cNvPr id="6" name="Text 3"/>
          <p:cNvSpPr txBox="1"/>
          <p:nvPr/>
        </p:nvSpPr>
        <p:spPr>
          <a:xfrm>
            <a:off x="457200" y="384048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7" name="Text 4"/>
          <p:cNvSpPr txBox="1"/>
          <p:nvPr/>
        </p:nvSpPr>
        <p:spPr>
          <a:xfrm>
            <a:off x="1783080" y="3794760"/>
            <a:ext cx="3108960" cy="960120"/>
          </a:xfrm>
          <a:prstGeom prst="rect">
            <a:avLst/>
          </a:prstGeom>
          <a:noFill/>
          <a:ln/>
        </p:spPr>
        <p:txBody>
          <a:bodyPr wrap="square" lIns="0" tIns="0" rIns="0" bIns="0" rtlCol="0" anchor="ctr"/>
          <a:lstStyle/>
          <a:p>
            <a:pPr indent="0" marL="0">
              <a:buNone/>
            </a:pPr>
            <a:r>
              <a:rPr lang="en-US" sz="115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3794760"/>
          <a:ext cx="3657600" cy="914400"/>
        </p:xfrm>
        <a:graphic>
          <a:graphicData uri="http://schemas.openxmlformats.org/drawingml/2006/table">
            <a:tbl>
              <a:tblPr/>
              <a:tblGrid>
                <a:gridCol w="2286000"/>
                <a:gridCol w="137160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Latency, ms per step</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Original → trick</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SpatialVLA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423.5 → 235.1</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OpenVLA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171.6 → 93.2</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Pruning · OpenVLA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210.2 → 199.4</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Reuse · SmolVLA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289.5 → 268.9</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a:t>
            </a:r>
            <a:endParaRPr lang="en-US" sz="2600" dirty="0"/>
          </a:p>
        </p:txBody>
      </p:sp>
      <p:sp>
        <p:nvSpPr>
          <p:cNvPr id="3" name="Shape 1"/>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4" name="Shape 2"/>
          <p:cNvSpPr/>
          <p:nvPr/>
        </p:nvSpPr>
        <p:spPr>
          <a:xfrm>
            <a:off x="1508760" y="155905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7" name="Text 5"/>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8" name="Text 6"/>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9" name="Shape 7"/>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0" name="Shape 8"/>
          <p:cNvSpPr/>
          <p:nvPr/>
        </p:nvSpPr>
        <p:spPr>
          <a:xfrm>
            <a:off x="4297680" y="155905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 k = 4</a:t>
            </a:r>
            <a:endParaRPr lang="en-US" sz="1200" dirty="0"/>
          </a:p>
        </p:txBody>
      </p:sp>
      <p:sp>
        <p:nvSpPr>
          <p:cNvPr id="13" name="Text 11"/>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4" name="Text 12"/>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5" name="Shape 13"/>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6" name="Shape 14"/>
          <p:cNvSpPr/>
          <p:nvPr/>
        </p:nvSpPr>
        <p:spPr>
          <a:xfrm>
            <a:off x="7086600" y="1559052"/>
            <a:ext cx="548640" cy="548640"/>
          </a:xfrm>
          <a:prstGeom prst="ellipse">
            <a:avLst/>
          </a:prstGeom>
          <a:solidFill>
            <a:srgbClr val="FFFFFF"/>
          </a:solidFill>
          <a:ln w="12700">
            <a:solidFill>
              <a:srgbClr val="FFFFFF"/>
            </a:solidFill>
            <a:prstDash val="solid"/>
          </a:ln>
        </p:spPr>
      </p:sp>
      <p:sp>
        <p:nvSpPr>
          <p:cNvPr id="17" name="Shape 15"/>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8" name="Text 16"/>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19" name="Text 17"/>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0" name="Text 18"/>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1" name="Shape 19"/>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100" b="1" dirty="0">
                <a:solidFill>
                  <a:srgbClr val="B03A2E"/>
                </a:solidFill>
                <a:latin typeface="Arial" pitchFamily="34" charset="0"/>
                <a:ea typeface="Arial" pitchFamily="34" charset="-122"/>
                <a:cs typeface="Arial" pitchFamily="34" charset="-120"/>
              </a:rPr>
              <a:t>Action repeat, WidowX: CogACT −38.0 · UniVLA −75.0</a:t>
            </a:r>
            <a:endParaRPr lang="en-US" sz="1100" dirty="0"/>
          </a:p>
        </p:txBody>
      </p:sp>
      <p:sp>
        <p:nvSpPr>
          <p:cNvPr id="23" name="Shape 21"/>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4" name="Text 22"/>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5" name="Shape 23"/>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6" name="Text 24"/>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7" name="Shape 25"/>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8" name="Text 26"/>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29" name="Text 27"/>
          <p:cNvSpPr txBox="1"/>
          <p:nvPr/>
        </p:nvSpPr>
        <p:spPr>
          <a:xfrm>
            <a:off x="457200" y="4434840"/>
            <a:ext cx="82296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3"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4"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5"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6"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7"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8"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9"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0"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1"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2"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3"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harmful on WidowX, milder on Fractal for some backbones</a:t>
            </a:r>
            <a:endParaRPr lang="en-US" sz="1050" dirty="0"/>
          </a:p>
        </p:txBody>
      </p:sp>
      <p:sp>
        <p:nvSpPr>
          <p:cNvPr id="14"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5"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3"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4"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5"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6"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7"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8"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9"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0"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1"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2"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3"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4"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5"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6"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2026-09-20T06:41:23Z</dcterms:created>
  <dcterms:modified xsi:type="dcterms:W3CDTF">2026-09-20T06:41:24Z</dcterms:modified>
</cp:coreProperties>
</file>