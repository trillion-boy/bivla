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15 s  |  36 words (2.4 w/s)
NARRATION:
Vision-language-action models are capable but slow. Every control step runs a vision encoder and a language backbone. Training-free tricks promise cheaper inference, but each is reported on one model and one benchmark. Do the gains transfer?
VISUAL / PRODUCTION NOTE:
Static. Optional: play a short original-policy rollout behind the loop diagram. Pipeline row cropped from Fig.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27 words (2.5 w/s)
NARRATION:
Trick one, visual foveation. The observation keeps a sharp central disc and blurs the periphery. Token count and compute are unchanged. Only what the policy sees changes.
VISUAL / PRODUCTION NOTE:
Left: Fig. 2(a) foveation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Left: Fig. 2(a) action repeat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11 s  |  26 words (2.4 w/s)
NARRATION:
Trick three, depth pruning. Decoder blocks that barely change their hidden states are removed, one, two, or four of them. The selection is fixed before evaluation.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2(a) guarded reuse panel.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12 s  |  29 words (2.4 w/s)
NARRATION:
Seven backbones, official checkpoints, on WidowX, Fractal, and LIBERO. Thirteen trick settings per pair plus the original, 286 trick settings, each compared with the original on the same episodes.
VISUAL / PRODUCTION NOTE:
286 = 13 trick settings × 22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12 s  |  27 words (2.3 w/s)
NARRATION:
First, success.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12 s  |  25 words (2.1 w/s)
NARRATION:
CogACT on WidowX. In these paired episodes the original fails and depth pruning succeeds. Overall success rises from 50.0 to 59.5, and latency drops slightly.
VISUAL / PRODUCTION NOTE:
Fig. 3(a) strips. Bottom-left: side-by-side recorded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10 s  |  24 words (2.4 w/s)
NARRATION:
Same trick, same benchmark, different backbone. On MiniVLA, depth pruning drops success by 17.5 points, on SpatialVLA by 6.5. Here the pruned policy fails.
VISUAL / PRODUCTION NOTE:
Record a MiniVLA WidowX episode from the same task family as the CogACT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13 s  |  32 words (2.5 w/s)
NARRATION:
Second, speed. Action repeat gives the largest speedup. SpatialVLA on WidowX drops from about 424 to 235 milliseconds per step. Depth pruning gives smaller decoder-level savings, and guarded reuse the safest trade-off.
VISUAL / PRODUCTION NOTE:
Fig. 4.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13 s  |  35 words (2.7 w/s)
NARRATION:
Action repeat runs open loop: on WidowX, CogACT loses 38 points and UniVLA 75. Guarded reuse skips calls only when the gates agree. On SmolVLA in LIBERO Long, success stays at 42.0 with lower latency.
VISUAL / PRODUCTION NOTE:
Three-panel recording of one CogACT WidowX episode. Before rendering, fill the three "policy calls used" counters from that episode: original = number of steps, k = 4 = about steps / 4, guarded = steps minus skipped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12 s  |  24 words (2.0 w/s)
NARRATION:
Third, consistency. Across backbone and environment pairs the same trick improves one model, leaves another unchanged, and hurts a third. No trick is plug-and-play.
VISUAL / PRODUCTION NOTE:
Consistency chart (Project Page figure, counts from the per-setting records with LIBERO episodes pooled). Do not read the counts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12 s  |  29 words (2.4 w/s)
NARRATION:
Guarded reuse is most reliable. Action repeat is fastest but risky. Depth pruning is backbone-dependent. Evaluate every trick under the target backbone and environment before applying it.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  ·  15s</a:t>
            </a:r>
            <a:endParaRPr lang="en-US" sz="900" dirty="0"/>
          </a:p>
        </p:txBody>
      </p:sp>
      <p:sp>
        <p:nvSpPr>
          <p:cNvPr id="3" name="Text 1"/>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  ·  anonymous submission</a:t>
            </a:r>
            <a:endParaRPr lang="en-US" sz="1000" dirty="0"/>
          </a:p>
        </p:txBody>
      </p:sp>
      <p:sp>
        <p:nvSpPr>
          <p:cNvPr id="4" name="Text 2"/>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5" name="Image 0" descr="/tmp/claude-0/-home-user-BiVLA/4327cefa-ba5d-5e2e-9d87-c73dd3a8ccbb/scratchpad/video_ppt/assets/m_pipeline.png">    </p:cNvPr>
          <p:cNvPicPr>
            <a:picLocks noChangeAspect="1"/>
          </p:cNvPicPr>
          <p:nvPr/>
        </p:nvPicPr>
        <p:blipFill>
          <a:blip r:embed="rId1"/>
          <a:stretch>
            <a:fillRect/>
          </a:stretch>
        </p:blipFill>
        <p:spPr>
          <a:xfrm>
            <a:off x="457200" y="1051560"/>
            <a:ext cx="8229600" cy="402336"/>
          </a:xfrm>
          <a:prstGeom prst="rect">
            <a:avLst/>
          </a:prstGeom>
        </p:spPr>
      </p:pic>
      <p:sp>
        <p:nvSpPr>
          <p:cNvPr id="6" name="Text 3"/>
          <p:cNvSpPr txBox="1"/>
          <p:nvPr/>
        </p:nvSpPr>
        <p:spPr>
          <a:xfrm>
            <a:off x="457200" y="1554480"/>
            <a:ext cx="8229600" cy="36576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The control loop of a frozen VLA policy (Fig. 2 of the paper). Coloured boxes are where the five tricks enter; the visual encoder and the action decoder run at every step.</a:t>
            </a:r>
            <a:endParaRPr lang="en-US" sz="1100" dirty="0"/>
          </a:p>
        </p:txBody>
      </p:sp>
      <p:sp>
        <p:nvSpPr>
          <p:cNvPr id="7" name="Text 4"/>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Hundreds of milliseconds per step, which limits how often the policy can observe, decide, and correct.</a:t>
            </a:r>
            <a:endParaRPr lang="en-US" sz="1400" dirty="0"/>
          </a:p>
        </p:txBody>
      </p:sp>
      <p:sp>
        <p:nvSpPr>
          <p:cNvPr id="8" name="Text 5"/>
          <p:cNvSpPr txBox="1"/>
          <p:nvPr/>
        </p:nvSpPr>
        <p:spPr>
          <a:xfrm>
            <a:off x="457200" y="2834640"/>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Training-free tricks are reported one at a time. </a:t>
            </a:r>
            <a:pPr indent="0" marL="0">
              <a:buNone/>
            </a:pPr>
            <a:r>
              <a:rPr lang="en-US" sz="1400" dirty="0">
                <a:solidFill>
                  <a:srgbClr val="1F2933"/>
                </a:solidFill>
                <a:latin typeface="Arial" pitchFamily="34" charset="0"/>
                <a:ea typeface="Arial" pitchFamily="34" charset="-122"/>
                <a:cs typeface="Arial" pitchFamily="34" charset="-120"/>
              </a:rPr>
              <a:t>Foveation, action repeat, depth pruning, guarded reuse, temporal fusion: each on one backbone, one benchmark, one implementation.</a:t>
            </a:r>
            <a:endParaRPr lang="en-US" sz="1400" dirty="0"/>
          </a:p>
        </p:txBody>
      </p:sp>
      <p:sp>
        <p:nvSpPr>
          <p:cNvPr id="9" name="Shape 6"/>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10" name="Text 7"/>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2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4" name="Shape 2"/>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6" name="Image 0" descr="/tmp/claude-0/-home-user-BiVLA/4327cefa-ba5d-5e2e-9d87-c73dd3a8ccbb/scratchpad/video_ppt/assets/m_fov.png">    </p:cNvPr>
          <p:cNvPicPr>
            <a:picLocks noChangeAspect="1"/>
          </p:cNvPicPr>
          <p:nvPr/>
        </p:nvPicPr>
        <p:blipFill>
          <a:blip r:embed="rId1"/>
          <a:stretch>
            <a:fillRect/>
          </a:stretch>
        </p:blipFill>
        <p:spPr>
          <a:xfrm>
            <a:off x="457200" y="960120"/>
            <a:ext cx="3931920" cy="2468880"/>
          </a:xfrm>
          <a:prstGeom prst="rect">
            <a:avLst/>
          </a:prstGeom>
        </p:spPr>
      </p:pic>
      <p:sp>
        <p:nvSpPr>
          <p:cNvPr id="7" name="Text 4"/>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8"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9"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0"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1"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foveation</a:t>
            </a:r>
            <a:endParaRPr lang="en-US" sz="1200" dirty="0"/>
          </a:p>
        </p:txBody>
      </p:sp>
      <p:sp>
        <p:nvSpPr>
          <p:cNvPr id="12"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3"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original (left) and foveated observation (right), success or failure badge at the end.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3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4" name="Shape 2"/>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6" name="Image 0" descr="/tmp/claude-0/-home-user-BiVLA/4327cefa-ba5d-5e2e-9d87-c73dd3a8ccbb/scratchpad/video_ppt/assets/m_repeat.png">    </p:cNvPr>
          <p:cNvPicPr>
            <a:picLocks noChangeAspect="1"/>
          </p:cNvPicPr>
          <p:nvPr/>
        </p:nvPicPr>
        <p:blipFill>
          <a:blip r:embed="rId1"/>
          <a:stretch>
            <a:fillRect/>
          </a:stretch>
        </p:blipFill>
        <p:spPr>
          <a:xfrm>
            <a:off x="457200" y="960120"/>
            <a:ext cx="3931920" cy="2679192"/>
          </a:xfrm>
          <a:prstGeom prst="rect">
            <a:avLst/>
          </a:prstGeom>
        </p:spPr>
      </p:pic>
      <p:sp>
        <p:nvSpPr>
          <p:cNvPr id="7" name="Text 4"/>
          <p:cNvSpPr txBox="1"/>
          <p:nvPr/>
        </p:nvSpPr>
        <p:spPr>
          <a:xfrm>
            <a:off x="457200" y="3794760"/>
            <a:ext cx="402336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8"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9"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0"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1"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action repeat k = 4</a:t>
            </a:r>
            <a:endParaRPr lang="en-US" sz="1200" dirty="0"/>
          </a:p>
        </p:txBody>
      </p:sp>
      <p:sp>
        <p:nvSpPr>
          <p:cNvPr id="12"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3"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watch contact and placement, where a held action can miss a needed correction.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4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4" name="Shape 2"/>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6" name="Image 0" descr="/tmp/claude-0/-home-user-BiVLA/4327cefa-ba5d-5e2e-9d87-c73dd3a8ccbb/scratchpad/video_ppt/assets/m_prune.png">    </p:cNvPr>
          <p:cNvPicPr>
            <a:picLocks noChangeAspect="1"/>
          </p:cNvPicPr>
          <p:nvPr/>
        </p:nvPicPr>
        <p:blipFill>
          <a:blip r:embed="rId1"/>
          <a:stretch>
            <a:fillRect/>
          </a:stretch>
        </p:blipFill>
        <p:spPr>
          <a:xfrm>
            <a:off x="457200" y="960120"/>
            <a:ext cx="2514600" cy="2542032"/>
          </a:xfrm>
          <a:prstGeom prst="rect">
            <a:avLst/>
          </a:prstGeom>
        </p:spPr>
      </p:pic>
      <p:sp>
        <p:nvSpPr>
          <p:cNvPr id="7" name="Text 4"/>
          <p:cNvSpPr txBox="1"/>
          <p:nvPr/>
        </p:nvSpPr>
        <p:spPr>
          <a:xfrm>
            <a:off x="3108960" y="1005840"/>
            <a:ext cx="1371600" cy="3566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1F2933"/>
                </a:solidFill>
                <a:latin typeface="Arial" pitchFamily="34" charset="0"/>
                <a:ea typeface="Arial" pitchFamily="34" charset="-122"/>
                <a:cs typeface="Arial" pitchFamily="34" charset="-120"/>
              </a:rPr>
              <a:t>Block Influence: how little a decoder block changes its hidden states on calibration data</a:t>
            </a:r>
            <a:endParaRPr lang="en-US" sz="1050" dirty="0"/>
          </a:p>
          <a:p>
            <a:pPr marL="177800" indent="-177800">
              <a:spcAft>
                <a:spcPts val="500"/>
              </a:spcAft>
              <a:buSzPct val="100000"/>
              <a:buChar char="•"/>
            </a:pPr>
            <a:r>
              <a:rPr lang="en-US" sz="1050" dirty="0">
                <a:solidFill>
                  <a:srgbClr val="1F2933"/>
                </a:solidFill>
                <a:latin typeface="Arial" pitchFamily="34" charset="0"/>
                <a:ea typeface="Arial" pitchFamily="34" charset="-122"/>
                <a:cs typeface="Arial" pitchFamily="34" charset="-120"/>
              </a:rPr>
              <a:t>Remove the 1, 2, or 4 lowest-influence blocks; none adjacent, first and last kept</a:t>
            </a:r>
            <a:endParaRPr lang="en-US" sz="1050" dirty="0"/>
          </a:p>
          <a:p>
            <a:pPr marL="177800" indent="-177800">
              <a:spcAft>
                <a:spcPts val="500"/>
              </a:spcAft>
              <a:buSzPct val="100000"/>
              <a:buChar char="•"/>
            </a:pPr>
            <a:r>
              <a:rPr lang="en-US" sz="1050" dirty="0">
                <a:solidFill>
                  <a:srgbClr val="1F2933"/>
                </a:solidFill>
                <a:latin typeface="Arial" pitchFamily="34" charset="0"/>
                <a:ea typeface="Arial" pitchFamily="34" charset="-122"/>
                <a:cs typeface="Arial" pitchFamily="34" charset="-120"/>
              </a:rPr>
              <a:t>Selected once from calibration data, fixed before evaluation</a:t>
            </a:r>
            <a:endParaRPr lang="en-US" sz="1050" dirty="0"/>
          </a:p>
          <a:p>
            <a:pPr marL="177800" indent="-177800">
              <a:spcAft>
                <a:spcPts val="500"/>
              </a:spcAft>
              <a:buSzPct val="100000"/>
              <a:buChar char="•"/>
            </a:pPr>
            <a:r>
              <a:rPr lang="en-US" sz="1050" dirty="0">
                <a:solidFill>
                  <a:srgbClr val="1F2933"/>
                </a:solidFill>
                <a:latin typeface="Arial" pitchFamily="34" charset="0"/>
                <a:ea typeface="Arial" pitchFamily="34" charset="-122"/>
                <a:cs typeface="Arial" pitchFamily="34" charset="-120"/>
              </a:rPr>
              <a:t>Acts inside the action decoder, after the visual encoder</a:t>
            </a:r>
            <a:endParaRPr lang="en-US" sz="1050" dirty="0"/>
          </a:p>
        </p:txBody>
      </p:sp>
      <p:sp>
        <p:nvSpPr>
          <p:cNvPr id="8"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9"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0"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1"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depth pruning</a:t>
            </a:r>
            <a:endParaRPr lang="en-US" sz="1200" dirty="0"/>
          </a:p>
        </p:txBody>
      </p:sp>
      <p:sp>
        <p:nvSpPr>
          <p:cNvPr id="12"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3"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CogACT on WidowX, where pruning removes decoder layers without breaking the closed loop.</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5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4" name="Shape 2"/>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6" name="Image 0" descr="/tmp/claude-0/-home-user-BiVLA/4327cefa-ba5d-5e2e-9d87-c73dd3a8ccbb/scratchpad/video_ppt/assets/m_guarded.png">    </p:cNvPr>
          <p:cNvPicPr>
            <a:picLocks noChangeAspect="1"/>
          </p:cNvPicPr>
          <p:nvPr/>
        </p:nvPicPr>
        <p:blipFill>
          <a:blip r:embed="rId1"/>
          <a:stretch>
            <a:fillRect/>
          </a:stretch>
        </p:blipFill>
        <p:spPr>
          <a:xfrm>
            <a:off x="457200" y="960120"/>
            <a:ext cx="3931920" cy="2532888"/>
          </a:xfrm>
          <a:prstGeom prst="rect">
            <a:avLst/>
          </a:prstGeom>
        </p:spPr>
      </p:pic>
      <p:sp>
        <p:nvSpPr>
          <p:cNvPr id="7" name="Text 4"/>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00" dirty="0"/>
          </a:p>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Presets: strict, moderate, aggressive</a:t>
            </a:r>
            <a:endParaRPr lang="en-US" sz="1100" dirty="0"/>
          </a:p>
        </p:txBody>
      </p:sp>
      <p:sp>
        <p:nvSpPr>
          <p:cNvPr id="8"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9"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0"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1"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guarded reuse</a:t>
            </a:r>
            <a:endParaRPr lang="en-US" sz="1200" dirty="0"/>
          </a:p>
        </p:txBody>
      </p:sp>
      <p:sp>
        <p:nvSpPr>
          <p:cNvPr id="12"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3"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overlay the gate indicators and a "calls skipped" counter on the right pane.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6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4" name="Shape 2"/>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6" name="Image 0" descr="/tmp/claude-0/-home-user-BiVLA/4327cefa-ba5d-5e2e-9d87-c73dd3a8ccbb/scratchpad/video_ppt/assets/m_fusion.png">    </p:cNvPr>
          <p:cNvPicPr>
            <a:picLocks noChangeAspect="1"/>
          </p:cNvPicPr>
          <p:nvPr/>
        </p:nvPicPr>
        <p:blipFill>
          <a:blip r:embed="rId1"/>
          <a:stretch>
            <a:fillRect/>
          </a:stretch>
        </p:blipFill>
        <p:spPr>
          <a:xfrm>
            <a:off x="457200" y="960120"/>
            <a:ext cx="2331720" cy="1911096"/>
          </a:xfrm>
          <a:prstGeom prst="rect">
            <a:avLst/>
          </a:prstGeom>
        </p:spPr>
      </p:pic>
      <p:sp>
        <p:nvSpPr>
          <p:cNvPr id="7" name="Text 4"/>
          <p:cNvSpPr txBox="1"/>
          <p:nvPr/>
        </p:nvSpPr>
        <p:spPr>
          <a:xfrm>
            <a:off x="2926080" y="960120"/>
            <a:ext cx="1554480" cy="32918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1F2933"/>
                </a:solidFill>
                <a:latin typeface="Arial" pitchFamily="34" charset="0"/>
                <a:ea typeface="Arial" pitchFamily="34" charset="-122"/>
                <a:cs typeface="Arial" pitchFamily="34" charset="-120"/>
              </a:rPr>
              <a:t>Reuse projected visual tokens of temporally stable patches from the previous call</a:t>
            </a:r>
            <a:endParaRPr lang="en-US" sz="1050" dirty="0"/>
          </a:p>
          <a:p>
            <a:pPr marL="177800" indent="-177800">
              <a:spcAft>
                <a:spcPts val="300"/>
              </a:spcAft>
              <a:buSzPct val="100000"/>
              <a:buChar char="•"/>
            </a:pPr>
            <a:r>
              <a:rPr lang="en-US" sz="1050" dirty="0">
                <a:solidFill>
                  <a:srgbClr val="1F2933"/>
                </a:solidFill>
                <a:latin typeface="Arial" pitchFamily="34" charset="0"/>
                <a:ea typeface="Arial" pitchFamily="34" charset="-122"/>
                <a:cs typeface="Arial" pitchFamily="34" charset="-120"/>
              </a:rPr>
              <a:t>Protect patches with motion, high entropy, high language attention, or interaction regions; recompute those</a:t>
            </a:r>
            <a:endParaRPr lang="en-US" sz="1050" dirty="0"/>
          </a:p>
          <a:p>
            <a:pPr marL="177800" indent="-177800">
              <a:spcAft>
                <a:spcPts val="300"/>
              </a:spcAft>
              <a:buSzPct val="100000"/>
              <a:buChar char="•"/>
            </a:pPr>
            <a:r>
              <a:rPr lang="en-US" sz="1050" dirty="0">
                <a:solidFill>
                  <a:srgbClr val="1F2933"/>
                </a:solidFill>
                <a:latin typeface="Arial" pitchFamily="34" charset="0"/>
                <a:ea typeface="Arial" pitchFamily="34" charset="-122"/>
                <a:cs typeface="Arial" pitchFamily="34" charset="-120"/>
              </a:rPr>
              <a:t>The same reuse mask is shared with the generation cache</a:t>
            </a:r>
            <a:endParaRPr lang="en-US" sz="1050" dirty="0"/>
          </a:p>
          <a:p>
            <a:pPr marL="177800" indent="-177800">
              <a:spcAft>
                <a:spcPts val="300"/>
              </a:spcAft>
              <a:buSzPct val="100000"/>
              <a:buChar char="•"/>
            </a:pPr>
            <a:r>
              <a:rPr lang="en-US" sz="1050" dirty="0">
                <a:solidFill>
                  <a:srgbClr val="1F2933"/>
                </a:solidFill>
                <a:latin typeface="Arial" pitchFamily="34" charset="0"/>
                <a:ea typeface="Arial" pitchFamily="34" charset="-122"/>
                <a:cs typeface="Arial" pitchFamily="34" charset="-120"/>
              </a:rPr>
              <a:t>Presets: motion-entropy, task-aware, conservative-adaptive</a:t>
            </a:r>
            <a:endParaRPr lang="en-US" sz="1050" dirty="0"/>
          </a:p>
        </p:txBody>
      </p:sp>
      <p:pic>
        <p:nvPicPr>
          <p:cNvPr id="8" name="Image 1" descr="/tmp/claude-0/-home-user-BiVLA/4327cefa-ba5d-5e2e-9d87-c73dd3a8ccbb/scratchpad/video_ppt/assets/m_cache.png">    </p:cNvPr>
          <p:cNvPicPr>
            <a:picLocks noChangeAspect="1"/>
          </p:cNvPicPr>
          <p:nvPr/>
        </p:nvPicPr>
        <p:blipFill>
          <a:blip r:embed="rId2"/>
          <a:stretch>
            <a:fillRect/>
          </a:stretch>
        </p:blipFill>
        <p:spPr>
          <a:xfrm>
            <a:off x="457200" y="3017520"/>
            <a:ext cx="2331720" cy="1417320"/>
          </a:xfrm>
          <a:prstGeom prst="rect">
            <a:avLst/>
          </a:prstGeom>
        </p:spPr>
      </p:pic>
      <p:sp>
        <p:nvSpPr>
          <p:cNvPr id="9" name="Text 5"/>
          <p:cNvSpPr txBox="1"/>
          <p:nvPr/>
        </p:nvSpPr>
        <p:spPr>
          <a:xfrm>
            <a:off x="457200" y="4480560"/>
            <a:ext cx="2377440" cy="36576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Top: fusion mask. Bottom: VLA-Cache criterion (stable, task-irrelevant patches reused).</a:t>
            </a:r>
            <a:endParaRPr lang="en-US" sz="950" dirty="0"/>
          </a:p>
        </p:txBody>
      </p:sp>
      <p:sp>
        <p:nvSpPr>
          <p:cNvPr id="10" name="Shape 6"/>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11" name="Shape 7"/>
          <p:cNvSpPr/>
          <p:nvPr/>
        </p:nvSpPr>
        <p:spPr>
          <a:xfrm>
            <a:off x="6446520" y="1970532"/>
            <a:ext cx="548640" cy="548640"/>
          </a:xfrm>
          <a:prstGeom prst="ellipse">
            <a:avLst/>
          </a:prstGeom>
          <a:solidFill>
            <a:srgbClr val="FFFFFF"/>
          </a:solidFill>
          <a:ln w="12700">
            <a:solidFill>
              <a:srgbClr val="FFFFFF"/>
            </a:solidFill>
            <a:prstDash val="solid"/>
          </a:ln>
        </p:spPr>
      </p:sp>
      <p:sp>
        <p:nvSpPr>
          <p:cNvPr id="12" name="Shape 8"/>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3" name="Text 9"/>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temporal fusion</a:t>
            </a:r>
            <a:endParaRPr lang="en-US" sz="1200" dirty="0"/>
          </a:p>
        </p:txBody>
      </p:sp>
      <p:sp>
        <p:nvSpPr>
          <p:cNvPr id="14" name="Text 10"/>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5" name="Text 11"/>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optionally tint reused patches on the right pane to show what is carried over between frames.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7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Results: matched evaluation protocol</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572000" cy="914400"/>
        </p:xfrm>
        <a:graphic>
          <a:graphicData uri="http://schemas.openxmlformats.org/drawingml/2006/table">
            <a:tbl>
              <a:tblPr/>
              <a:tblGrid>
                <a:gridCol w="1828800"/>
                <a:gridCol w="914400"/>
                <a:gridCol w="914400"/>
                <a:gridCol w="9144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Backbone</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WidowX</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Fractal</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LIBERO</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CogACT (7.6B)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OpenVLA (7B)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SpatialVLA (4B)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CronusVLA (0.5B)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UniVLA (8.5B)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MiniVLA (1B)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SmolVLA (0.45B)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94760"/>
            <a:ext cx="4572000" cy="59436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SimplerEnv WidowX: 4 tasks × 50 episodes.  Google Robot/Fractal: 5 tasks × 50.  LIBERO: Long, Goal, Object, Spatial, each suite a separate pair (3 × 4 = 12), giving 22 pairs in total.</a:t>
            </a:r>
            <a:endParaRPr lang="en-US" sz="1050" dirty="0"/>
          </a:p>
        </p:txBody>
      </p:sp>
      <p:sp>
        <p:nvSpPr>
          <p:cNvPr id="6" name="Text 3"/>
          <p:cNvSpPr txBox="1"/>
          <p:nvPr/>
        </p:nvSpPr>
        <p:spPr>
          <a:xfrm>
            <a:off x="521208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22</a:t>
            </a:r>
            <a:endParaRPr lang="en-US" sz="3000" dirty="0"/>
          </a:p>
        </p:txBody>
      </p:sp>
      <p:sp>
        <p:nvSpPr>
          <p:cNvPr id="7" name="Text 4"/>
          <p:cNvSpPr txBox="1"/>
          <p:nvPr/>
        </p:nvSpPr>
        <p:spPr>
          <a:xfrm>
            <a:off x="521208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backbone × environment pairs</a:t>
            </a:r>
            <a:endParaRPr lang="en-US" sz="1050" dirty="0"/>
          </a:p>
        </p:txBody>
      </p:sp>
      <p:sp>
        <p:nvSpPr>
          <p:cNvPr id="8" name="Text 5"/>
          <p:cNvSpPr txBox="1"/>
          <p:nvPr/>
        </p:nvSpPr>
        <p:spPr>
          <a:xfrm>
            <a:off x="640080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13 + 1</a:t>
            </a:r>
            <a:endParaRPr lang="en-US" sz="3000" dirty="0"/>
          </a:p>
        </p:txBody>
      </p:sp>
      <p:sp>
        <p:nvSpPr>
          <p:cNvPr id="9" name="Text 6"/>
          <p:cNvSpPr txBox="1"/>
          <p:nvPr/>
        </p:nvSpPr>
        <p:spPr>
          <a:xfrm>
            <a:off x="640080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 original, per pair</a:t>
            </a:r>
            <a:endParaRPr lang="en-US" sz="1050" dirty="0"/>
          </a:p>
        </p:txBody>
      </p:sp>
      <p:sp>
        <p:nvSpPr>
          <p:cNvPr id="10" name="Text 7"/>
          <p:cNvSpPr txBox="1"/>
          <p:nvPr/>
        </p:nvSpPr>
        <p:spPr>
          <a:xfrm>
            <a:off x="758952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286</a:t>
            </a:r>
            <a:endParaRPr lang="en-US" sz="3000" dirty="0"/>
          </a:p>
        </p:txBody>
      </p:sp>
      <p:sp>
        <p:nvSpPr>
          <p:cNvPr id="11" name="Text 8"/>
          <p:cNvSpPr txBox="1"/>
          <p:nvPr/>
        </p:nvSpPr>
        <p:spPr>
          <a:xfrm>
            <a:off x="758952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all paired with the original</a:t>
            </a:r>
            <a:endParaRPr lang="en-US" sz="1050" dirty="0"/>
          </a:p>
        </p:txBody>
      </p:sp>
      <p:sp>
        <p:nvSpPr>
          <p:cNvPr id="12" name="Text 9"/>
          <p:cNvSpPr txBox="1"/>
          <p:nvPr/>
        </p:nvSpPr>
        <p:spPr>
          <a:xfrm>
            <a:off x="5212080" y="2651760"/>
            <a:ext cx="3474720" cy="20116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Official checkpoints, no retraining</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Same task instances and initial states as the original</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Latency = wall-clock per environment step</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Exact two-sided McNemar test on paired episodes</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4 × RTX 5090; tables report the best setting per trick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8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4"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5" name="Shape 2"/>
          <p:cNvSpPr/>
          <p:nvPr/>
        </p:nvSpPr>
        <p:spPr>
          <a:xfrm>
            <a:off x="457200" y="4636008"/>
            <a:ext cx="146304" cy="146304"/>
          </a:xfrm>
          <a:prstGeom prst="rect">
            <a:avLst/>
          </a:prstGeom>
          <a:solidFill>
            <a:srgbClr val="222222"/>
          </a:solidFill>
          <a:ln w="12700">
            <a:solidFill>
              <a:srgbClr val="222222"/>
            </a:solidFill>
            <a:prstDash val="solid"/>
          </a:ln>
        </p:spPr>
      </p:sp>
      <p:sp>
        <p:nvSpPr>
          <p:cNvPr id="6" name="Text 3"/>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7" name="Shape 4"/>
          <p:cNvSpPr/>
          <p:nvPr/>
        </p:nvSpPr>
        <p:spPr>
          <a:xfrm>
            <a:off x="1737360" y="4636008"/>
            <a:ext cx="146304" cy="146304"/>
          </a:xfrm>
          <a:prstGeom prst="rect">
            <a:avLst/>
          </a:prstGeom>
          <a:solidFill>
            <a:srgbClr val="0072B2"/>
          </a:solidFill>
          <a:ln w="12700">
            <a:solidFill>
              <a:srgbClr val="0072B2"/>
            </a:solidFill>
            <a:prstDash val="solid"/>
          </a:ln>
        </p:spPr>
      </p:sp>
      <p:sp>
        <p:nvSpPr>
          <p:cNvPr id="8" name="Text 5"/>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9" name="Shape 6"/>
          <p:cNvSpPr/>
          <p:nvPr/>
        </p:nvSpPr>
        <p:spPr>
          <a:xfrm>
            <a:off x="3017520" y="4636008"/>
            <a:ext cx="146304" cy="146304"/>
          </a:xfrm>
          <a:prstGeom prst="rect">
            <a:avLst/>
          </a:prstGeom>
          <a:solidFill>
            <a:srgbClr val="D55E00"/>
          </a:solidFill>
          <a:ln w="12700">
            <a:solidFill>
              <a:srgbClr val="D55E00"/>
            </a:solidFill>
            <a:prstDash val="solid"/>
          </a:ln>
        </p:spPr>
      </p:sp>
      <p:sp>
        <p:nvSpPr>
          <p:cNvPr id="10" name="Text 7"/>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1" name="Shape 8"/>
          <p:cNvSpPr/>
          <p:nvPr/>
        </p:nvSpPr>
        <p:spPr>
          <a:xfrm>
            <a:off x="457200" y="4864608"/>
            <a:ext cx="146304" cy="146304"/>
          </a:xfrm>
          <a:prstGeom prst="rect">
            <a:avLst/>
          </a:prstGeom>
          <a:solidFill>
            <a:srgbClr val="009E73"/>
          </a:solidFill>
          <a:ln w="12700">
            <a:solidFill>
              <a:srgbClr val="009E73"/>
            </a:solidFill>
            <a:prstDash val="solid"/>
          </a:ln>
        </p:spPr>
      </p:sp>
      <p:sp>
        <p:nvSpPr>
          <p:cNvPr id="12" name="Text 9"/>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3" name="Shape 10"/>
          <p:cNvSpPr/>
          <p:nvPr/>
        </p:nvSpPr>
        <p:spPr>
          <a:xfrm>
            <a:off x="1737360" y="4864608"/>
            <a:ext cx="146304" cy="146304"/>
          </a:xfrm>
          <a:prstGeom prst="rect">
            <a:avLst/>
          </a:prstGeom>
          <a:solidFill>
            <a:srgbClr val="CC79A7"/>
          </a:solidFill>
          <a:ln w="12700">
            <a:solidFill>
              <a:srgbClr val="CC79A7"/>
            </a:solidFill>
            <a:prstDash val="solid"/>
          </a:ln>
        </p:spPr>
      </p:sp>
      <p:sp>
        <p:nvSpPr>
          <p:cNvPr id="14" name="Text 11"/>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5" name="Shape 12"/>
          <p:cNvSpPr/>
          <p:nvPr/>
        </p:nvSpPr>
        <p:spPr>
          <a:xfrm>
            <a:off x="3017520" y="4864608"/>
            <a:ext cx="146304" cy="146304"/>
          </a:xfrm>
          <a:prstGeom prst="rect">
            <a:avLst/>
          </a:prstGeom>
          <a:solidFill>
            <a:srgbClr val="8C650F"/>
          </a:solidFill>
          <a:ln w="12700">
            <a:solidFill>
              <a:srgbClr val="8C650F"/>
            </a:solidFill>
            <a:prstDash val="solid"/>
          </a:ln>
        </p:spPr>
      </p:sp>
      <p:sp>
        <p:nvSpPr>
          <p:cNvPr id="16" name="Text 13"/>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7" name="Shape 14"/>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8" name="Text 15"/>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19" name="Text 16"/>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20" name="Text 17"/>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1" name="Shape 18"/>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2" name="Text 19"/>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3" name="Shape 20"/>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4" name="Text 21"/>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5" name="Text 22"/>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6" name="Shape 23"/>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7" name="Text 24"/>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8" name="Shape 25"/>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29" name="Text 26"/>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30" name="Text 27"/>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Deltas from Tables I and II, best setting per trick.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9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Depth pruning helps CogACT on WidowX</a:t>
            </a:r>
            <a:endParaRPr lang="en-US" sz="2600" dirty="0"/>
          </a:p>
        </p:txBody>
      </p:sp>
      <p:pic>
        <p:nvPicPr>
          <p:cNvPr id="4" name="Image 0" descr="/tmp/claude-0/-home-user-BiVLA/4327cefa-ba5d-5e2e-9d87-c73dd3a8ccbb/scratchpad/video_ppt/assets/fig3a_cogact.png">    </p:cNvPr>
          <p:cNvPicPr>
            <a:picLocks noChangeAspect="1"/>
          </p:cNvPicPr>
          <p:nvPr/>
        </p:nvPicPr>
        <p:blipFill>
          <a:blip r:embed="rId1"/>
          <a:stretch>
            <a:fillRect/>
          </a:stretch>
        </p:blipFill>
        <p:spPr>
          <a:xfrm>
            <a:off x="457200" y="914400"/>
            <a:ext cx="8092440" cy="2697480"/>
          </a:xfrm>
          <a:prstGeom prst="rect">
            <a:avLst/>
          </a:prstGeom>
        </p:spPr>
      </p:pic>
      <p:sp>
        <p:nvSpPr>
          <p:cNvPr id="5" name="Shape 2"/>
          <p:cNvSpPr/>
          <p:nvPr/>
        </p:nvSpPr>
        <p:spPr>
          <a:xfrm>
            <a:off x="457200" y="3886200"/>
            <a:ext cx="4023360" cy="868680"/>
          </a:xfrm>
          <a:prstGeom prst="roundRect">
            <a:avLst>
              <a:gd name="adj" fmla="val 8421"/>
            </a:avLst>
          </a:prstGeom>
          <a:solidFill>
            <a:srgbClr val="2A2F3A"/>
          </a:solidFill>
          <a:ln w="12700">
            <a:solidFill>
              <a:srgbClr val="8A94A6"/>
            </a:solidFill>
            <a:prstDash val="dash"/>
          </a:ln>
        </p:spPr>
      </p:sp>
      <p:sp>
        <p:nvSpPr>
          <p:cNvPr id="6" name="Text 3"/>
          <p:cNvSpPr txBox="1"/>
          <p:nvPr/>
        </p:nvSpPr>
        <p:spPr>
          <a:xfrm>
            <a:off x="548640" y="3886200"/>
            <a:ext cx="3840480" cy="8686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  CLIP: original vs depth pruning (paired episode)</a:t>
            </a:r>
            <a:endParaRPr lang="en-US" sz="1200" dirty="0"/>
          </a:p>
        </p:txBody>
      </p:sp>
      <p:sp>
        <p:nvSpPr>
          <p:cNvPr id="7" name="Shape 4"/>
          <p:cNvSpPr/>
          <p:nvPr/>
        </p:nvSpPr>
        <p:spPr>
          <a:xfrm>
            <a:off x="4663440" y="3886200"/>
            <a:ext cx="1965960" cy="365760"/>
          </a:xfrm>
          <a:prstGeom prst="roundRect">
            <a:avLst>
              <a:gd name="adj" fmla="val 25000"/>
            </a:avLst>
          </a:prstGeom>
          <a:solidFill>
            <a:srgbClr val="DFF1E6"/>
          </a:solidFill>
          <a:ln w="12700">
            <a:solidFill>
              <a:srgbClr val="DFF1E6"/>
            </a:solidFill>
            <a:prstDash val="solid"/>
          </a:ln>
        </p:spPr>
      </p:sp>
      <p:sp>
        <p:nvSpPr>
          <p:cNvPr id="8" name="Text 5"/>
          <p:cNvSpPr txBox="1"/>
          <p:nvPr/>
        </p:nvSpPr>
        <p:spPr>
          <a:xfrm>
            <a:off x="4663440" y="3886200"/>
            <a:ext cx="1965960" cy="365760"/>
          </a:xfrm>
          <a:prstGeom prst="rect">
            <a:avLst/>
          </a:prstGeom>
          <a:noFill/>
          <a:ln/>
        </p:spPr>
        <p:txBody>
          <a:bodyPr wrap="square" lIns="0" tIns="0" rIns="0" bIns="0" rtlCol="0" anchor="ctr"/>
          <a:lstStyle/>
          <a:p>
            <a:pPr algn="ctr" indent="0" marL="0">
              <a:buNone/>
            </a:pPr>
            <a:r>
              <a:rPr lang="en-US" sz="1150" b="1" dirty="0">
                <a:solidFill>
                  <a:srgbClr val="2E8B57"/>
                </a:solidFill>
                <a:latin typeface="Arial" pitchFamily="34" charset="0"/>
                <a:ea typeface="Arial" pitchFamily="34" charset="-122"/>
                <a:cs typeface="Arial" pitchFamily="34" charset="-120"/>
              </a:rPr>
              <a:t>Success 50.0 → 59.5 %</a:t>
            </a:r>
            <a:endParaRPr lang="en-US" sz="1150" dirty="0"/>
          </a:p>
        </p:txBody>
      </p:sp>
      <p:sp>
        <p:nvSpPr>
          <p:cNvPr id="9" name="Shape 6"/>
          <p:cNvSpPr/>
          <p:nvPr/>
        </p:nvSpPr>
        <p:spPr>
          <a:xfrm>
            <a:off x="6720840" y="3886200"/>
            <a:ext cx="1965960" cy="365760"/>
          </a:xfrm>
          <a:prstGeom prst="roundRect">
            <a:avLst>
              <a:gd name="adj" fmla="val 25000"/>
            </a:avLst>
          </a:prstGeom>
          <a:solidFill>
            <a:srgbClr val="DDEFEC"/>
          </a:solidFill>
          <a:ln w="12700">
            <a:solidFill>
              <a:srgbClr val="DDEFEC"/>
            </a:solidFill>
            <a:prstDash val="solid"/>
          </a:ln>
        </p:spPr>
      </p:sp>
      <p:sp>
        <p:nvSpPr>
          <p:cNvPr id="10" name="Text 7"/>
          <p:cNvSpPr txBox="1"/>
          <p:nvPr/>
        </p:nvSpPr>
        <p:spPr>
          <a:xfrm>
            <a:off x="6720840" y="3886200"/>
            <a:ext cx="1965960" cy="365760"/>
          </a:xfrm>
          <a:prstGeom prst="rect">
            <a:avLst/>
          </a:prstGeom>
          <a:noFill/>
          <a:ln/>
        </p:spPr>
        <p:txBody>
          <a:bodyPr wrap="square" lIns="0" tIns="0" rIns="0" bIns="0" rtlCol="0" anchor="ctr"/>
          <a:lstStyle/>
          <a:p>
            <a:pPr algn="ctr" indent="0" marL="0">
              <a:buNone/>
            </a:pPr>
            <a:r>
              <a:rPr lang="en-US" sz="1050" b="1" dirty="0">
                <a:solidFill>
                  <a:srgbClr val="1B7F79"/>
                </a:solidFill>
                <a:latin typeface="Arial" pitchFamily="34" charset="0"/>
                <a:ea typeface="Arial" pitchFamily="34" charset="-122"/>
                <a:cs typeface="Arial" pitchFamily="34" charset="-120"/>
              </a:rPr>
              <a:t>Latency 141.4 → 137.5 ms/step</a:t>
            </a:r>
            <a:endParaRPr lang="en-US" sz="1050" dirty="0"/>
          </a:p>
        </p:txBody>
      </p:sp>
      <p:sp>
        <p:nvSpPr>
          <p:cNvPr id="11" name="Text 8"/>
          <p:cNvSpPr txBox="1"/>
          <p:nvPr/>
        </p:nvSpPr>
        <p:spPr>
          <a:xfrm>
            <a:off x="4663440" y="4343400"/>
            <a:ext cx="4023360" cy="45720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Red = failure, green = success. Selected episodes, same task instances and initial states. Aggregate values from Table I.</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10  ·  10s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Same trick, same benchmark, different backbone</a:t>
            </a:r>
            <a:endParaRPr lang="en-US" sz="2600" dirty="0"/>
          </a:p>
        </p:txBody>
      </p:sp>
      <p:sp>
        <p:nvSpPr>
          <p:cNvPr id="4" name="Shape 2"/>
          <p:cNvSpPr/>
          <p:nvPr/>
        </p:nvSpPr>
        <p:spPr>
          <a:xfrm>
            <a:off x="457200" y="960120"/>
            <a:ext cx="2651760" cy="2377440"/>
          </a:xfrm>
          <a:prstGeom prst="roundRect">
            <a:avLst>
              <a:gd name="adj" fmla="val 3077"/>
            </a:avLst>
          </a:prstGeom>
          <a:solidFill>
            <a:srgbClr val="2A2F3A"/>
          </a:solidFill>
          <a:ln w="12700">
            <a:solidFill>
              <a:srgbClr val="8A94A6"/>
            </a:solidFill>
            <a:prstDash val="dash"/>
          </a:ln>
        </p:spPr>
      </p:sp>
      <p:sp>
        <p:nvSpPr>
          <p:cNvPr id="5" name="Shape 3"/>
          <p:cNvSpPr/>
          <p:nvPr/>
        </p:nvSpPr>
        <p:spPr>
          <a:xfrm>
            <a:off x="1508760" y="1764792"/>
            <a:ext cx="548640" cy="548640"/>
          </a:xfrm>
          <a:prstGeom prst="ellipse">
            <a:avLst/>
          </a:prstGeom>
          <a:solidFill>
            <a:srgbClr val="FFFFFF"/>
          </a:solidFill>
          <a:ln w="12700">
            <a:solidFill>
              <a:srgbClr val="FFFFFF"/>
            </a:solidFill>
            <a:prstDash val="solid"/>
          </a:ln>
        </p:spPr>
      </p:sp>
      <p:sp>
        <p:nvSpPr>
          <p:cNvPr id="6" name="Shape 4"/>
          <p:cNvSpPr/>
          <p:nvPr/>
        </p:nvSpPr>
        <p:spPr>
          <a:xfrm rot="5400000">
            <a:off x="1700784" y="1883664"/>
            <a:ext cx="219456" cy="310896"/>
          </a:xfrm>
          <a:prstGeom prst="triangle">
            <a:avLst/>
          </a:prstGeom>
          <a:solidFill>
            <a:srgbClr val="2A2F3A"/>
          </a:solidFill>
          <a:ln w="12700">
            <a:solidFill>
              <a:srgbClr val="2A2F3A"/>
            </a:solidFill>
            <a:prstDash val="solid"/>
          </a:ln>
        </p:spPr>
      </p:sp>
      <p:sp>
        <p:nvSpPr>
          <p:cNvPr id="7" name="Text 5"/>
          <p:cNvSpPr txBox="1"/>
          <p:nvPr/>
        </p:nvSpPr>
        <p:spPr>
          <a:xfrm>
            <a:off x="54864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original</a:t>
            </a:r>
            <a:endParaRPr lang="en-US" sz="1200" dirty="0"/>
          </a:p>
        </p:txBody>
      </p:sp>
      <p:sp>
        <p:nvSpPr>
          <p:cNvPr id="8" name="Text 6"/>
          <p:cNvSpPr txBox="1"/>
          <p:nvPr/>
        </p:nvSpPr>
        <p:spPr>
          <a:xfrm>
            <a:off x="54864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succeeds (green border)</a:t>
            </a:r>
            <a:endParaRPr lang="en-US" sz="950" dirty="0"/>
          </a:p>
        </p:txBody>
      </p:sp>
      <p:sp>
        <p:nvSpPr>
          <p:cNvPr id="9" name="Shape 7"/>
          <p:cNvSpPr/>
          <p:nvPr/>
        </p:nvSpPr>
        <p:spPr>
          <a:xfrm>
            <a:off x="3246120" y="960120"/>
            <a:ext cx="2651760" cy="2377440"/>
          </a:xfrm>
          <a:prstGeom prst="roundRect">
            <a:avLst>
              <a:gd name="adj" fmla="val 3077"/>
            </a:avLst>
          </a:prstGeom>
          <a:solidFill>
            <a:srgbClr val="2A2F3A"/>
          </a:solidFill>
          <a:ln w="12700">
            <a:solidFill>
              <a:srgbClr val="8A94A6"/>
            </a:solidFill>
            <a:prstDash val="dash"/>
          </a:ln>
        </p:spPr>
      </p:sp>
      <p:sp>
        <p:nvSpPr>
          <p:cNvPr id="10" name="Shape 8"/>
          <p:cNvSpPr/>
          <p:nvPr/>
        </p:nvSpPr>
        <p:spPr>
          <a:xfrm>
            <a:off x="4297680" y="1764792"/>
            <a:ext cx="548640" cy="548640"/>
          </a:xfrm>
          <a:prstGeom prst="ellipse">
            <a:avLst/>
          </a:prstGeom>
          <a:solidFill>
            <a:srgbClr val="FFFFFF"/>
          </a:solidFill>
          <a:ln w="12700">
            <a:solidFill>
              <a:srgbClr val="FFFFFF"/>
            </a:solidFill>
            <a:prstDash val="solid"/>
          </a:ln>
        </p:spPr>
      </p:sp>
      <p:sp>
        <p:nvSpPr>
          <p:cNvPr id="11" name="Shape 9"/>
          <p:cNvSpPr/>
          <p:nvPr/>
        </p:nvSpPr>
        <p:spPr>
          <a:xfrm rot="5400000">
            <a:off x="4489704" y="1883664"/>
            <a:ext cx="219456" cy="310896"/>
          </a:xfrm>
          <a:prstGeom prst="triangle">
            <a:avLst/>
          </a:prstGeom>
          <a:solidFill>
            <a:srgbClr val="2A2F3A"/>
          </a:solidFill>
          <a:ln w="12700">
            <a:solidFill>
              <a:srgbClr val="2A2F3A"/>
            </a:solidFill>
            <a:prstDash val="solid"/>
          </a:ln>
        </p:spPr>
      </p:sp>
      <p:sp>
        <p:nvSpPr>
          <p:cNvPr id="12" name="Text 10"/>
          <p:cNvSpPr txBox="1"/>
          <p:nvPr/>
        </p:nvSpPr>
        <p:spPr>
          <a:xfrm>
            <a:off x="333756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 pruning</a:t>
            </a:r>
            <a:endParaRPr lang="en-US" sz="1200" dirty="0"/>
          </a:p>
        </p:txBody>
      </p:sp>
      <p:sp>
        <p:nvSpPr>
          <p:cNvPr id="13" name="Text 11"/>
          <p:cNvSpPr txBox="1"/>
          <p:nvPr/>
        </p:nvSpPr>
        <p:spPr>
          <a:xfrm>
            <a:off x="333756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fails (red border)</a:t>
            </a:r>
            <a:endParaRPr lang="en-US" sz="950" dirty="0"/>
          </a:p>
        </p:txBody>
      </p:sp>
      <p:sp>
        <p:nvSpPr>
          <p:cNvPr id="14" name="Text 12"/>
          <p:cNvSpPr txBox="1"/>
          <p:nvPr/>
        </p:nvSpPr>
        <p:spPr>
          <a:xfrm>
            <a:off x="457200" y="3401568"/>
            <a:ext cx="5440680" cy="27432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Selected episode, same initial state, WidowX</a:t>
            </a:r>
            <a:endParaRPr lang="en-US" sz="1050" dirty="0"/>
          </a:p>
        </p:txBody>
      </p:sp>
      <p:sp>
        <p:nvSpPr>
          <p:cNvPr id="15" name="Shape 13"/>
          <p:cNvSpPr/>
          <p:nvPr/>
        </p:nvSpPr>
        <p:spPr>
          <a:xfrm>
            <a:off x="6126480" y="960120"/>
            <a:ext cx="2560320" cy="2377440"/>
          </a:xfrm>
          <a:prstGeom prst="roundRect">
            <a:avLst>
              <a:gd name="adj" fmla="val 4615"/>
            </a:avLst>
          </a:prstGeom>
          <a:solidFill>
            <a:srgbClr val="F3F5F7"/>
          </a:solidFill>
          <a:ln w="9525">
            <a:solidFill>
              <a:srgbClr val="D9DEE3"/>
            </a:solidFill>
            <a:prstDash val="solid"/>
          </a:ln>
        </p:spPr>
      </p:sp>
      <p:sp>
        <p:nvSpPr>
          <p:cNvPr id="16" name="Text 14"/>
          <p:cNvSpPr txBox="1"/>
          <p:nvPr/>
        </p:nvSpPr>
        <p:spPr>
          <a:xfrm>
            <a:off x="6126480" y="1051560"/>
            <a:ext cx="2560320" cy="320040"/>
          </a:xfrm>
          <a:prstGeom prst="rect">
            <a:avLst/>
          </a:prstGeom>
          <a:noFill/>
          <a:ln/>
        </p:spPr>
        <p:txBody>
          <a:bodyPr wrap="square" lIns="0" tIns="0" rIns="0" bIns="0" rtlCol="0" anchor="ctr"/>
          <a:lstStyle/>
          <a:p>
            <a:pPr algn="ctr" indent="0" marL="0">
              <a:buNone/>
            </a:pPr>
            <a:r>
              <a:rPr lang="en-US" sz="1300" b="1" dirty="0">
                <a:solidFill>
                  <a:srgbClr val="1F2933"/>
                </a:solidFill>
                <a:latin typeface="Arial" pitchFamily="34" charset="0"/>
                <a:ea typeface="Arial" pitchFamily="34" charset="-122"/>
                <a:cs typeface="Arial" pitchFamily="34" charset="-120"/>
              </a:rPr>
              <a:t>Depth pruning, WidowX</a:t>
            </a:r>
            <a:endParaRPr lang="en-US" sz="1300" dirty="0"/>
          </a:p>
        </p:txBody>
      </p:sp>
      <p:sp>
        <p:nvSpPr>
          <p:cNvPr id="17" name="Shape 15"/>
          <p:cNvSpPr/>
          <p:nvPr/>
        </p:nvSpPr>
        <p:spPr>
          <a:xfrm>
            <a:off x="6309360" y="1463040"/>
            <a:ext cx="2194560" cy="457200"/>
          </a:xfrm>
          <a:prstGeom prst="roundRect">
            <a:avLst>
              <a:gd name="adj" fmla="val 20000"/>
            </a:avLst>
          </a:prstGeom>
          <a:solidFill>
            <a:srgbClr val="DFF1E6"/>
          </a:solidFill>
          <a:ln w="12700">
            <a:solidFill>
              <a:srgbClr val="DFF1E6"/>
            </a:solidFill>
            <a:prstDash val="solid"/>
          </a:ln>
        </p:spPr>
      </p:sp>
      <p:sp>
        <p:nvSpPr>
          <p:cNvPr id="18" name="Text 16"/>
          <p:cNvSpPr txBox="1"/>
          <p:nvPr/>
        </p:nvSpPr>
        <p:spPr>
          <a:xfrm>
            <a:off x="6309360" y="1463040"/>
            <a:ext cx="2194560" cy="457200"/>
          </a:xfrm>
          <a:prstGeom prst="rect">
            <a:avLst/>
          </a:prstGeom>
          <a:noFill/>
          <a:ln/>
        </p:spPr>
        <p:txBody>
          <a:bodyPr wrap="square" lIns="0" tIns="0" rIns="0" bIns="0" rtlCol="0" anchor="ctr"/>
          <a:lstStyle/>
          <a:p>
            <a:pPr algn="ctr" indent="0" marL="0">
              <a:buNone/>
            </a:pPr>
            <a:r>
              <a:rPr lang="en-US" sz="1400" b="1" dirty="0">
                <a:solidFill>
                  <a:srgbClr val="2E8B57"/>
                </a:solidFill>
                <a:latin typeface="Arial" pitchFamily="34" charset="0"/>
                <a:ea typeface="Arial" pitchFamily="34" charset="-122"/>
                <a:cs typeface="Arial" pitchFamily="34" charset="-120"/>
              </a:rPr>
              <a:t>CogACT  +9.5</a:t>
            </a:r>
            <a:endParaRPr lang="en-US" sz="1400" dirty="0"/>
          </a:p>
        </p:txBody>
      </p:sp>
      <p:sp>
        <p:nvSpPr>
          <p:cNvPr id="19" name="Shape 17"/>
          <p:cNvSpPr/>
          <p:nvPr/>
        </p:nvSpPr>
        <p:spPr>
          <a:xfrm>
            <a:off x="6309360" y="2011680"/>
            <a:ext cx="2194560" cy="457200"/>
          </a:xfrm>
          <a:prstGeom prst="roundRect">
            <a:avLst>
              <a:gd name="adj" fmla="val 20000"/>
            </a:avLst>
          </a:prstGeom>
          <a:solidFill>
            <a:srgbClr val="F6E0DD"/>
          </a:solidFill>
          <a:ln w="12700">
            <a:solidFill>
              <a:srgbClr val="F6E0DD"/>
            </a:solidFill>
            <a:prstDash val="solid"/>
          </a:ln>
        </p:spPr>
      </p:sp>
      <p:sp>
        <p:nvSpPr>
          <p:cNvPr id="20" name="Text 18"/>
          <p:cNvSpPr txBox="1"/>
          <p:nvPr/>
        </p:nvSpPr>
        <p:spPr>
          <a:xfrm>
            <a:off x="6309360" y="201168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MiniVLA  −17.5</a:t>
            </a:r>
            <a:endParaRPr lang="en-US" sz="1400" dirty="0"/>
          </a:p>
        </p:txBody>
      </p:sp>
      <p:sp>
        <p:nvSpPr>
          <p:cNvPr id="21" name="Shape 19"/>
          <p:cNvSpPr/>
          <p:nvPr/>
        </p:nvSpPr>
        <p:spPr>
          <a:xfrm>
            <a:off x="6309360" y="2560320"/>
            <a:ext cx="2194560" cy="457200"/>
          </a:xfrm>
          <a:prstGeom prst="roundRect">
            <a:avLst>
              <a:gd name="adj" fmla="val 20000"/>
            </a:avLst>
          </a:prstGeom>
          <a:solidFill>
            <a:srgbClr val="F6E0DD"/>
          </a:solidFill>
          <a:ln w="12700">
            <a:solidFill>
              <a:srgbClr val="F6E0DD"/>
            </a:solidFill>
            <a:prstDash val="solid"/>
          </a:ln>
        </p:spPr>
      </p:sp>
      <p:sp>
        <p:nvSpPr>
          <p:cNvPr id="22" name="Text 20"/>
          <p:cNvSpPr txBox="1"/>
          <p:nvPr/>
        </p:nvSpPr>
        <p:spPr>
          <a:xfrm>
            <a:off x="6309360" y="256032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SpatialVLA  −6.5</a:t>
            </a:r>
            <a:endParaRPr lang="en-US" sz="1400" dirty="0"/>
          </a:p>
        </p:txBody>
      </p:sp>
      <p:sp>
        <p:nvSpPr>
          <p:cNvPr id="23" name="Shape 21"/>
          <p:cNvSpPr/>
          <p:nvPr/>
        </p:nvSpPr>
        <p:spPr>
          <a:xfrm>
            <a:off x="457200" y="3840480"/>
            <a:ext cx="8229600" cy="777240"/>
          </a:xfrm>
          <a:prstGeom prst="roundRect">
            <a:avLst>
              <a:gd name="adj" fmla="val 11765"/>
            </a:avLst>
          </a:prstGeom>
          <a:solidFill>
            <a:srgbClr val="16213A"/>
          </a:solidFill>
          <a:ln w="12700">
            <a:solidFill>
              <a:srgbClr val="16213A"/>
            </a:solidFill>
            <a:prstDash val="solid"/>
          </a:ln>
        </p:spPr>
      </p:sp>
      <p:sp>
        <p:nvSpPr>
          <p:cNvPr id="24" name="Text 22"/>
          <p:cNvSpPr txBox="1"/>
          <p:nvPr/>
        </p:nvSpPr>
        <p:spPr>
          <a:xfrm>
            <a:off x="640080" y="3840480"/>
            <a:ext cx="7863840" cy="7772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Structural redundancy is not a property of the trick alone. It depends on how each backbone uses its decoder layers during control.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11  ·  13s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4" name="Image 0" descr="/tmp/claude-0/-home-user-BiVLA/4327cefa-ba5d-5e2e-9d87-c73dd3a8ccbb/scratchpad/video_ppt/assets/fig4_tradeoff_row.png">    </p:cNvPr>
          <p:cNvPicPr>
            <a:picLocks noChangeAspect="1"/>
          </p:cNvPicPr>
          <p:nvPr/>
        </p:nvPicPr>
        <p:blipFill>
          <a:blip r:embed="rId1"/>
          <a:stretch>
            <a:fillRect/>
          </a:stretch>
        </p:blipFill>
        <p:spPr>
          <a:xfrm>
            <a:off x="822960" y="868680"/>
            <a:ext cx="7498080" cy="2551176"/>
          </a:xfrm>
          <a:prstGeom prst="rect">
            <a:avLst/>
          </a:prstGeom>
        </p:spPr>
      </p:pic>
      <p:sp>
        <p:nvSpPr>
          <p:cNvPr id="5" name="Text 2"/>
          <p:cNvSpPr txBox="1"/>
          <p:nvPr/>
        </p:nvSpPr>
        <p:spPr>
          <a:xfrm>
            <a:off x="457200" y="3456432"/>
            <a:ext cx="8229600" cy="32004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Six WidowX backbones, left to right: CogACT, CronusVLA, MiniVLA, OpenVLA, SpatialVLA, UniVLA.  Star = original, shaded = faster and no worse, colour = trick, symbol = setting.</a:t>
            </a:r>
            <a:endParaRPr lang="en-US" sz="1000" dirty="0"/>
          </a:p>
        </p:txBody>
      </p:sp>
      <p:sp>
        <p:nvSpPr>
          <p:cNvPr id="6" name="Shape 3"/>
          <p:cNvSpPr/>
          <p:nvPr/>
        </p:nvSpPr>
        <p:spPr>
          <a:xfrm>
            <a:off x="457200" y="3840480"/>
            <a:ext cx="1234440" cy="365760"/>
          </a:xfrm>
          <a:prstGeom prst="roundRect">
            <a:avLst>
              <a:gd name="adj" fmla="val 25000"/>
            </a:avLst>
          </a:prstGeom>
          <a:solidFill>
            <a:srgbClr val="16213A"/>
          </a:solidFill>
          <a:ln w="12700">
            <a:solidFill>
              <a:srgbClr val="16213A"/>
            </a:solidFill>
            <a:prstDash val="solid"/>
          </a:ln>
        </p:spPr>
      </p:sp>
      <p:sp>
        <p:nvSpPr>
          <p:cNvPr id="7" name="Text 4"/>
          <p:cNvSpPr txBox="1"/>
          <p:nvPr/>
        </p:nvSpPr>
        <p:spPr>
          <a:xfrm>
            <a:off x="457200" y="384048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8" name="Text 5"/>
          <p:cNvSpPr txBox="1"/>
          <p:nvPr/>
        </p:nvSpPr>
        <p:spPr>
          <a:xfrm>
            <a:off x="1783080" y="3794760"/>
            <a:ext cx="3108960" cy="960120"/>
          </a:xfrm>
          <a:prstGeom prst="rect">
            <a:avLst/>
          </a:prstGeom>
          <a:noFill/>
          <a:ln/>
        </p:spPr>
        <p:txBody>
          <a:bodyPr wrap="square" lIns="0" tIns="0" rIns="0" bIns="0" rtlCol="0" anchor="ctr"/>
          <a:lstStyle/>
          <a:p>
            <a:pPr indent="0" marL="0">
              <a:buNone/>
            </a:pPr>
            <a:r>
              <a:rPr lang="en-US" sz="115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3794760"/>
          <a:ext cx="3657600" cy="914400"/>
        </p:xfrm>
        <a:graphic>
          <a:graphicData uri="http://schemas.openxmlformats.org/drawingml/2006/table">
            <a:tbl>
              <a:tblPr/>
              <a:tblGrid>
                <a:gridCol w="2286000"/>
                <a:gridCol w="1371600"/>
              </a:tblGrid>
              <a:tr h="219456">
                <a:tc>
                  <a:txBody>
                    <a:bodyPr/>
                    <a:lstStyle/>
                    <a:p>
                      <a:pPr indent="0" marL="0">
                        <a:buNone/>
                      </a:pPr>
                      <a:r>
                        <a:rPr lang="en-US" sz="950" b="1" dirty="0">
                          <a:solidFill>
                            <a:srgbClr val="FFFFFF"/>
                          </a:solidFill>
                          <a:latin typeface="Arial" pitchFamily="34" charset="0"/>
                          <a:ea typeface="Arial" pitchFamily="34" charset="-122"/>
                          <a:cs typeface="Arial" pitchFamily="34" charset="-120"/>
                        </a:rPr>
                        <a:t>Latency, ms per step</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Original → trick</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Repeat · SpatialVLA WidowX</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C8641E"/>
                          </a:solidFill>
                          <a:latin typeface="Arial" pitchFamily="34" charset="0"/>
                          <a:ea typeface="Arial" pitchFamily="34" charset="-122"/>
                          <a:cs typeface="Arial" pitchFamily="34" charset="-120"/>
                        </a:rPr>
                        <a:t>423.5 → 235.1</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Repeat · OpenVLA LIBERO Long</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C8641E"/>
                          </a:solidFill>
                          <a:latin typeface="Arial" pitchFamily="34" charset="0"/>
                          <a:ea typeface="Arial" pitchFamily="34" charset="-122"/>
                          <a:cs typeface="Arial" pitchFamily="34" charset="-120"/>
                        </a:rPr>
                        <a:t>171.6 → 93.2</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Pruning · OpenVLA WidowX</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1B7F79"/>
                          </a:solidFill>
                          <a:latin typeface="Arial" pitchFamily="34" charset="0"/>
                          <a:ea typeface="Arial" pitchFamily="34" charset="-122"/>
                          <a:cs typeface="Arial" pitchFamily="34" charset="-120"/>
                        </a:rPr>
                        <a:t>210.2 → 199.4</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Reuse · SmolVLA LIBERO Long</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1B7F79"/>
                          </a:solidFill>
                          <a:latin typeface="Arial" pitchFamily="34" charset="0"/>
                          <a:ea typeface="Arial" pitchFamily="34" charset="-122"/>
                          <a:cs typeface="Arial" pitchFamily="34" charset="-120"/>
                        </a:rPr>
                        <a:t>289.5 → 268.9</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12  ·  13s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Open loop has a cost, gating keeps it safe</a:t>
            </a:r>
            <a:endParaRPr lang="en-US" sz="2600" dirty="0"/>
          </a:p>
        </p:txBody>
      </p:sp>
      <p:sp>
        <p:nvSpPr>
          <p:cNvPr id="4" name="Shape 2"/>
          <p:cNvSpPr/>
          <p:nvPr/>
        </p:nvSpPr>
        <p:spPr>
          <a:xfrm>
            <a:off x="457200" y="960120"/>
            <a:ext cx="2651760" cy="1965960"/>
          </a:xfrm>
          <a:prstGeom prst="roundRect">
            <a:avLst>
              <a:gd name="adj" fmla="val 3721"/>
            </a:avLst>
          </a:prstGeom>
          <a:solidFill>
            <a:srgbClr val="2A2F3A"/>
          </a:solidFill>
          <a:ln w="12700">
            <a:solidFill>
              <a:srgbClr val="8A94A6"/>
            </a:solidFill>
            <a:prstDash val="dash"/>
          </a:ln>
        </p:spPr>
      </p:sp>
      <p:sp>
        <p:nvSpPr>
          <p:cNvPr id="5" name="Shape 3"/>
          <p:cNvSpPr/>
          <p:nvPr/>
        </p:nvSpPr>
        <p:spPr>
          <a:xfrm>
            <a:off x="1508760" y="1559052"/>
            <a:ext cx="548640" cy="548640"/>
          </a:xfrm>
          <a:prstGeom prst="ellipse">
            <a:avLst/>
          </a:prstGeom>
          <a:solidFill>
            <a:srgbClr val="FFFFFF"/>
          </a:solidFill>
          <a:ln w="12700">
            <a:solidFill>
              <a:srgbClr val="FFFFFF"/>
            </a:solidFill>
            <a:prstDash val="solid"/>
          </a:ln>
        </p:spPr>
      </p:sp>
      <p:sp>
        <p:nvSpPr>
          <p:cNvPr id="6" name="Shape 4"/>
          <p:cNvSpPr/>
          <p:nvPr/>
        </p:nvSpPr>
        <p:spPr>
          <a:xfrm rot="5400000">
            <a:off x="1700784" y="1677924"/>
            <a:ext cx="219456" cy="310896"/>
          </a:xfrm>
          <a:prstGeom prst="triangle">
            <a:avLst/>
          </a:prstGeom>
          <a:solidFill>
            <a:srgbClr val="2A2F3A"/>
          </a:solidFill>
          <a:ln w="12700">
            <a:solidFill>
              <a:srgbClr val="2A2F3A"/>
            </a:solidFill>
            <a:prstDash val="solid"/>
          </a:ln>
        </p:spPr>
      </p:sp>
      <p:sp>
        <p:nvSpPr>
          <p:cNvPr id="7" name="Text 5"/>
          <p:cNvSpPr txBox="1"/>
          <p:nvPr/>
        </p:nvSpPr>
        <p:spPr>
          <a:xfrm>
            <a:off x="54864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a:t>
            </a:r>
            <a:endParaRPr lang="en-US" sz="1200" dirty="0"/>
          </a:p>
        </p:txBody>
      </p:sp>
      <p:sp>
        <p:nvSpPr>
          <p:cNvPr id="8" name="Text 6"/>
          <p:cNvSpPr txBox="1"/>
          <p:nvPr/>
        </p:nvSpPr>
        <p:spPr>
          <a:xfrm>
            <a:off x="54864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policy call every step</a:t>
            </a:r>
            <a:endParaRPr lang="en-US" sz="950" dirty="0"/>
          </a:p>
        </p:txBody>
      </p:sp>
      <p:sp>
        <p:nvSpPr>
          <p:cNvPr id="9" name="Text 7"/>
          <p:cNvSpPr txBox="1"/>
          <p:nvPr/>
        </p:nvSpPr>
        <p:spPr>
          <a:xfrm>
            <a:off x="45720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10" name="Shape 8"/>
          <p:cNvSpPr/>
          <p:nvPr/>
        </p:nvSpPr>
        <p:spPr>
          <a:xfrm>
            <a:off x="3246120" y="960120"/>
            <a:ext cx="2651760" cy="1965960"/>
          </a:xfrm>
          <a:prstGeom prst="roundRect">
            <a:avLst>
              <a:gd name="adj" fmla="val 3721"/>
            </a:avLst>
          </a:prstGeom>
          <a:solidFill>
            <a:srgbClr val="2A2F3A"/>
          </a:solidFill>
          <a:ln w="12700">
            <a:solidFill>
              <a:srgbClr val="8A94A6"/>
            </a:solidFill>
            <a:prstDash val="dash"/>
          </a:ln>
        </p:spPr>
      </p:sp>
      <p:sp>
        <p:nvSpPr>
          <p:cNvPr id="11" name="Shape 9"/>
          <p:cNvSpPr/>
          <p:nvPr/>
        </p:nvSpPr>
        <p:spPr>
          <a:xfrm>
            <a:off x="4297680" y="1559052"/>
            <a:ext cx="548640" cy="548640"/>
          </a:xfrm>
          <a:prstGeom prst="ellipse">
            <a:avLst/>
          </a:prstGeom>
          <a:solidFill>
            <a:srgbClr val="FFFFFF"/>
          </a:solidFill>
          <a:ln w="12700">
            <a:solidFill>
              <a:srgbClr val="FFFFFF"/>
            </a:solidFill>
            <a:prstDash val="solid"/>
          </a:ln>
        </p:spPr>
      </p:sp>
      <p:sp>
        <p:nvSpPr>
          <p:cNvPr id="12" name="Shape 10"/>
          <p:cNvSpPr/>
          <p:nvPr/>
        </p:nvSpPr>
        <p:spPr>
          <a:xfrm rot="5400000">
            <a:off x="4489704" y="1677924"/>
            <a:ext cx="219456" cy="310896"/>
          </a:xfrm>
          <a:prstGeom prst="triangle">
            <a:avLst/>
          </a:prstGeom>
          <a:solidFill>
            <a:srgbClr val="2A2F3A"/>
          </a:solidFill>
          <a:ln w="12700">
            <a:solidFill>
              <a:srgbClr val="2A2F3A"/>
            </a:solidFill>
            <a:prstDash val="solid"/>
          </a:ln>
        </p:spPr>
      </p:sp>
      <p:sp>
        <p:nvSpPr>
          <p:cNvPr id="13" name="Text 11"/>
          <p:cNvSpPr txBox="1"/>
          <p:nvPr/>
        </p:nvSpPr>
        <p:spPr>
          <a:xfrm>
            <a:off x="333756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Action repeat k = 4</a:t>
            </a:r>
            <a:endParaRPr lang="en-US" sz="1200" dirty="0"/>
          </a:p>
        </p:txBody>
      </p:sp>
      <p:sp>
        <p:nvSpPr>
          <p:cNvPr id="14" name="Text 12"/>
          <p:cNvSpPr txBox="1"/>
          <p:nvPr/>
        </p:nvSpPr>
        <p:spPr>
          <a:xfrm>
            <a:off x="333756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held actions, episode fails</a:t>
            </a:r>
            <a:endParaRPr lang="en-US" sz="950" dirty="0"/>
          </a:p>
        </p:txBody>
      </p:sp>
      <p:sp>
        <p:nvSpPr>
          <p:cNvPr id="15" name="Text 13"/>
          <p:cNvSpPr txBox="1"/>
          <p:nvPr/>
        </p:nvSpPr>
        <p:spPr>
          <a:xfrm>
            <a:off x="324612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16" name="Shape 14"/>
          <p:cNvSpPr/>
          <p:nvPr/>
        </p:nvSpPr>
        <p:spPr>
          <a:xfrm>
            <a:off x="6035040" y="960120"/>
            <a:ext cx="2651760" cy="1965960"/>
          </a:xfrm>
          <a:prstGeom prst="roundRect">
            <a:avLst>
              <a:gd name="adj" fmla="val 3721"/>
            </a:avLst>
          </a:prstGeom>
          <a:solidFill>
            <a:srgbClr val="2A2F3A"/>
          </a:solidFill>
          <a:ln w="12700">
            <a:solidFill>
              <a:srgbClr val="8A94A6"/>
            </a:solidFill>
            <a:prstDash val="dash"/>
          </a:ln>
        </p:spPr>
      </p:sp>
      <p:sp>
        <p:nvSpPr>
          <p:cNvPr id="17" name="Shape 15"/>
          <p:cNvSpPr/>
          <p:nvPr/>
        </p:nvSpPr>
        <p:spPr>
          <a:xfrm>
            <a:off x="7086600" y="1559052"/>
            <a:ext cx="548640" cy="548640"/>
          </a:xfrm>
          <a:prstGeom prst="ellipse">
            <a:avLst/>
          </a:prstGeom>
          <a:solidFill>
            <a:srgbClr val="FFFFFF"/>
          </a:solidFill>
          <a:ln w="12700">
            <a:solidFill>
              <a:srgbClr val="FFFFFF"/>
            </a:solidFill>
            <a:prstDash val="solid"/>
          </a:ln>
        </p:spPr>
      </p:sp>
      <p:sp>
        <p:nvSpPr>
          <p:cNvPr id="18" name="Shape 16"/>
          <p:cNvSpPr/>
          <p:nvPr/>
        </p:nvSpPr>
        <p:spPr>
          <a:xfrm rot="5400000">
            <a:off x="7278624" y="1677924"/>
            <a:ext cx="219456" cy="310896"/>
          </a:xfrm>
          <a:prstGeom prst="triangle">
            <a:avLst/>
          </a:prstGeom>
          <a:solidFill>
            <a:srgbClr val="2A2F3A"/>
          </a:solidFill>
          <a:ln w="12700">
            <a:solidFill>
              <a:srgbClr val="2A2F3A"/>
            </a:solidFill>
            <a:prstDash val="solid"/>
          </a:ln>
        </p:spPr>
      </p:sp>
      <p:sp>
        <p:nvSpPr>
          <p:cNvPr id="19" name="Text 17"/>
          <p:cNvSpPr txBox="1"/>
          <p:nvPr/>
        </p:nvSpPr>
        <p:spPr>
          <a:xfrm>
            <a:off x="612648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Guarded reuse</a:t>
            </a:r>
            <a:endParaRPr lang="en-US" sz="1200" dirty="0"/>
          </a:p>
        </p:txBody>
      </p:sp>
      <p:sp>
        <p:nvSpPr>
          <p:cNvPr id="20" name="Text 18"/>
          <p:cNvSpPr txBox="1"/>
          <p:nvPr/>
        </p:nvSpPr>
        <p:spPr>
          <a:xfrm>
            <a:off x="612648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calls skipped only when the gates pass</a:t>
            </a:r>
            <a:endParaRPr lang="en-US" sz="950" dirty="0"/>
          </a:p>
        </p:txBody>
      </p:sp>
      <p:sp>
        <p:nvSpPr>
          <p:cNvPr id="21" name="Text 19"/>
          <p:cNvSpPr txBox="1"/>
          <p:nvPr/>
        </p:nvSpPr>
        <p:spPr>
          <a:xfrm>
            <a:off x="603504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22" name="Shape 20"/>
          <p:cNvSpPr/>
          <p:nvPr/>
        </p:nvSpPr>
        <p:spPr>
          <a:xfrm>
            <a:off x="457200" y="3383280"/>
            <a:ext cx="4023360" cy="457200"/>
          </a:xfrm>
          <a:prstGeom prst="roundRect">
            <a:avLst>
              <a:gd name="adj" fmla="val 20000"/>
            </a:avLst>
          </a:prstGeom>
          <a:solidFill>
            <a:srgbClr val="F6E0DD"/>
          </a:solidFill>
          <a:ln w="12700">
            <a:solidFill>
              <a:srgbClr val="F6E0DD"/>
            </a:solidFill>
            <a:prstDash val="solid"/>
          </a:ln>
        </p:spPr>
      </p:sp>
      <p:sp>
        <p:nvSpPr>
          <p:cNvPr id="23" name="Text 21"/>
          <p:cNvSpPr txBox="1"/>
          <p:nvPr/>
        </p:nvSpPr>
        <p:spPr>
          <a:xfrm>
            <a:off x="457200" y="3383280"/>
            <a:ext cx="4023360" cy="457200"/>
          </a:xfrm>
          <a:prstGeom prst="rect">
            <a:avLst/>
          </a:prstGeom>
          <a:noFill/>
          <a:ln/>
        </p:spPr>
        <p:txBody>
          <a:bodyPr wrap="square" lIns="0" tIns="0" rIns="0" bIns="0" rtlCol="0" anchor="ctr"/>
          <a:lstStyle/>
          <a:p>
            <a:pPr algn="ctr" indent="0" marL="0">
              <a:buNone/>
            </a:pPr>
            <a:r>
              <a:rPr lang="en-US" sz="1100" b="1" dirty="0">
                <a:solidFill>
                  <a:srgbClr val="B03A2E"/>
                </a:solidFill>
                <a:latin typeface="Arial" pitchFamily="34" charset="0"/>
                <a:ea typeface="Arial" pitchFamily="34" charset="-122"/>
                <a:cs typeface="Arial" pitchFamily="34" charset="-120"/>
              </a:rPr>
              <a:t>Action repeat, WidowX: CogACT −38.0 · UniVLA −75.0</a:t>
            </a:r>
            <a:endParaRPr lang="en-US" sz="1100" dirty="0"/>
          </a:p>
        </p:txBody>
      </p:sp>
      <p:sp>
        <p:nvSpPr>
          <p:cNvPr id="24" name="Shape 22"/>
          <p:cNvSpPr/>
          <p:nvPr/>
        </p:nvSpPr>
        <p:spPr>
          <a:xfrm>
            <a:off x="457200" y="3931920"/>
            <a:ext cx="4023360" cy="457200"/>
          </a:xfrm>
          <a:prstGeom prst="roundRect">
            <a:avLst>
              <a:gd name="adj" fmla="val 20000"/>
            </a:avLst>
          </a:prstGeom>
          <a:solidFill>
            <a:srgbClr val="F3F5F7"/>
          </a:solidFill>
          <a:ln w="12700">
            <a:solidFill>
              <a:srgbClr val="F3F5F7"/>
            </a:solidFill>
            <a:prstDash val="solid"/>
          </a:ln>
        </p:spPr>
      </p:sp>
      <p:sp>
        <p:nvSpPr>
          <p:cNvPr id="25" name="Text 23"/>
          <p:cNvSpPr txBox="1"/>
          <p:nvPr/>
        </p:nvSpPr>
        <p:spPr>
          <a:xfrm>
            <a:off x="457200" y="3931920"/>
            <a:ext cx="4023360" cy="457200"/>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Fractal (milder): CogACT −1.2 · SpatialVLA 0.0</a:t>
            </a:r>
            <a:endParaRPr lang="en-US" sz="1100" dirty="0"/>
          </a:p>
        </p:txBody>
      </p:sp>
      <p:sp>
        <p:nvSpPr>
          <p:cNvPr id="26" name="Shape 24"/>
          <p:cNvSpPr/>
          <p:nvPr/>
        </p:nvSpPr>
        <p:spPr>
          <a:xfrm>
            <a:off x="4663440" y="3383280"/>
            <a:ext cx="4023360" cy="457200"/>
          </a:xfrm>
          <a:prstGeom prst="roundRect">
            <a:avLst>
              <a:gd name="adj" fmla="val 20000"/>
            </a:avLst>
          </a:prstGeom>
          <a:solidFill>
            <a:srgbClr val="DDEFEC"/>
          </a:solidFill>
          <a:ln w="12700">
            <a:solidFill>
              <a:srgbClr val="DDEFEC"/>
            </a:solidFill>
            <a:prstDash val="solid"/>
          </a:ln>
        </p:spPr>
      </p:sp>
      <p:sp>
        <p:nvSpPr>
          <p:cNvPr id="27" name="Text 25"/>
          <p:cNvSpPr txBox="1"/>
          <p:nvPr/>
        </p:nvSpPr>
        <p:spPr>
          <a:xfrm>
            <a:off x="4663440" y="3383280"/>
            <a:ext cx="4023360" cy="457200"/>
          </a:xfrm>
          <a:prstGeom prst="rect">
            <a:avLst/>
          </a:prstGeom>
          <a:noFill/>
          <a:ln/>
        </p:spPr>
        <p:txBody>
          <a:bodyPr wrap="square" lIns="0" tIns="0" rIns="0" bIns="0" rtlCol="0" anchor="ctr"/>
          <a:lstStyle/>
          <a:p>
            <a:pPr algn="ctr" indent="0" marL="0">
              <a:buNone/>
            </a:pPr>
            <a:r>
              <a:rPr lang="en-US" sz="1100" b="1" dirty="0">
                <a:solidFill>
                  <a:srgbClr val="1B7F79"/>
                </a:solidFill>
                <a:latin typeface="Arial" pitchFamily="34" charset="0"/>
                <a:ea typeface="Arial" pitchFamily="34" charset="-122"/>
                <a:cs typeface="Arial" pitchFamily="34" charset="-120"/>
              </a:rPr>
              <a:t>Guarded reuse, SmolVLA LIBERO Long: 289.5 → 268.9 ms</a:t>
            </a:r>
            <a:endParaRPr lang="en-US" sz="1100" dirty="0"/>
          </a:p>
        </p:txBody>
      </p:sp>
      <p:sp>
        <p:nvSpPr>
          <p:cNvPr id="28" name="Shape 26"/>
          <p:cNvSpPr/>
          <p:nvPr/>
        </p:nvSpPr>
        <p:spPr>
          <a:xfrm>
            <a:off x="4663440" y="3931920"/>
            <a:ext cx="4023360" cy="457200"/>
          </a:xfrm>
          <a:prstGeom prst="roundRect">
            <a:avLst>
              <a:gd name="adj" fmla="val 20000"/>
            </a:avLst>
          </a:prstGeom>
          <a:solidFill>
            <a:srgbClr val="DFF1E6"/>
          </a:solidFill>
          <a:ln w="12700">
            <a:solidFill>
              <a:srgbClr val="DFF1E6"/>
            </a:solidFill>
            <a:prstDash val="solid"/>
          </a:ln>
        </p:spPr>
      </p:sp>
      <p:sp>
        <p:nvSpPr>
          <p:cNvPr id="29" name="Text 27"/>
          <p:cNvSpPr txBox="1"/>
          <p:nvPr/>
        </p:nvSpPr>
        <p:spPr>
          <a:xfrm>
            <a:off x="4663440" y="3931920"/>
            <a:ext cx="4023360" cy="457200"/>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success unchanged at 42.0 %</a:t>
            </a:r>
            <a:endParaRPr lang="en-US" sz="1100" dirty="0"/>
          </a:p>
        </p:txBody>
      </p:sp>
      <p:sp>
        <p:nvSpPr>
          <p:cNvPr id="30" name="Text 28"/>
          <p:cNvSpPr txBox="1"/>
          <p:nvPr/>
        </p:nvSpPr>
        <p:spPr>
          <a:xfrm>
            <a:off x="457200" y="4434840"/>
            <a:ext cx="822960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Same CogACT WidowX episode and initial state in all three panels. Deltas from Tables I and II, best setting per trick.</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13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Does the effect transfer across models?</a:t>
            </a:r>
            <a:endParaRPr lang="en-US" sz="2600" dirty="0"/>
          </a:p>
        </p:txBody>
      </p:sp>
      <p:pic>
        <p:nvPicPr>
          <p:cNvPr id="4" name="Image 0" descr="/tmp/claude-0/-home-user-BiVLA/4327cefa-ba5d-5e2e-9d87-c73dd3a8ccbb/scratchpad/video_ppt/assets/consistency.png">    </p:cNvPr>
          <p:cNvPicPr>
            <a:picLocks noChangeAspect="1"/>
          </p:cNvPicPr>
          <p:nvPr/>
        </p:nvPicPr>
        <p:blipFill>
          <a:blip r:embed="rId1"/>
          <a:stretch>
            <a:fillRect/>
          </a:stretch>
        </p:blipFill>
        <p:spPr>
          <a:xfrm>
            <a:off x="457200" y="914400"/>
            <a:ext cx="5120640" cy="2523744"/>
          </a:xfrm>
          <a:prstGeom prst="rect">
            <a:avLst/>
          </a:prstGeom>
        </p:spPr>
      </p:pic>
      <p:sp>
        <p:nvSpPr>
          <p:cNvPr id="5" name="Text 2"/>
          <p:cNvSpPr txBox="1"/>
          <p:nvPr/>
        </p:nvSpPr>
        <p:spPr>
          <a:xfrm>
            <a:off x="457200" y="3474720"/>
            <a:ext cx="5120640" cy="45720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For each setting: how many of 13 backbone and environment pairs got lower, unchanged, or higher success. LIBERO episodes are pooled over the four suites, so 13 pairs stand for the 22.</a:t>
            </a:r>
            <a:endParaRPr lang="en-US" sz="1000" dirty="0"/>
          </a:p>
        </p:txBody>
      </p:sp>
      <p:sp>
        <p:nvSpPr>
          <p:cNvPr id="6" name="Shape 3"/>
          <p:cNvSpPr/>
          <p:nvPr/>
        </p:nvSpPr>
        <p:spPr>
          <a:xfrm>
            <a:off x="5852160" y="1005840"/>
            <a:ext cx="1234440" cy="365760"/>
          </a:xfrm>
          <a:prstGeom prst="roundRect">
            <a:avLst>
              <a:gd name="adj" fmla="val 25000"/>
            </a:avLst>
          </a:prstGeom>
          <a:solidFill>
            <a:srgbClr val="16213A"/>
          </a:solidFill>
          <a:ln w="12700">
            <a:solidFill>
              <a:srgbClr val="16213A"/>
            </a:solidFill>
            <a:prstDash val="solid"/>
          </a:ln>
        </p:spPr>
      </p:sp>
      <p:sp>
        <p:nvSpPr>
          <p:cNvPr id="7" name="Text 4"/>
          <p:cNvSpPr txBox="1"/>
          <p:nvPr/>
        </p:nvSpPr>
        <p:spPr>
          <a:xfrm>
            <a:off x="58521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Q3  Transfer</a:t>
            </a:r>
            <a:endParaRPr lang="en-US" sz="1100" dirty="0"/>
          </a:p>
        </p:txBody>
      </p:sp>
      <p:sp>
        <p:nvSpPr>
          <p:cNvPr id="8" name="Text 5"/>
          <p:cNvSpPr txBox="1"/>
          <p:nvPr/>
        </p:nvSpPr>
        <p:spPr>
          <a:xfrm>
            <a:off x="5852160" y="1417320"/>
            <a:ext cx="2834640" cy="5029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Effects are a joint property of the trick, the backbone, and the task distribution.</a:t>
            </a:r>
            <a:endParaRPr lang="en-US" sz="1200" dirty="0"/>
          </a:p>
        </p:txBody>
      </p:sp>
      <p:sp>
        <p:nvSpPr>
          <p:cNvPr id="9" name="Shape 6"/>
          <p:cNvSpPr/>
          <p:nvPr/>
        </p:nvSpPr>
        <p:spPr>
          <a:xfrm>
            <a:off x="5852160" y="2011680"/>
            <a:ext cx="2834640" cy="502920"/>
          </a:xfrm>
          <a:prstGeom prst="roundRect">
            <a:avLst>
              <a:gd name="adj" fmla="val 18182"/>
            </a:avLst>
          </a:prstGeom>
          <a:solidFill>
            <a:srgbClr val="F9E6D8"/>
          </a:solidFill>
          <a:ln w="12700">
            <a:solidFill>
              <a:srgbClr val="F9E6D8"/>
            </a:solidFill>
            <a:prstDash val="solid"/>
          </a:ln>
        </p:spPr>
      </p:sp>
      <p:sp>
        <p:nvSpPr>
          <p:cNvPr id="10" name="Text 7"/>
          <p:cNvSpPr txBox="1"/>
          <p:nvPr/>
        </p:nvSpPr>
        <p:spPr>
          <a:xfrm>
            <a:off x="5852160" y="201168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Depth pruning, WidowX: CogACT +9.5 · MiniVLA −17.5</a:t>
            </a:r>
            <a:endParaRPr lang="en-US" sz="1050" dirty="0"/>
          </a:p>
        </p:txBody>
      </p:sp>
      <p:sp>
        <p:nvSpPr>
          <p:cNvPr id="11" name="Shape 8"/>
          <p:cNvSpPr/>
          <p:nvPr/>
        </p:nvSpPr>
        <p:spPr>
          <a:xfrm>
            <a:off x="5852160" y="2606040"/>
            <a:ext cx="2834640" cy="502920"/>
          </a:xfrm>
          <a:prstGeom prst="roundRect">
            <a:avLst>
              <a:gd name="adj" fmla="val 18182"/>
            </a:avLst>
          </a:prstGeom>
          <a:solidFill>
            <a:srgbClr val="F9E6D8"/>
          </a:solidFill>
          <a:ln w="12700">
            <a:solidFill>
              <a:srgbClr val="F9E6D8"/>
            </a:solidFill>
            <a:prstDash val="solid"/>
          </a:ln>
        </p:spPr>
      </p:sp>
      <p:sp>
        <p:nvSpPr>
          <p:cNvPr id="12" name="Text 9"/>
          <p:cNvSpPr txBox="1"/>
          <p:nvPr/>
        </p:nvSpPr>
        <p:spPr>
          <a:xfrm>
            <a:off x="5852160" y="260604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Foveation, LIBERO Goal: UniVLA +7.0 · SmolVLA −13.0</a:t>
            </a:r>
            <a:endParaRPr lang="en-US" sz="1050" dirty="0"/>
          </a:p>
        </p:txBody>
      </p:sp>
      <p:sp>
        <p:nvSpPr>
          <p:cNvPr id="13" name="Shape 10"/>
          <p:cNvSpPr/>
          <p:nvPr/>
        </p:nvSpPr>
        <p:spPr>
          <a:xfrm>
            <a:off x="5852160" y="3200400"/>
            <a:ext cx="2834640" cy="566928"/>
          </a:xfrm>
          <a:prstGeom prst="roundRect">
            <a:avLst>
              <a:gd name="adj" fmla="val 16129"/>
            </a:avLst>
          </a:prstGeom>
          <a:solidFill>
            <a:srgbClr val="F9E6D8"/>
          </a:solidFill>
          <a:ln w="12700">
            <a:solidFill>
              <a:srgbClr val="F9E6D8"/>
            </a:solidFill>
            <a:prstDash val="solid"/>
          </a:ln>
        </p:spPr>
      </p:sp>
      <p:sp>
        <p:nvSpPr>
          <p:cNvPr id="14" name="Text 11"/>
          <p:cNvSpPr txBox="1"/>
          <p:nvPr/>
        </p:nvSpPr>
        <p:spPr>
          <a:xfrm>
            <a:off x="5852160" y="3200400"/>
            <a:ext cx="2834640" cy="566928"/>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Action repeat: harmful on WidowX, milder on Fractal for some backbones</a:t>
            </a:r>
            <a:endParaRPr lang="en-US" sz="1050" dirty="0"/>
          </a:p>
        </p:txBody>
      </p:sp>
      <p:sp>
        <p:nvSpPr>
          <p:cNvPr id="15" name="Shape 12"/>
          <p:cNvSpPr/>
          <p:nvPr/>
        </p:nvSpPr>
        <p:spPr>
          <a:xfrm>
            <a:off x="457200" y="4069080"/>
            <a:ext cx="8229600" cy="548640"/>
          </a:xfrm>
          <a:prstGeom prst="roundRect">
            <a:avLst>
              <a:gd name="adj" fmla="val 16667"/>
            </a:avLst>
          </a:prstGeom>
          <a:solidFill>
            <a:srgbClr val="16213A"/>
          </a:solidFill>
          <a:ln w="12700">
            <a:solidFill>
              <a:srgbClr val="16213A"/>
            </a:solidFill>
            <a:prstDash val="solid"/>
          </a:ln>
        </p:spPr>
      </p:sp>
      <p:sp>
        <p:nvSpPr>
          <p:cNvPr id="16" name="Text 13"/>
          <p:cNvSpPr txBox="1"/>
          <p:nvPr/>
        </p:nvSpPr>
        <p:spPr>
          <a:xfrm>
            <a:off x="548640" y="4069080"/>
            <a:ext cx="8046720" cy="5486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No trick is plug-and-play: each one needs matched evaluation under the target backbone and environment.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14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4" name="Shape 2"/>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5" name="Text 3"/>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6" name="Text 4"/>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7" name="Shape 5"/>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8" name="Text 6"/>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9" name="Text 7"/>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10" name="Shape 8"/>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1" name="Text 9"/>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2" name="Text 10"/>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3" name="Shape 11"/>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4" name="Text 12"/>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5" name="Text 13"/>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6" name="Shape 14"/>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7" name="Text 15"/>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2026-09-19T10:29:36Z</dcterms:created>
  <dcterms:modified xsi:type="dcterms:W3CDTF">2026-09-19T10:29:36Z</dcterms:modified>
</cp:coreProperties>
</file>